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92" d="100"/>
          <a:sy n="92" d="100"/>
        </p:scale>
        <p:origin x="230" y="-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dirty="0"/>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IN" dirty="0"/>
              <a:t> B - 18</a:t>
            </a:r>
            <a:endParaRPr dirty="0"/>
          </a:p>
        </p:txBody>
      </p:sp>
      <p:sp>
        <p:nvSpPr>
          <p:cNvPr id="8" name="object 8"/>
          <p:cNvSpPr txBox="1"/>
          <p:nvPr/>
        </p:nvSpPr>
        <p:spPr>
          <a:xfrm>
            <a:off x="4023361" y="1708363"/>
            <a:ext cx="4038600" cy="442685"/>
          </a:xfrm>
          <a:prstGeom prst="rect">
            <a:avLst/>
          </a:prstGeom>
        </p:spPr>
        <p:txBody>
          <a:bodyPr vert="horz" wrap="square" lIns="0" tIns="13335" rIns="0" bIns="0" rtlCol="0">
            <a:spAutoFit/>
          </a:bodyPr>
          <a:lstStyle/>
          <a:p>
            <a:pPr algn="ctr">
              <a:lnSpc>
                <a:spcPts val="2080"/>
              </a:lnSpc>
              <a:spcBef>
                <a:spcPts val="105"/>
              </a:spcBef>
            </a:pPr>
            <a:r>
              <a:rPr lang="en-IN" sz="1750" dirty="0">
                <a:latin typeface="Times New Roman"/>
                <a:cs typeface="Times New Roman"/>
              </a:rPr>
              <a:t>P. MAHAMMED THANVEER</a:t>
            </a:r>
          </a:p>
          <a:p>
            <a:pPr marL="635" algn="ctr">
              <a:lnSpc>
                <a:spcPts val="1060"/>
              </a:lnSpc>
            </a:pPr>
            <a:r>
              <a:rPr sz="1400" dirty="0">
                <a:latin typeface="Times New Roman"/>
                <a:cs typeface="Times New Roman"/>
              </a:rPr>
              <a:t>Roll</a:t>
            </a:r>
            <a:r>
              <a:rPr sz="1400" spc="5" dirty="0">
                <a:latin typeface="Times New Roman"/>
                <a:cs typeface="Times New Roman"/>
              </a:rPr>
              <a:t> </a:t>
            </a:r>
            <a:r>
              <a:rPr sz="1400" dirty="0">
                <a:latin typeface="Times New Roman"/>
                <a:cs typeface="Times New Roman"/>
              </a:rPr>
              <a:t>No.</a:t>
            </a:r>
            <a:r>
              <a:rPr sz="1400" spc="5" dirty="0">
                <a:latin typeface="Times New Roman"/>
                <a:cs typeface="Times New Roman"/>
              </a:rPr>
              <a:t> </a:t>
            </a:r>
            <a:r>
              <a:rPr lang="en-IN" sz="1400" spc="-10" dirty="0">
                <a:latin typeface="Times New Roman"/>
                <a:cs typeface="Times New Roman"/>
              </a:rPr>
              <a:t>224G1A0546</a:t>
            </a:r>
            <a:endParaRPr sz="1400" dirty="0">
              <a:latin typeface="Times New Roman"/>
              <a:cs typeface="Times New Roman"/>
            </a:endParaRPr>
          </a:p>
        </p:txBody>
      </p:sp>
      <p:sp>
        <p:nvSpPr>
          <p:cNvPr id="9" name="object 9"/>
          <p:cNvSpPr txBox="1"/>
          <p:nvPr/>
        </p:nvSpPr>
        <p:spPr>
          <a:xfrm>
            <a:off x="3733800" y="2476799"/>
            <a:ext cx="4724400" cy="1320874"/>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lang="en-IN" sz="1400" dirty="0">
              <a:latin typeface="Times New Roman"/>
              <a:cs typeface="Times New Roman"/>
            </a:endParaRPr>
          </a:p>
          <a:p>
            <a:pPr marL="12065" marR="5080" algn="ctr">
              <a:lnSpc>
                <a:spcPts val="2790"/>
              </a:lnSpc>
              <a:spcBef>
                <a:spcPts val="114"/>
              </a:spcBef>
            </a:pPr>
            <a:r>
              <a:rPr lang="en-IN" sz="2400" spc="-10" dirty="0">
                <a:latin typeface="Times New Roman"/>
                <a:cs typeface="Times New Roman"/>
              </a:rPr>
              <a:t>Mr. C. Sudheer Kumar, </a:t>
            </a:r>
            <a:r>
              <a:rPr lang="en-IN" sz="1400" spc="-10" dirty="0" err="1">
                <a:latin typeface="Times New Roman"/>
                <a:cs typeface="Times New Roman"/>
              </a:rPr>
              <a:t>M.Tech</a:t>
            </a:r>
            <a:r>
              <a:rPr lang="en-IN" sz="1400" spc="-10" dirty="0">
                <a:latin typeface="Times New Roman"/>
                <a:cs typeface="Times New Roman"/>
              </a:rPr>
              <a:t>., (Ph. D) </a:t>
            </a:r>
          </a:p>
          <a:p>
            <a:pPr marL="12065" marR="5080" algn="ctr">
              <a:lnSpc>
                <a:spcPts val="2790"/>
              </a:lnSpc>
              <a:spcBef>
                <a:spcPts val="114"/>
              </a:spcBef>
            </a:pPr>
            <a:r>
              <a:rPr lang="en-IN" sz="1400" spc="-20" dirty="0">
                <a:latin typeface="Times New Roman"/>
                <a:cs typeface="Times New Roman"/>
              </a:rPr>
              <a:t>Assistant</a:t>
            </a:r>
            <a:r>
              <a:rPr lang="en-IN" sz="1400" spc="-40" dirty="0">
                <a:latin typeface="Times New Roman"/>
                <a:cs typeface="Times New Roman"/>
              </a:rPr>
              <a:t> </a:t>
            </a: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1219200" y="1674508"/>
            <a:ext cx="3032760" cy="476412"/>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S.K SUHANA ANJUM</a:t>
            </a:r>
            <a:endParaRPr sz="2000" dirty="0">
              <a:latin typeface="Times New Roman"/>
              <a:cs typeface="Times New Roman"/>
            </a:endParaRPr>
          </a:p>
          <a:p>
            <a:pPr marL="1270" algn="ctr">
              <a:lnSpc>
                <a:spcPts val="1060"/>
              </a:lnSpc>
            </a:pPr>
            <a:r>
              <a:rPr sz="1400" dirty="0">
                <a:latin typeface="Times New Roman"/>
                <a:cs typeface="Times New Roman"/>
              </a:rPr>
              <a:t>Roll</a:t>
            </a:r>
            <a:r>
              <a:rPr sz="1400" spc="40" dirty="0">
                <a:latin typeface="Times New Roman"/>
                <a:cs typeface="Times New Roman"/>
              </a:rPr>
              <a:t> </a:t>
            </a:r>
            <a:r>
              <a:rPr sz="1400" dirty="0">
                <a:latin typeface="Times New Roman"/>
                <a:cs typeface="Times New Roman"/>
              </a:rPr>
              <a:t>No.</a:t>
            </a:r>
            <a:r>
              <a:rPr sz="1400" spc="40" dirty="0">
                <a:latin typeface="Times New Roman"/>
                <a:cs typeface="Times New Roman"/>
              </a:rPr>
              <a:t> </a:t>
            </a:r>
            <a:r>
              <a:rPr lang="en-IN" sz="1400" spc="-10" dirty="0">
                <a:latin typeface="Times New Roman"/>
                <a:cs typeface="Times New Roman"/>
              </a:rPr>
              <a:t>224G1A05A7</a:t>
            </a:r>
            <a:endParaRPr sz="1400" dirty="0">
              <a:latin typeface="Times New Roman"/>
              <a:cs typeface="Times New Roman"/>
            </a:endParaRPr>
          </a:p>
        </p:txBody>
      </p:sp>
      <p:sp>
        <p:nvSpPr>
          <p:cNvPr id="12" name="object 12"/>
          <p:cNvSpPr txBox="1"/>
          <p:nvPr/>
        </p:nvSpPr>
        <p:spPr>
          <a:xfrm>
            <a:off x="8346446" y="1683723"/>
            <a:ext cx="2133601" cy="444352"/>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C. PALLAVI</a:t>
            </a:r>
            <a:endParaRPr lang="en-IN" sz="1800" dirty="0">
              <a:latin typeface="Times New Roman"/>
              <a:cs typeface="Times New Roman"/>
            </a:endParaRPr>
          </a:p>
          <a:p>
            <a:pPr marL="635" algn="ctr">
              <a:lnSpc>
                <a:spcPts val="1060"/>
              </a:lnSpc>
            </a:pPr>
            <a:r>
              <a:rPr lang="en-IN" sz="1400" dirty="0">
                <a:latin typeface="Times New Roman"/>
                <a:cs typeface="Times New Roman"/>
              </a:rPr>
              <a:t>Roll</a:t>
            </a:r>
            <a:r>
              <a:rPr lang="en-IN" sz="1400" spc="5" dirty="0">
                <a:latin typeface="Times New Roman"/>
                <a:cs typeface="Times New Roman"/>
              </a:rPr>
              <a:t> </a:t>
            </a:r>
            <a:r>
              <a:rPr lang="en-IN" sz="1400" dirty="0">
                <a:latin typeface="Times New Roman"/>
                <a:cs typeface="Times New Roman"/>
              </a:rPr>
              <a:t>No.</a:t>
            </a:r>
            <a:r>
              <a:rPr lang="en-IN" sz="1400" spc="5" dirty="0">
                <a:latin typeface="Times New Roman"/>
                <a:cs typeface="Times New Roman"/>
              </a:rPr>
              <a:t> </a:t>
            </a:r>
            <a:r>
              <a:rPr lang="en-IN" sz="1400" spc="-10" dirty="0">
                <a:latin typeface="Times New Roman"/>
                <a:cs typeface="Times New Roman"/>
              </a:rPr>
              <a:t>224G1A0564</a:t>
            </a:r>
            <a:endParaRPr lang="en-IN" sz="14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2362200" y="491407"/>
            <a:ext cx="7010400" cy="997709"/>
          </a:xfrm>
          <a:prstGeom prst="rect">
            <a:avLst/>
          </a:prstGeom>
        </p:spPr>
        <p:txBody>
          <a:bodyPr vert="horz" wrap="square" lIns="0" tIns="12700" rIns="0" bIns="0" rtlCol="0">
            <a:spAutoFit/>
          </a:bodyPr>
          <a:lstStyle/>
          <a:p>
            <a:pPr marL="12700" algn="ctr">
              <a:spcBef>
                <a:spcPts val="100"/>
              </a:spcBef>
            </a:pPr>
            <a:r>
              <a:rPr lang="en-IN" sz="3200" dirty="0"/>
              <a:t> </a:t>
            </a: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MARINE GUARD</a:t>
            </a:r>
            <a:b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sz="3200" dirty="0"/>
          </a:p>
        </p:txBody>
      </p:sp>
      <p:sp>
        <p:nvSpPr>
          <p:cNvPr id="18" name="object 18"/>
          <p:cNvSpPr txBox="1"/>
          <p:nvPr/>
        </p:nvSpPr>
        <p:spPr>
          <a:xfrm>
            <a:off x="5791200" y="1278968"/>
            <a:ext cx="413390" cy="262911"/>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dirty="0">
              <a:latin typeface="Times New Roman"/>
              <a:cs typeface="Times New Roman"/>
            </a:endParaRPr>
          </a:p>
        </p:txBody>
      </p:sp>
      <p:pic>
        <p:nvPicPr>
          <p:cNvPr id="19" name="object 19"/>
          <p:cNvPicPr/>
          <p:nvPr/>
        </p:nvPicPr>
        <p:blipFill>
          <a:blip r:embed="rId3" cstate="print"/>
          <a:stretch>
            <a:fillRect/>
          </a:stretch>
        </p:blipFill>
        <p:spPr>
          <a:xfrm>
            <a:off x="5329143" y="3408075"/>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81600" y="-18339"/>
            <a:ext cx="2133600" cy="246938"/>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9" name="object 9"/>
          <p:cNvSpPr txBox="1">
            <a:spLocks noGrp="1"/>
          </p:cNvSpPr>
          <p:nvPr>
            <p:ph type="dt" sz="half" idx="6"/>
          </p:nvPr>
        </p:nvSpPr>
        <p:spPr>
          <a:xfrm>
            <a:off x="990600" y="6642511"/>
            <a:ext cx="495300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477000" y="6657976"/>
            <a:ext cx="457200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4" name="object 4"/>
          <p:cNvGrpSpPr/>
          <p:nvPr/>
        </p:nvGrpSpPr>
        <p:grpSpPr>
          <a:xfrm>
            <a:off x="0" y="212399"/>
            <a:ext cx="12192000" cy="803275"/>
            <a:chOff x="0" y="212399"/>
            <a:chExt cx="12192000" cy="803275"/>
          </a:xfrm>
        </p:grpSpPr>
        <p:pic>
          <p:nvPicPr>
            <p:cNvPr id="5" name="object 5"/>
            <p:cNvPicPr/>
            <p:nvPr/>
          </p:nvPicPr>
          <p:blipFill>
            <a:blip r:embed="rId2" cstate="print"/>
            <a:stretch>
              <a:fillRect/>
            </a:stretch>
          </p:blipFill>
          <p:spPr>
            <a:xfrm>
              <a:off x="0" y="212399"/>
              <a:ext cx="12192000" cy="803160"/>
            </a:xfrm>
            <a:prstGeom prst="rect">
              <a:avLst/>
            </a:prstGeom>
          </p:spPr>
        </p:pic>
        <p:sp>
          <p:nvSpPr>
            <p:cNvPr id="6" name="object 6"/>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4"/>
            <a:ext cx="4041775" cy="1367041"/>
          </a:xfrm>
          <a:prstGeom prst="rect">
            <a:avLst/>
          </a:prstGeom>
        </p:spPr>
        <p:txBody>
          <a:bodyPr vert="horz" wrap="square" lIns="0" tIns="12700" rIns="0" bIns="0" rtlCol="0">
            <a:spAutoFit/>
          </a:bodyPr>
          <a:lstStyle/>
          <a:p>
            <a:pPr marL="12700">
              <a:lnSpc>
                <a:spcPct val="100000"/>
              </a:lnSpc>
              <a:spcBef>
                <a:spcPts val="100"/>
              </a:spcBef>
            </a:pPr>
            <a:r>
              <a:rPr dirty="0"/>
              <a:t>Title</a:t>
            </a:r>
            <a:r>
              <a:rPr spc="-110" dirty="0"/>
              <a:t> </a:t>
            </a:r>
            <a:r>
              <a:rPr spc="-10" dirty="0" err="1"/>
              <a:t>Justificati</a:t>
            </a:r>
            <a:r>
              <a:rPr lang="en-IN" spc="-10" dirty="0"/>
              <a:t>on</a:t>
            </a:r>
            <a:br>
              <a:rPr lang="en-IN" spc="-10" dirty="0">
                <a:solidFill>
                  <a:srgbClr val="000000"/>
                </a:solidFill>
              </a:rPr>
            </a:br>
            <a:endParaRPr spc="-10" dirty="0">
              <a:solidFill>
                <a:srgbClr val="000000"/>
              </a:solidFill>
            </a:endParaRP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9" name="object 9"/>
          <p:cNvSpPr txBox="1">
            <a:spLocks noGrp="1"/>
          </p:cNvSpPr>
          <p:nvPr>
            <p:ph type="dt" sz="half" idx="6"/>
          </p:nvPr>
        </p:nvSpPr>
        <p:spPr>
          <a:xfrm>
            <a:off x="914400" y="6615642"/>
            <a:ext cx="457200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466821" y="6629197"/>
            <a:ext cx="4572000"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3" name="TextBox 12">
            <a:extLst>
              <a:ext uri="{FF2B5EF4-FFF2-40B4-BE49-F238E27FC236}">
                <a16:creationId xmlns:a16="http://schemas.microsoft.com/office/drawing/2014/main" id="{0427E45D-EC80-F6A3-B5D8-89B4F9492C60}"/>
              </a:ext>
            </a:extLst>
          </p:cNvPr>
          <p:cNvSpPr txBox="1"/>
          <p:nvPr/>
        </p:nvSpPr>
        <p:spPr>
          <a:xfrm>
            <a:off x="228600" y="1227958"/>
            <a:ext cx="14782800" cy="2712859"/>
          </a:xfrm>
          <a:prstGeom prst="rect">
            <a:avLst/>
          </a:prstGeom>
          <a:noFill/>
        </p:spPr>
        <p:txBody>
          <a:bodyPr wrap="square">
            <a:spAutoFit/>
          </a:bodyPr>
          <a:lstStyle/>
          <a:p>
            <a:pPr marL="12700" marR="3100705" algn="just">
              <a:lnSpc>
                <a:spcPct val="119800"/>
              </a:lnSpc>
              <a:spcBef>
                <a:spcPts val="95"/>
              </a:spcBef>
            </a:pPr>
            <a:r>
              <a:rPr lang="en-US" sz="2400" dirty="0">
                <a:latin typeface="Times New Roman" panose="02020603050405020304" pitchFamily="18" charset="0"/>
                <a:cs typeface="Times New Roman" panose="02020603050405020304" pitchFamily="18" charset="0"/>
              </a:rPr>
              <a:t>The title </a:t>
            </a: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MarineGuard</a:t>
            </a:r>
            <a:r>
              <a:rPr lang="en-US" sz="2400" b="1" dirty="0">
                <a:latin typeface="Times New Roman" panose="02020603050405020304" pitchFamily="18" charset="0"/>
                <a:cs typeface="Times New Roman" panose="02020603050405020304" pitchFamily="18" charset="0"/>
              </a:rPr>
              <a:t> – River Pollution Awareness &amp; Reporting System”</a:t>
            </a:r>
            <a:r>
              <a:rPr lang="en-US" sz="2400" dirty="0">
                <a:latin typeface="Times New Roman" panose="02020603050405020304" pitchFamily="18" charset="0"/>
                <a:cs typeface="Times New Roman" panose="02020603050405020304" pitchFamily="18" charset="0"/>
              </a:rPr>
              <a:t> is appropriate because it clearly represents the project’s purpose of protecting river ecosystems by raising awareness and enabling public reporting. “</a:t>
            </a:r>
            <a:r>
              <a:rPr lang="en-US" sz="2400" dirty="0" err="1">
                <a:latin typeface="Times New Roman" panose="02020603050405020304" pitchFamily="18" charset="0"/>
                <a:cs typeface="Times New Roman" panose="02020603050405020304" pitchFamily="18" charset="0"/>
              </a:rPr>
              <a:t>MarineGuard</a:t>
            </a:r>
            <a:r>
              <a:rPr lang="en-US" sz="2400" dirty="0">
                <a:latin typeface="Times New Roman" panose="02020603050405020304" pitchFamily="18" charset="0"/>
                <a:cs typeface="Times New Roman" panose="02020603050405020304" pitchFamily="18" charset="0"/>
              </a:rPr>
              <a:t>” suggests safeguarding water bodies, “River Pollution Awareness”. “Reporting System” shows that users can submit real-time reports with images and locations. Overall, the title reflects the system’s goal of combining awareness, monitoring, and citizen participation in line with Life Below Water.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29200" y="-18340"/>
            <a:ext cx="1809720" cy="251259"/>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Marine Guard</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pPr algn="l"/>
              <a:endParaRPr dirty="0"/>
            </a:p>
          </p:txBody>
        </p:sp>
      </p:grpSp>
      <p:sp>
        <p:nvSpPr>
          <p:cNvPr id="6" name="object 6"/>
          <p:cNvSpPr txBox="1">
            <a:spLocks noGrp="1"/>
          </p:cNvSpPr>
          <p:nvPr>
            <p:ph type="title"/>
          </p:nvPr>
        </p:nvSpPr>
        <p:spPr>
          <a:xfrm>
            <a:off x="169986" y="364365"/>
            <a:ext cx="1506414" cy="505267"/>
          </a:xfrm>
          <a:prstGeom prst="rect">
            <a:avLst/>
          </a:prstGeom>
        </p:spPr>
        <p:txBody>
          <a:bodyPr vert="horz" wrap="square" lIns="0" tIns="12700" rIns="0" bIns="0" rtlCol="0">
            <a:spAutoFit/>
          </a:bodyPr>
          <a:lstStyle/>
          <a:p>
            <a:pPr marL="12700">
              <a:lnSpc>
                <a:spcPct val="100000"/>
              </a:lnSpc>
              <a:spcBef>
                <a:spcPts val="100"/>
              </a:spcBef>
            </a:pPr>
            <a:r>
              <a:rPr sz="3200" spc="-10" dirty="0"/>
              <a:t>Abstract</a:t>
            </a:r>
            <a:endParaRPr sz="3200"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9" name="object 9"/>
          <p:cNvSpPr txBox="1">
            <a:spLocks noGrp="1"/>
          </p:cNvSpPr>
          <p:nvPr>
            <p:ph type="dt" sz="half" idx="6"/>
          </p:nvPr>
        </p:nvSpPr>
        <p:spPr>
          <a:xfrm>
            <a:off x="914400" y="6629559"/>
            <a:ext cx="45209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400801" y="6629197"/>
            <a:ext cx="46380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7" name="object 7"/>
          <p:cNvSpPr txBox="1"/>
          <p:nvPr/>
        </p:nvSpPr>
        <p:spPr>
          <a:xfrm>
            <a:off x="149031" y="1036079"/>
            <a:ext cx="14709969" cy="4874348"/>
          </a:xfrm>
          <a:prstGeom prst="rect">
            <a:avLst/>
          </a:prstGeom>
        </p:spPr>
        <p:txBody>
          <a:bodyPr vert="horz" wrap="square" lIns="0" tIns="12065" rIns="0" bIns="0" rtlCol="0">
            <a:spAutoFit/>
          </a:bodyPr>
          <a:lstStyle/>
          <a:p>
            <a:pPr marL="355600" marR="3100705" indent="-342900" algn="just">
              <a:lnSpc>
                <a:spcPct val="119800"/>
              </a:lnSpc>
              <a:spcBef>
                <a:spcPts val="95"/>
              </a:spcBef>
              <a:buFont typeface="Wingdings" panose="05000000000000000000" pitchFamily="2" charset="2"/>
              <a:buChar char="Ø"/>
              <a:tabLst>
                <a:tab pos="11930063" algn="l"/>
              </a:tabLst>
            </a:pPr>
            <a:r>
              <a:rPr lang="en-IN" sz="2400" dirty="0">
                <a:latin typeface="Times New Roman" panose="02020603050405020304" pitchFamily="18" charset="0"/>
                <a:cs typeface="Times New Roman" panose="02020603050405020304" pitchFamily="18" charset="0"/>
              </a:rPr>
              <a:t>Water pollution is a critical concern affecting ecosystems and water quality. This project presents an integrated approach to assess river quality using automated detection of pollutants and objects present in water. The system assess pollution types, including acid pollution, dead animals, eutrophication, fish oil, and plastic pollution, along with objects like bottles, cardboard, glass, metal, leaves, paper, trash, and water containers. </a:t>
            </a:r>
          </a:p>
          <a:p>
            <a:pPr marL="355600" marR="3100705" indent="-342900" algn="just">
              <a:lnSpc>
                <a:spcPct val="119800"/>
              </a:lnSpc>
              <a:spcBef>
                <a:spcPts val="95"/>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Users can register, log in, and access a detection module that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uploaded images for pollutants. Detected pollution instances can trigger automated notifications to the administrator, enabling effective monitoring. This approach allows systematic evaluation of water quality, highlighting areas affected by different types of contamination. The methodology can be extended to other water sources and environmental studies.</a:t>
            </a:r>
          </a:p>
          <a:p>
            <a:pPr marL="355600" marR="3100705" indent="-342900" algn="just">
              <a:lnSpc>
                <a:spcPct val="119800"/>
              </a:lnSpc>
              <a:spcBef>
                <a:spcPts val="95"/>
              </a:spcBef>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9" name="object 9"/>
          <p:cNvSpPr txBox="1">
            <a:spLocks noGrp="1"/>
          </p:cNvSpPr>
          <p:nvPr>
            <p:ph type="dt" sz="half" idx="6"/>
          </p:nvPr>
        </p:nvSpPr>
        <p:spPr>
          <a:xfrm>
            <a:off x="914400" y="6629559"/>
            <a:ext cx="45209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400801" y="6629197"/>
            <a:ext cx="46380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14" name="Rectangle 3">
            <a:extLst>
              <a:ext uri="{FF2B5EF4-FFF2-40B4-BE49-F238E27FC236}">
                <a16:creationId xmlns:a16="http://schemas.microsoft.com/office/drawing/2014/main" id="{BF09A509-6326-C205-FDB8-9E2631C4231F}"/>
              </a:ext>
            </a:extLst>
          </p:cNvPr>
          <p:cNvSpPr>
            <a:spLocks noGrp="1" noChangeArrowheads="1"/>
          </p:cNvSpPr>
          <p:nvPr>
            <p:ph type="body" idx="1"/>
          </p:nvPr>
        </p:nvSpPr>
        <p:spPr bwMode="auto">
          <a:xfrm>
            <a:off x="1" y="970798"/>
            <a:ext cx="1202184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Rivers are polluted by multiple sources such as chemical waste, plastic debris, dead organisms, and oil residues.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mixing of different pollutants in water makes effective monitoring and classification difficult.</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manual inspection and water analysis are time-consuming and prone to incomplete assessment.</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methods may fail to detect all pollution types simultaneously, causing contamination to go unnoticed.</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Undetected pollution leads to deterioration of water quality and severe environmental impacts.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 systematic and automated approach to detect multiple pollutants and objects from water images.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technology-driven solution is required to efficiently analyze water conditions and classify pollution types.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9" name="object 9"/>
          <p:cNvSpPr txBox="1">
            <a:spLocks noGrp="1"/>
          </p:cNvSpPr>
          <p:nvPr>
            <p:ph type="dt" sz="half" idx="6"/>
          </p:nvPr>
        </p:nvSpPr>
        <p:spPr>
          <a:xfrm>
            <a:off x="990600" y="6629559"/>
            <a:ext cx="44447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400801" y="6629197"/>
            <a:ext cx="4638020"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Rectangle 1">
            <a:extLst>
              <a:ext uri="{FF2B5EF4-FFF2-40B4-BE49-F238E27FC236}">
                <a16:creationId xmlns:a16="http://schemas.microsoft.com/office/drawing/2014/main" id="{DBE420EC-06F3-1168-67C4-186883BCB12D}"/>
              </a:ext>
            </a:extLst>
          </p:cNvPr>
          <p:cNvSpPr>
            <a:spLocks noChangeArrowheads="1"/>
          </p:cNvSpPr>
          <p:nvPr/>
        </p:nvSpPr>
        <p:spPr bwMode="auto">
          <a:xfrm>
            <a:off x="100769" y="811423"/>
            <a:ext cx="11707130"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assess river water quality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automatically detecting and classifying various pollution types and objects such as acid contamination, plastic waste, dead animals, eutrophication, oil residues, and debris using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YOLOv10 object detection algorithm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user-friendly web-based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allows users to register, log in, upload river images for analysis, and communicate detected pollution results to the administrator for effective monitoring and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3" name="object 3"/>
          <p:cNvGrpSpPr/>
          <p:nvPr/>
        </p:nvGrpSpPr>
        <p:grpSpPr>
          <a:xfrm>
            <a:off x="0" y="22860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r>
                <a:rPr lang="en-IN" dirty="0"/>
                <a:t>d</a:t>
              </a:r>
              <a:endParaRPr dirty="0"/>
            </a:p>
          </p:txBody>
        </p:sp>
      </p:grpSp>
      <p:sp>
        <p:nvSpPr>
          <p:cNvPr id="6" name="object 6"/>
          <p:cNvSpPr txBox="1"/>
          <p:nvPr/>
        </p:nvSpPr>
        <p:spPr>
          <a:xfrm>
            <a:off x="73025" y="209958"/>
            <a:ext cx="6708775" cy="1023357"/>
          </a:xfrm>
          <a:prstGeom prst="rect">
            <a:avLst/>
          </a:prstGeom>
        </p:spPr>
        <p:txBody>
          <a:bodyPr vert="horz" wrap="square" lIns="0" tIns="12700" rIns="0" bIns="0" rtlCol="0">
            <a:spAutoFit/>
          </a:bodyPr>
          <a:lstStyle/>
          <a:p>
            <a:pPr marL="12700">
              <a:lnSpc>
                <a:spcPct val="100000"/>
              </a:lnSpc>
              <a:spcBef>
                <a:spcPts val="100"/>
              </a:spcBef>
            </a:pPr>
            <a:r>
              <a:rPr lang="en-US" sz="3600" dirty="0">
                <a:solidFill>
                  <a:schemeClr val="bg1"/>
                </a:solidFill>
                <a:latin typeface="Times New Roman" panose="02020603050405020304" pitchFamily="18" charset="0"/>
                <a:cs typeface="Times New Roman" panose="02020603050405020304" pitchFamily="18" charset="0"/>
              </a:rPr>
              <a:t>Literature Survey for Objectives</a:t>
            </a:r>
            <a:endParaRPr sz="3600" dirty="0">
              <a:solidFill>
                <a:schemeClr val="bg1"/>
              </a:solidFill>
              <a:latin typeface="Times New Roman" panose="02020603050405020304" pitchFamily="18" charset="0"/>
              <a:cs typeface="Times New Roman" panose="02020603050405020304" pitchFamily="18" charset="0"/>
            </a:endParaRPr>
          </a:p>
          <a:p>
            <a:pPr>
              <a:lnSpc>
                <a:spcPct val="100000"/>
              </a:lnSpc>
              <a:spcBef>
                <a:spcPts val="225"/>
              </a:spcBef>
            </a:pPr>
            <a:endParaRPr sz="2800" dirty="0">
              <a:latin typeface="Times New Roman"/>
              <a:cs typeface="Times New Roman"/>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8" name="object 8"/>
          <p:cNvSpPr txBox="1">
            <a:spLocks noGrp="1"/>
          </p:cNvSpPr>
          <p:nvPr>
            <p:ph type="dt" sz="half" idx="6"/>
          </p:nvPr>
        </p:nvSpPr>
        <p:spPr>
          <a:xfrm>
            <a:off x="990600" y="6629559"/>
            <a:ext cx="44447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6476999" y="6629197"/>
            <a:ext cx="4561821"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graphicFrame>
        <p:nvGraphicFramePr>
          <p:cNvPr id="11" name="Table 10">
            <a:extLst>
              <a:ext uri="{FF2B5EF4-FFF2-40B4-BE49-F238E27FC236}">
                <a16:creationId xmlns:a16="http://schemas.microsoft.com/office/drawing/2014/main" id="{5B2D7E4A-8AB6-9131-4F25-61754FEF0DD5}"/>
              </a:ext>
            </a:extLst>
          </p:cNvPr>
          <p:cNvGraphicFramePr>
            <a:graphicFrameLocks noGrp="1"/>
          </p:cNvGraphicFramePr>
          <p:nvPr>
            <p:extLst>
              <p:ext uri="{D42A27DB-BD31-4B8C-83A1-F6EECF244321}">
                <p14:modId xmlns:p14="http://schemas.microsoft.com/office/powerpoint/2010/main" val="3644769359"/>
              </p:ext>
            </p:extLst>
          </p:nvPr>
        </p:nvGraphicFramePr>
        <p:xfrm>
          <a:off x="73024" y="1031760"/>
          <a:ext cx="11890375" cy="4693940"/>
        </p:xfrm>
        <a:graphic>
          <a:graphicData uri="http://schemas.openxmlformats.org/drawingml/2006/table">
            <a:tbl>
              <a:tblPr>
                <a:noFill/>
              </a:tblPr>
              <a:tblGrid>
                <a:gridCol w="546300">
                  <a:extLst>
                    <a:ext uri="{9D8B030D-6E8A-4147-A177-3AD203B41FA5}">
                      <a16:colId xmlns:a16="http://schemas.microsoft.com/office/drawing/2014/main" val="4252331308"/>
                    </a:ext>
                  </a:extLst>
                </a:gridCol>
                <a:gridCol w="3113468">
                  <a:extLst>
                    <a:ext uri="{9D8B030D-6E8A-4147-A177-3AD203B41FA5}">
                      <a16:colId xmlns:a16="http://schemas.microsoft.com/office/drawing/2014/main" val="199706998"/>
                    </a:ext>
                  </a:extLst>
                </a:gridCol>
                <a:gridCol w="1557689">
                  <a:extLst>
                    <a:ext uri="{9D8B030D-6E8A-4147-A177-3AD203B41FA5}">
                      <a16:colId xmlns:a16="http://schemas.microsoft.com/office/drawing/2014/main" val="741082847"/>
                    </a:ext>
                  </a:extLst>
                </a:gridCol>
                <a:gridCol w="1959621">
                  <a:extLst>
                    <a:ext uri="{9D8B030D-6E8A-4147-A177-3AD203B41FA5}">
                      <a16:colId xmlns:a16="http://schemas.microsoft.com/office/drawing/2014/main" val="2804853241"/>
                    </a:ext>
                  </a:extLst>
                </a:gridCol>
                <a:gridCol w="2270526">
                  <a:extLst>
                    <a:ext uri="{9D8B030D-6E8A-4147-A177-3AD203B41FA5}">
                      <a16:colId xmlns:a16="http://schemas.microsoft.com/office/drawing/2014/main" val="2402200909"/>
                    </a:ext>
                  </a:extLst>
                </a:gridCol>
                <a:gridCol w="2442771">
                  <a:extLst>
                    <a:ext uri="{9D8B030D-6E8A-4147-A177-3AD203B41FA5}">
                      <a16:colId xmlns:a16="http://schemas.microsoft.com/office/drawing/2014/main" val="2002382633"/>
                    </a:ext>
                  </a:extLst>
                </a:gridCol>
              </a:tblGrid>
              <a:tr h="608157">
                <a:tc>
                  <a:txBody>
                    <a:bodyPr/>
                    <a:lstStyle/>
                    <a:p>
                      <a:pPr marL="0" lvl="0" indent="0" algn="l" rtl="0">
                        <a:spcBef>
                          <a:spcPts val="0"/>
                        </a:spcBef>
                        <a:spcAft>
                          <a:spcPts val="0"/>
                        </a:spcAft>
                        <a:buNone/>
                      </a:pPr>
                      <a:r>
                        <a:rPr lang="en-US" sz="1400" dirty="0">
                          <a:solidFill>
                            <a:srgbClr val="FFFFFF"/>
                          </a:solidFill>
                          <a:latin typeface="Times New Roman" panose="02020603050405020304" pitchFamily="18" charset="0"/>
                          <a:ea typeface="Verdana"/>
                          <a:cs typeface="Times New Roman" panose="02020603050405020304" pitchFamily="18" charset="0"/>
                          <a:sym typeface="Verdana"/>
                        </a:rPr>
                        <a:t>No</a:t>
                      </a:r>
                      <a:endParaRPr sz="1400" dirty="0">
                        <a:solidFill>
                          <a:srgbClr val="FFFFFF"/>
                        </a:solidFill>
                        <a:latin typeface="Times New Roman" panose="02020603050405020304" pitchFamily="18" charset="0"/>
                        <a:ea typeface="Verdana"/>
                        <a:cs typeface="Times New Roman" panose="02020603050405020304" pitchFamily="18" charset="0"/>
                        <a:sym typeface="Verdana"/>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dirty="0">
                          <a:solidFill>
                            <a:srgbClr val="FFFFFF"/>
                          </a:solidFill>
                          <a:latin typeface="Times New Roman" panose="02020603050405020304" pitchFamily="18" charset="0"/>
                          <a:ea typeface="Verdana"/>
                          <a:cs typeface="Times New Roman" panose="02020603050405020304" pitchFamily="18" charset="0"/>
                          <a:sym typeface="Verdana"/>
                        </a:rPr>
                        <a:t>Title</a:t>
                      </a:r>
                      <a:endParaRPr sz="1400" dirty="0">
                        <a:solidFill>
                          <a:srgbClr val="FFFFFF"/>
                        </a:solidFill>
                        <a:latin typeface="Times New Roman" panose="02020603050405020304" pitchFamily="18" charset="0"/>
                        <a:ea typeface="Verdana"/>
                        <a:cs typeface="Times New Roman" panose="02020603050405020304" pitchFamily="18" charset="0"/>
                        <a:sym typeface="Verdana"/>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dirty="0">
                          <a:solidFill>
                            <a:srgbClr val="FFFFFF"/>
                          </a:solidFill>
                          <a:latin typeface="Times New Roman" panose="02020603050405020304" pitchFamily="18" charset="0"/>
                          <a:cs typeface="Times New Roman" panose="02020603050405020304" pitchFamily="18" charset="0"/>
                        </a:rPr>
                        <a:t>Authors</a:t>
                      </a:r>
                      <a:endParaRPr sz="1400" dirty="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Journal Name &amp; Year</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Methodology Adapted</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Key Findings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4049350723"/>
                  </a:ext>
                </a:extLst>
              </a:tr>
              <a:tr h="1797681">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1.</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Microplastics in Freshwater Ecosystems of India: Current Trends and Future Perspectives</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i-FI" sz="1400" dirty="0">
                          <a:latin typeface="Times New Roman" panose="02020603050405020304" pitchFamily="18" charset="0"/>
                          <a:cs typeface="Times New Roman" panose="02020603050405020304" pitchFamily="18" charset="0"/>
                        </a:rPr>
                        <a:t>K. Neelavannan, I. S. Sen</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nl-NL" sz="1400" i="1" dirty="0">
                          <a:latin typeface="Times New Roman" panose="02020603050405020304" pitchFamily="18" charset="0"/>
                          <a:cs typeface="Times New Roman" panose="02020603050405020304" pitchFamily="18" charset="0"/>
                        </a:rPr>
                        <a:t>ACS Omega</a:t>
                      </a:r>
                      <a:r>
                        <a:rPr lang="nl-NL" sz="1400" dirty="0">
                          <a:latin typeface="Times New Roman" panose="02020603050405020304" pitchFamily="18" charset="0"/>
                          <a:cs typeface="Times New Roman" panose="02020603050405020304" pitchFamily="18" charset="0"/>
                        </a:rPr>
                        <a:t>, Vol. 8, 2023</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Reviews 18 studies on microplastics in Indian rivers and lakes using sampling, separation, and polymer identification techniques.</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Microplastics are widespread in Indian freshwater systems with significant regional data gaps and inconsistent study methods.</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extLst>
                  <a:ext uri="{0D108BD9-81ED-4DB2-BD59-A6C34878D82A}">
                    <a16:rowId xmlns:a16="http://schemas.microsoft.com/office/drawing/2014/main" val="619134017"/>
                  </a:ext>
                </a:extLst>
              </a:tr>
              <a:tr h="2288102">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2.</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Using Citizen Science to Understand River Water Quality: The Catchment Science Approach</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dirty="0">
                          <a:latin typeface="Times New Roman" panose="02020603050405020304" pitchFamily="18" charset="0"/>
                          <a:cs typeface="Times New Roman" panose="02020603050405020304" pitchFamily="18" charset="0"/>
                        </a:rPr>
                        <a:t>S. Hegarty et al.</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i="1" dirty="0">
                          <a:latin typeface="Times New Roman" panose="02020603050405020304" pitchFamily="18" charset="0"/>
                          <a:cs typeface="Times New Roman" panose="02020603050405020304" pitchFamily="18" charset="0"/>
                        </a:rPr>
                        <a:t>Science of the Total Environment</a:t>
                      </a:r>
                      <a:r>
                        <a:rPr lang="en-US" sz="1400" dirty="0">
                          <a:latin typeface="Times New Roman" panose="02020603050405020304" pitchFamily="18" charset="0"/>
                          <a:cs typeface="Times New Roman" panose="02020603050405020304" pitchFamily="18" charset="0"/>
                        </a:rPr>
                        <a:t>, Vol. 790, 2021</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Uses </a:t>
                      </a:r>
                      <a:r>
                        <a:rPr lang="en-US" sz="1400" b="1" dirty="0">
                          <a:latin typeface="Times New Roman" panose="02020603050405020304" pitchFamily="18" charset="0"/>
                          <a:cs typeface="Times New Roman" panose="02020603050405020304" pitchFamily="18" charset="0"/>
                        </a:rPr>
                        <a:t>citizen science</a:t>
                      </a:r>
                      <a:r>
                        <a:rPr lang="en-US" sz="1400" dirty="0">
                          <a:latin typeface="Times New Roman" panose="02020603050405020304" pitchFamily="18" charset="0"/>
                          <a:cs typeface="Times New Roman" panose="02020603050405020304" pitchFamily="18" charset="0"/>
                        </a:rPr>
                        <a:t>, where volunteers collect water samples and report water-quality information using standardized scientific procedures</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Citizen participation </a:t>
                      </a:r>
                      <a:r>
                        <a:rPr lang="en-US" sz="1400" b="1" dirty="0">
                          <a:latin typeface="Times New Roman" panose="02020603050405020304" pitchFamily="18" charset="0"/>
                          <a:cs typeface="Times New Roman" panose="02020603050405020304" pitchFamily="18" charset="0"/>
                        </a:rPr>
                        <a:t>improves water-quality data collection</a:t>
                      </a:r>
                      <a:r>
                        <a:rPr lang="en-US" sz="1400" dirty="0">
                          <a:latin typeface="Times New Roman" panose="02020603050405020304" pitchFamily="18" charset="0"/>
                          <a:cs typeface="Times New Roman" panose="02020603050405020304" pitchFamily="18" charset="0"/>
                        </a:rPr>
                        <a:t>, increases monitoring coverage, and helps identify river pollution patterns more efficiently.</a:t>
                      </a:r>
                      <a:endParaRPr lang="en-US"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extLst>
                  <a:ext uri="{0D108BD9-81ED-4DB2-BD59-A6C34878D82A}">
                    <a16:rowId xmlns:a16="http://schemas.microsoft.com/office/drawing/2014/main" val="420652229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9" name="object 9"/>
          <p:cNvSpPr txBox="1">
            <a:spLocks noGrp="1"/>
          </p:cNvSpPr>
          <p:nvPr>
            <p:ph type="dt" sz="half" idx="6"/>
          </p:nvPr>
        </p:nvSpPr>
        <p:spPr>
          <a:xfrm>
            <a:off x="914400" y="6629559"/>
            <a:ext cx="45209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400800" y="6607175"/>
            <a:ext cx="4211615"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3" name="Rectangle 1">
            <a:extLst>
              <a:ext uri="{FF2B5EF4-FFF2-40B4-BE49-F238E27FC236}">
                <a16:creationId xmlns:a16="http://schemas.microsoft.com/office/drawing/2014/main" id="{2F867B1D-217C-6B24-72DD-9ECC560F672D}"/>
              </a:ext>
            </a:extLst>
          </p:cNvPr>
          <p:cNvSpPr>
            <a:spLocks noChangeArrowheads="1"/>
          </p:cNvSpPr>
          <p:nvPr/>
        </p:nvSpPr>
        <p:spPr bwMode="auto">
          <a:xfrm>
            <a:off x="149031" y="1027483"/>
            <a:ext cx="11966769" cy="5579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Rectangle 5">
            <a:extLst>
              <a:ext uri="{FF2B5EF4-FFF2-40B4-BE49-F238E27FC236}">
                <a16:creationId xmlns:a16="http://schemas.microsoft.com/office/drawing/2014/main" id="{B00C9F10-8B7A-BD6E-5ACD-62F066330A7C}"/>
              </a:ext>
            </a:extLst>
          </p:cNvPr>
          <p:cNvSpPr>
            <a:spLocks noChangeArrowheads="1"/>
          </p:cNvSpPr>
          <p:nvPr/>
        </p:nvSpPr>
        <p:spPr bwMode="auto">
          <a:xfrm>
            <a:off x="73025" y="1434848"/>
            <a:ext cx="1181417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Introduces an automated system for river water quality assessment using object detection technology.</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Utilizes YOLOv10 to simultaneously detect multiple pollutants and objects in water images.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pollution types such as acid pollution, dead animals, eutrophication, fish oil, plastic, and solid waste (bottles, cardboard, glass, metal, leaves, paper, trash).</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using a Flask framework with a Python back end and an HTML, CSS, and JavaScript front end for user interaction.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register, log in, and upload river images, while detected pollution triggers automated admin notifications for monitoring and documentation.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modular design allows easy expansion, reduces manual effort, ensures consistent detection, and provides a scalable solution for water quality assessment.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10" name="object 10"/>
          <p:cNvSpPr txBox="1">
            <a:spLocks noGrp="1"/>
          </p:cNvSpPr>
          <p:nvPr>
            <p:ph type="dt" sz="half" idx="6"/>
          </p:nvPr>
        </p:nvSpPr>
        <p:spPr>
          <a:xfrm>
            <a:off x="914400" y="6629558"/>
            <a:ext cx="45209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6517863" y="6629197"/>
            <a:ext cx="4520958"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7" name="object 7"/>
          <p:cNvSpPr txBox="1"/>
          <p:nvPr/>
        </p:nvSpPr>
        <p:spPr>
          <a:xfrm>
            <a:off x="272465" y="1074318"/>
            <a:ext cx="11749380" cy="2646878"/>
          </a:xfrm>
          <a:prstGeom prst="rect">
            <a:avLst/>
          </a:prstGeom>
        </p:spPr>
        <p:txBody>
          <a:bodyPr vert="horz" wrap="square" lIns="0" tIns="60960" rIns="0" bIns="0"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K. Neelavannan and I. S. Sen, “</a:t>
            </a:r>
            <a:r>
              <a:rPr lang="en-US" sz="2400" i="1" dirty="0">
                <a:latin typeface="Times New Roman" panose="02020603050405020304" pitchFamily="18" charset="0"/>
                <a:cs typeface="Times New Roman" panose="02020603050405020304" pitchFamily="18" charset="0"/>
              </a:rPr>
              <a:t>Microplastics in Freshwater Ecosystems of India: Current Trends and Future Perspectives</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ACS Omega</a:t>
            </a:r>
            <a:r>
              <a:rPr lang="en-US" sz="2400" dirty="0">
                <a:latin typeface="Times New Roman" panose="02020603050405020304" pitchFamily="18" charset="0"/>
                <a:cs typeface="Times New Roman" panose="02020603050405020304" pitchFamily="18" charset="0"/>
              </a:rPr>
              <a:t>, vol. 8, pp. 34235–34248, 2023.</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Citizen Science for River Water Quality (Very Closely Related to Your Concept)  </a:t>
            </a:r>
          </a:p>
          <a:p>
            <a:pPr marL="360363" indent="-360363" algn="just"/>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 Hegarty </a:t>
            </a:r>
            <a:r>
              <a:rPr lang="en-US" sz="2400" i="1" dirty="0">
                <a:latin typeface="Times New Roman" panose="02020603050405020304" pitchFamily="18" charset="0"/>
                <a:cs typeface="Times New Roman" panose="02020603050405020304" pitchFamily="18" charset="0"/>
              </a:rPr>
              <a:t>et al.</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Using citizen science to understand river water quality: The catchment        science approach</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Science of the Total Environment</a:t>
            </a:r>
            <a:r>
              <a:rPr lang="en-US" sz="2400" dirty="0">
                <a:latin typeface="Times New Roman" panose="02020603050405020304" pitchFamily="18" charset="0"/>
                <a:cs typeface="Times New Roman" panose="02020603050405020304" pitchFamily="18" charset="0"/>
              </a:rPr>
              <a:t>, vol. 790, 2021.</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5350480" y="-18339"/>
            <a:ext cx="1488440" cy="487313"/>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p>
          <a:p>
            <a:pPr marL="12700">
              <a:lnSpc>
                <a:spcPct val="100000"/>
              </a:lnSpc>
              <a:spcBef>
                <a:spcPts val="100"/>
              </a:spcBef>
            </a:pPr>
            <a:endParaRPr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11" name="object 11"/>
          <p:cNvSpPr txBox="1">
            <a:spLocks noGrp="1"/>
          </p:cNvSpPr>
          <p:nvPr>
            <p:ph type="dt" sz="half" idx="6"/>
          </p:nvPr>
        </p:nvSpPr>
        <p:spPr>
          <a:xfrm>
            <a:off x="911225" y="6629558"/>
            <a:ext cx="4524134"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6400801" y="6629197"/>
            <a:ext cx="46380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228599" y="6152444"/>
            <a:ext cx="11277601" cy="289823"/>
          </a:xfrm>
          <a:prstGeom prst="rect">
            <a:avLst/>
          </a:prstGeom>
        </p:spPr>
        <p:txBody>
          <a:bodyPr vert="horz" wrap="square" lIns="0" tIns="12700" rIns="0" bIns="0" rtlCol="0">
            <a:spAutoFit/>
          </a:bodyPr>
          <a:lstStyle/>
          <a:p>
            <a:pPr marL="12700">
              <a:lnSpc>
                <a:spcPct val="100000"/>
              </a:lnSpc>
              <a:spcBef>
                <a:spcPts val="100"/>
              </a:spcBef>
            </a:pPr>
            <a:r>
              <a:rPr lang="en-IN" dirty="0" err="1">
                <a:latin typeface="Sitka Small Semibold" pitchFamily="2" charset="0"/>
                <a:cs typeface="Arial MT"/>
              </a:rPr>
              <a:t>Github</a:t>
            </a:r>
            <a:r>
              <a:rPr lang="en-IN" dirty="0">
                <a:latin typeface="Sitka Small Semibold" pitchFamily="2" charset="0"/>
                <a:cs typeface="Arial MT"/>
              </a:rPr>
              <a:t> link:  </a:t>
            </a:r>
            <a:r>
              <a:rPr lang="en-IN" dirty="0">
                <a:latin typeface="Times New Roman" panose="02020603050405020304" pitchFamily="18" charset="0"/>
                <a:cs typeface="Times New Roman" panose="02020603050405020304" pitchFamily="18" charset="0"/>
              </a:rPr>
              <a:t>https://github.com/SKSuhanaAnjum/CSE-2022-26-Batch-B-18</a:t>
            </a:r>
            <a:endParaRPr sz="1800" dirty="0">
              <a:latin typeface="Times New Roman" panose="02020603050405020304" pitchFamily="18" charset="0"/>
              <a:cs typeface="Times New Roman" panose="02020603050405020304" pitchFamily="18" charset="0"/>
            </a:endParaRPr>
          </a:p>
        </p:txBody>
      </p:sp>
      <p:pic>
        <p:nvPicPr>
          <p:cNvPr id="14" name="Picture 13" descr="A screenshot of a computer&#10;&#10;AI-generated content may be incorrect.">
            <a:extLst>
              <a:ext uri="{FF2B5EF4-FFF2-40B4-BE49-F238E27FC236}">
                <a16:creationId xmlns:a16="http://schemas.microsoft.com/office/drawing/2014/main" id="{8A09342B-5188-E9E6-32F5-0E381BDF4167}"/>
              </a:ext>
            </a:extLst>
          </p:cNvPr>
          <p:cNvPicPr>
            <a:picLocks noChangeAspect="1"/>
          </p:cNvPicPr>
          <p:nvPr/>
        </p:nvPicPr>
        <p:blipFill>
          <a:blip r:embed="rId3"/>
          <a:stretch>
            <a:fillRect/>
          </a:stretch>
        </p:blipFill>
        <p:spPr>
          <a:xfrm>
            <a:off x="844111" y="999299"/>
            <a:ext cx="10185918" cy="5100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5350480" y="-18339"/>
            <a:ext cx="148844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Marine Guard</a:t>
            </a:r>
            <a:endParaRPr sz="1500" dirty="0">
              <a:latin typeface="Times New Roman"/>
              <a:cs typeface="Times New Roman"/>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 - 18</a:t>
            </a:r>
            <a:endParaRPr spc="-25" dirty="0"/>
          </a:p>
        </p:txBody>
      </p:sp>
      <p:sp>
        <p:nvSpPr>
          <p:cNvPr id="6" name="object 6"/>
          <p:cNvSpPr txBox="1">
            <a:spLocks noGrp="1"/>
          </p:cNvSpPr>
          <p:nvPr>
            <p:ph type="dt" sz="half" idx="6"/>
          </p:nvPr>
        </p:nvSpPr>
        <p:spPr>
          <a:xfrm>
            <a:off x="990600" y="6629559"/>
            <a:ext cx="44447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6477001" y="6629197"/>
            <a:ext cx="4561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1046</TotalTime>
  <Words>1123</Words>
  <Application>Microsoft Office PowerPoint</Application>
  <PresentationFormat>Widescreen</PresentationFormat>
  <Paragraphs>129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Sitka Small Semibold</vt:lpstr>
      <vt:lpstr>Times New Roman</vt:lpstr>
      <vt:lpstr>Wingdings</vt:lpstr>
      <vt:lpstr>Office Theme</vt:lpstr>
      <vt:lpstr> MARINE GUARD </vt:lpstr>
      <vt:lpstr>Contents</vt:lpstr>
      <vt:lpstr>Title Justification </vt:lpstr>
      <vt:lpstr>Abstract</vt:lpstr>
      <vt:lpstr>Problem Statement</vt:lpstr>
      <vt:lpstr>Objectives of Project</vt:lpstr>
      <vt:lpstr>PowerPoint Presentation</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Naveen</dc:creator>
  <cp:lastModifiedBy>suhana anjum</cp:lastModifiedBy>
  <cp:revision>20</cp:revision>
  <dcterms:created xsi:type="dcterms:W3CDTF">2025-12-02T11:29:58Z</dcterms:created>
  <dcterms:modified xsi:type="dcterms:W3CDTF">2026-01-01T13:24:47Z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Google</vt:lpwstr>
  </property>
  <property fmtid="{D5CDD505-2E9C-101B-9397-08002B2CF9AE}" pid="4" name="LastSaved">
    <vt:filetime>2025-12-02T00:00:00Z</vt:filetime>
  </property>
</Properties>
</file>