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p:cViewPr varScale="1">
        <p:scale>
          <a:sx n="92" d="100"/>
          <a:sy n="92" d="100"/>
        </p:scale>
        <p:origin x="230" y="53"/>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6" name="Holder 6"/>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Holder 7"/>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4" name="Holder 4"/>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5" name="Holder 5"/>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3" name="Holder 3"/>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4" name="Holder 4"/>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7"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 name="Holder 2"/>
          <p:cNvSpPr>
            <a:spLocks noGrp="1"/>
          </p:cNvSpPr>
          <p:nvPr>
            <p:ph type="title"/>
          </p:nvPr>
        </p:nvSpPr>
        <p:spPr>
          <a:xfrm>
            <a:off x="73025" y="182323"/>
            <a:ext cx="4739005" cy="69596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a:xfrm>
            <a:off x="236899" y="1074318"/>
            <a:ext cx="11346815" cy="3137535"/>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149031" y="6629427"/>
            <a:ext cx="63500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a:xfrm>
            <a:off x="1773949" y="6629558"/>
            <a:ext cx="366141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a:xfrm>
            <a:off x="11793245" y="6629427"/>
            <a:ext cx="228600" cy="250825"/>
          </a:xfrm>
          <a:prstGeom prst="rect">
            <a:avLst/>
          </a:prstGeom>
        </p:spPr>
        <p:txBody>
          <a:bodyPr wrap="square" lIns="0" tIns="0" rIns="0" bIns="0">
            <a:spAutoFit/>
          </a:bodyPr>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777240" y="6634440"/>
            <a:ext cx="11414760" cy="223520"/>
            <a:chOff x="777240" y="6634440"/>
            <a:chExt cx="11414760" cy="223520"/>
          </a:xfrm>
        </p:grpSpPr>
        <p:sp>
          <p:nvSpPr>
            <p:cNvPr id="3" name="object 3"/>
            <p:cNvSpPr/>
            <p:nvPr/>
          </p:nvSpPr>
          <p:spPr>
            <a:xfrm>
              <a:off x="777240" y="6634440"/>
              <a:ext cx="5781675" cy="220979"/>
            </a:xfrm>
            <a:custGeom>
              <a:avLst/>
              <a:gdLst/>
              <a:ahLst/>
              <a:cxnLst/>
              <a:rect l="l" t="t" r="r" b="b"/>
              <a:pathLst>
                <a:path w="5781675" h="220979">
                  <a:moveTo>
                    <a:pt x="5781599" y="220679"/>
                  </a:moveTo>
                  <a:lnTo>
                    <a:pt x="0" y="220679"/>
                  </a:lnTo>
                  <a:lnTo>
                    <a:pt x="0" y="0"/>
                  </a:lnTo>
                  <a:lnTo>
                    <a:pt x="5781599" y="0"/>
                  </a:lnTo>
                  <a:lnTo>
                    <a:pt x="5781599" y="220679"/>
                  </a:lnTo>
                  <a:close/>
                </a:path>
              </a:pathLst>
            </a:custGeom>
            <a:solidFill>
              <a:srgbClr val="002060"/>
            </a:solidFill>
          </p:spPr>
          <p:txBody>
            <a:bodyPr wrap="square" lIns="0" tIns="0" rIns="0" bIns="0" rtlCol="0"/>
            <a:lstStyle/>
            <a:p>
              <a:endParaRPr dirty="0"/>
            </a:p>
          </p:txBody>
        </p:sp>
        <p:sp>
          <p:nvSpPr>
            <p:cNvPr id="4" name="object 4"/>
            <p:cNvSpPr/>
            <p:nvPr/>
          </p:nvSpPr>
          <p:spPr>
            <a:xfrm>
              <a:off x="6559199" y="6634440"/>
              <a:ext cx="5194935" cy="220979"/>
            </a:xfrm>
            <a:custGeom>
              <a:avLst/>
              <a:gdLst/>
              <a:ahLst/>
              <a:cxnLst/>
              <a:rect l="l" t="t" r="r" b="b"/>
              <a:pathLst>
                <a:path w="5194934" h="220979">
                  <a:moveTo>
                    <a:pt x="5194799" y="220679"/>
                  </a:moveTo>
                  <a:lnTo>
                    <a:pt x="0" y="220679"/>
                  </a:lnTo>
                  <a:lnTo>
                    <a:pt x="0" y="0"/>
                  </a:lnTo>
                  <a:lnTo>
                    <a:pt x="5194799" y="0"/>
                  </a:lnTo>
                  <a:lnTo>
                    <a:pt x="5194799" y="220679"/>
                  </a:lnTo>
                  <a:close/>
                </a:path>
              </a:pathLst>
            </a:custGeom>
            <a:solidFill>
              <a:srgbClr val="008080"/>
            </a:solidFill>
          </p:spPr>
          <p:txBody>
            <a:bodyPr wrap="square" lIns="0" tIns="0" rIns="0" bIns="0" rtlCol="0"/>
            <a:lstStyle/>
            <a:p>
              <a:endParaRPr/>
            </a:p>
          </p:txBody>
        </p:sp>
        <p:sp>
          <p:nvSpPr>
            <p:cNvPr id="5" name="object 5"/>
            <p:cNvSpPr/>
            <p:nvPr/>
          </p:nvSpPr>
          <p:spPr>
            <a:xfrm>
              <a:off x="11754359" y="6636960"/>
              <a:ext cx="437515" cy="220979"/>
            </a:xfrm>
            <a:custGeom>
              <a:avLst/>
              <a:gdLst/>
              <a:ahLst/>
              <a:cxnLst/>
              <a:rect l="l" t="t" r="r" b="b"/>
              <a:pathLst>
                <a:path w="437515" h="220979">
                  <a:moveTo>
                    <a:pt x="437399" y="220679"/>
                  </a:moveTo>
                  <a:lnTo>
                    <a:pt x="0" y="220679"/>
                  </a:lnTo>
                  <a:lnTo>
                    <a:pt x="0" y="0"/>
                  </a:lnTo>
                  <a:lnTo>
                    <a:pt x="437399" y="0"/>
                  </a:lnTo>
                  <a:lnTo>
                    <a:pt x="437399" y="220679"/>
                  </a:lnTo>
                  <a:close/>
                </a:path>
              </a:pathLst>
            </a:custGeom>
            <a:solidFill>
              <a:srgbClr val="FFC000"/>
            </a:solidFill>
          </p:spPr>
          <p:txBody>
            <a:bodyPr wrap="square" lIns="0" tIns="0" rIns="0" bIns="0" rtlCol="0"/>
            <a:lstStyle/>
            <a:p>
              <a:endParaRPr/>
            </a:p>
          </p:txBody>
        </p:sp>
      </p:grpSp>
      <p:sp>
        <p:nvSpPr>
          <p:cNvPr id="6" name="object 6"/>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7" name="object 7"/>
          <p:cNvSpPr/>
          <p:nvPr/>
        </p:nvSpPr>
        <p:spPr>
          <a:xfrm>
            <a:off x="0" y="6634440"/>
            <a:ext cx="777240" cy="221615"/>
          </a:xfrm>
          <a:custGeom>
            <a:avLst/>
            <a:gdLst/>
            <a:ahLst/>
            <a:cxnLst/>
            <a:rect l="l" t="t" r="r" b="b"/>
            <a:pathLst>
              <a:path w="777240" h="221615">
                <a:moveTo>
                  <a:pt x="776879" y="221039"/>
                </a:moveTo>
                <a:lnTo>
                  <a:pt x="0" y="221039"/>
                </a:lnTo>
                <a:lnTo>
                  <a:pt x="0" y="0"/>
                </a:lnTo>
                <a:lnTo>
                  <a:pt x="776879" y="0"/>
                </a:lnTo>
                <a:lnTo>
                  <a:pt x="776879" y="221039"/>
                </a:lnTo>
                <a:close/>
              </a:path>
            </a:pathLst>
          </a:custGeom>
          <a:solidFill>
            <a:srgbClr val="C55A11"/>
          </a:solidFill>
        </p:spPr>
        <p:txBody>
          <a:bodyPr wrap="square" lIns="0" tIns="0" rIns="0" bIns="0" rtlCol="0"/>
          <a:lstStyle/>
          <a:p>
            <a:r>
              <a:rPr lang="en-IN" dirty="0"/>
              <a:t> B - 18</a:t>
            </a:r>
            <a:endParaRPr dirty="0"/>
          </a:p>
        </p:txBody>
      </p:sp>
      <p:sp>
        <p:nvSpPr>
          <p:cNvPr id="8" name="object 8"/>
          <p:cNvSpPr txBox="1"/>
          <p:nvPr/>
        </p:nvSpPr>
        <p:spPr>
          <a:xfrm>
            <a:off x="4023361" y="1708363"/>
            <a:ext cx="4038600" cy="442685"/>
          </a:xfrm>
          <a:prstGeom prst="rect">
            <a:avLst/>
          </a:prstGeom>
        </p:spPr>
        <p:txBody>
          <a:bodyPr vert="horz" wrap="square" lIns="0" tIns="13335" rIns="0" bIns="0" rtlCol="0">
            <a:spAutoFit/>
          </a:bodyPr>
          <a:lstStyle/>
          <a:p>
            <a:pPr algn="ctr">
              <a:lnSpc>
                <a:spcPts val="2080"/>
              </a:lnSpc>
              <a:spcBef>
                <a:spcPts val="105"/>
              </a:spcBef>
            </a:pPr>
            <a:r>
              <a:rPr lang="en-IN" sz="1750" dirty="0">
                <a:latin typeface="Times New Roman"/>
                <a:cs typeface="Times New Roman"/>
              </a:rPr>
              <a:t>P. MAHAMMED THANVEER</a:t>
            </a:r>
          </a:p>
          <a:p>
            <a:pPr marL="635" algn="ctr">
              <a:lnSpc>
                <a:spcPts val="1060"/>
              </a:lnSpc>
            </a:pPr>
            <a:r>
              <a:rPr sz="1400" dirty="0">
                <a:latin typeface="Times New Roman"/>
                <a:cs typeface="Times New Roman"/>
              </a:rPr>
              <a:t>Roll</a:t>
            </a:r>
            <a:r>
              <a:rPr sz="1400" spc="5" dirty="0">
                <a:latin typeface="Times New Roman"/>
                <a:cs typeface="Times New Roman"/>
              </a:rPr>
              <a:t> </a:t>
            </a:r>
            <a:r>
              <a:rPr sz="1400" dirty="0">
                <a:latin typeface="Times New Roman"/>
                <a:cs typeface="Times New Roman"/>
              </a:rPr>
              <a:t>No.</a:t>
            </a:r>
            <a:r>
              <a:rPr sz="1400" spc="5" dirty="0">
                <a:latin typeface="Times New Roman"/>
                <a:cs typeface="Times New Roman"/>
              </a:rPr>
              <a:t> </a:t>
            </a:r>
            <a:r>
              <a:rPr lang="en-IN" sz="1400" spc="-10" dirty="0">
                <a:latin typeface="Times New Roman"/>
                <a:cs typeface="Times New Roman"/>
              </a:rPr>
              <a:t>224G1A0546</a:t>
            </a:r>
            <a:endParaRPr sz="1400" dirty="0">
              <a:latin typeface="Times New Roman"/>
              <a:cs typeface="Times New Roman"/>
            </a:endParaRPr>
          </a:p>
        </p:txBody>
      </p:sp>
      <p:sp>
        <p:nvSpPr>
          <p:cNvPr id="9" name="object 9"/>
          <p:cNvSpPr txBox="1"/>
          <p:nvPr/>
        </p:nvSpPr>
        <p:spPr>
          <a:xfrm>
            <a:off x="3733800" y="2476799"/>
            <a:ext cx="4724400" cy="1320874"/>
          </a:xfrm>
          <a:prstGeom prst="rect">
            <a:avLst/>
          </a:prstGeom>
        </p:spPr>
        <p:txBody>
          <a:bodyPr vert="horz" wrap="square" lIns="0" tIns="12700" rIns="0" bIns="0" rtlCol="0">
            <a:spAutoFit/>
          </a:bodyPr>
          <a:lstStyle/>
          <a:p>
            <a:pPr marL="635" algn="ctr">
              <a:lnSpc>
                <a:spcPts val="1630"/>
              </a:lnSpc>
              <a:spcBef>
                <a:spcPts val="100"/>
              </a:spcBef>
            </a:pPr>
            <a:r>
              <a:rPr sz="1400" i="1" dirty="0">
                <a:latin typeface="Times New Roman"/>
                <a:cs typeface="Times New Roman"/>
              </a:rPr>
              <a:t>Under</a:t>
            </a:r>
            <a:r>
              <a:rPr sz="1400" i="1" spc="-35" dirty="0">
                <a:latin typeface="Times New Roman"/>
                <a:cs typeface="Times New Roman"/>
              </a:rPr>
              <a:t> </a:t>
            </a:r>
            <a:r>
              <a:rPr sz="1400" i="1" dirty="0">
                <a:latin typeface="Times New Roman"/>
                <a:cs typeface="Times New Roman"/>
              </a:rPr>
              <a:t>the</a:t>
            </a:r>
            <a:r>
              <a:rPr sz="1400" i="1" spc="-35" dirty="0">
                <a:latin typeface="Times New Roman"/>
                <a:cs typeface="Times New Roman"/>
              </a:rPr>
              <a:t> </a:t>
            </a:r>
            <a:r>
              <a:rPr sz="1400" i="1" spc="-10" dirty="0">
                <a:latin typeface="Times New Roman"/>
                <a:cs typeface="Times New Roman"/>
              </a:rPr>
              <a:t>guidance</a:t>
            </a:r>
            <a:r>
              <a:rPr sz="1400" i="1" spc="-35" dirty="0">
                <a:latin typeface="Times New Roman"/>
                <a:cs typeface="Times New Roman"/>
              </a:rPr>
              <a:t> </a:t>
            </a:r>
            <a:r>
              <a:rPr sz="1400" i="1" spc="-25" dirty="0">
                <a:latin typeface="Times New Roman"/>
                <a:cs typeface="Times New Roman"/>
              </a:rPr>
              <a:t>of</a:t>
            </a:r>
            <a:endParaRPr lang="en-IN" sz="1400" dirty="0">
              <a:latin typeface="Times New Roman"/>
              <a:cs typeface="Times New Roman"/>
            </a:endParaRPr>
          </a:p>
          <a:p>
            <a:pPr marL="12065" marR="5080" algn="ctr">
              <a:lnSpc>
                <a:spcPts val="2790"/>
              </a:lnSpc>
              <a:spcBef>
                <a:spcPts val="114"/>
              </a:spcBef>
            </a:pPr>
            <a:r>
              <a:rPr lang="en-IN" sz="2400" spc="-10" dirty="0">
                <a:latin typeface="Times New Roman"/>
                <a:cs typeface="Times New Roman"/>
              </a:rPr>
              <a:t>Mr. C. Sudheer Kumar, </a:t>
            </a:r>
            <a:r>
              <a:rPr lang="en-IN" sz="1400" spc="-10" dirty="0" err="1">
                <a:latin typeface="Times New Roman"/>
                <a:cs typeface="Times New Roman"/>
              </a:rPr>
              <a:t>M.Tech</a:t>
            </a:r>
            <a:r>
              <a:rPr lang="en-IN" sz="1400" spc="-10" dirty="0">
                <a:latin typeface="Times New Roman"/>
                <a:cs typeface="Times New Roman"/>
              </a:rPr>
              <a:t>., (Ph. D) </a:t>
            </a:r>
          </a:p>
          <a:p>
            <a:pPr marL="12065" marR="5080" algn="ctr">
              <a:lnSpc>
                <a:spcPts val="2790"/>
              </a:lnSpc>
              <a:spcBef>
                <a:spcPts val="114"/>
              </a:spcBef>
            </a:pPr>
            <a:r>
              <a:rPr lang="en-IN" sz="1400" spc="-20" dirty="0">
                <a:latin typeface="Times New Roman"/>
                <a:cs typeface="Times New Roman"/>
              </a:rPr>
              <a:t>Assistant</a:t>
            </a:r>
            <a:r>
              <a:rPr lang="en-IN" sz="1400" spc="-40" dirty="0">
                <a:latin typeface="Times New Roman"/>
                <a:cs typeface="Times New Roman"/>
              </a:rPr>
              <a:t> </a:t>
            </a:r>
            <a:r>
              <a:rPr lang="en-IN" sz="1400" spc="-10" dirty="0">
                <a:latin typeface="Times New Roman"/>
                <a:cs typeface="Times New Roman"/>
              </a:rPr>
              <a:t>Professor</a:t>
            </a:r>
            <a:endParaRPr lang="en-IN" sz="1400" dirty="0">
              <a:latin typeface="Times New Roman"/>
              <a:cs typeface="Times New Roman"/>
            </a:endParaRPr>
          </a:p>
          <a:p>
            <a:pPr marL="12065" marR="5080" algn="ctr">
              <a:lnSpc>
                <a:spcPts val="2790"/>
              </a:lnSpc>
              <a:spcBef>
                <a:spcPts val="114"/>
              </a:spcBef>
            </a:pPr>
            <a:endParaRPr sz="2400" dirty="0">
              <a:latin typeface="Times New Roman"/>
              <a:cs typeface="Times New Roman"/>
            </a:endParaRPr>
          </a:p>
        </p:txBody>
      </p:sp>
      <p:sp>
        <p:nvSpPr>
          <p:cNvPr id="10" name="object 10"/>
          <p:cNvSpPr txBox="1"/>
          <p:nvPr/>
        </p:nvSpPr>
        <p:spPr>
          <a:xfrm>
            <a:off x="2147578" y="5096081"/>
            <a:ext cx="7890509" cy="1448435"/>
          </a:xfrm>
          <a:prstGeom prst="rect">
            <a:avLst/>
          </a:prstGeom>
        </p:spPr>
        <p:txBody>
          <a:bodyPr vert="horz" wrap="square" lIns="0" tIns="13335" rIns="0" bIns="0" rtlCol="0">
            <a:spAutoFit/>
          </a:bodyPr>
          <a:lstStyle/>
          <a:p>
            <a:pPr marL="4445" algn="ctr">
              <a:lnSpc>
                <a:spcPts val="2300"/>
              </a:lnSpc>
              <a:spcBef>
                <a:spcPts val="105"/>
              </a:spcBef>
            </a:pPr>
            <a:r>
              <a:rPr sz="2200" dirty="0">
                <a:latin typeface="Times New Roman"/>
                <a:cs typeface="Times New Roman"/>
              </a:rPr>
              <a:t>Department</a:t>
            </a:r>
            <a:r>
              <a:rPr sz="2200" spc="-25" dirty="0">
                <a:latin typeface="Times New Roman"/>
                <a:cs typeface="Times New Roman"/>
              </a:rPr>
              <a:t> </a:t>
            </a:r>
            <a:r>
              <a:rPr sz="2200" dirty="0">
                <a:latin typeface="Times New Roman"/>
                <a:cs typeface="Times New Roman"/>
              </a:rPr>
              <a:t>of</a:t>
            </a:r>
            <a:r>
              <a:rPr sz="2200" spc="-15" dirty="0">
                <a:latin typeface="Times New Roman"/>
                <a:cs typeface="Times New Roman"/>
              </a:rPr>
              <a:t> </a:t>
            </a:r>
            <a:r>
              <a:rPr sz="2200" dirty="0">
                <a:latin typeface="Times New Roman"/>
                <a:cs typeface="Times New Roman"/>
              </a:rPr>
              <a:t>Computer</a:t>
            </a:r>
            <a:r>
              <a:rPr sz="2200" spc="-15" dirty="0">
                <a:latin typeface="Times New Roman"/>
                <a:cs typeface="Times New Roman"/>
              </a:rPr>
              <a:t> </a:t>
            </a:r>
            <a:r>
              <a:rPr sz="2200" dirty="0">
                <a:latin typeface="Times New Roman"/>
                <a:cs typeface="Times New Roman"/>
              </a:rPr>
              <a:t>Science</a:t>
            </a:r>
            <a:r>
              <a:rPr sz="2200" spc="-20" dirty="0">
                <a:latin typeface="Times New Roman"/>
                <a:cs typeface="Times New Roman"/>
              </a:rPr>
              <a:t> </a:t>
            </a:r>
            <a:r>
              <a:rPr sz="2200" dirty="0">
                <a:latin typeface="Times New Roman"/>
                <a:cs typeface="Times New Roman"/>
              </a:rPr>
              <a:t>and</a:t>
            </a:r>
            <a:r>
              <a:rPr sz="2200" spc="-15" dirty="0">
                <a:latin typeface="Times New Roman"/>
                <a:cs typeface="Times New Roman"/>
              </a:rPr>
              <a:t> </a:t>
            </a:r>
            <a:r>
              <a:rPr sz="2200" dirty="0">
                <a:latin typeface="Times New Roman"/>
                <a:cs typeface="Times New Roman"/>
              </a:rPr>
              <a:t>Engineering</a:t>
            </a:r>
            <a:r>
              <a:rPr sz="2200" spc="-15" dirty="0">
                <a:latin typeface="Times New Roman"/>
                <a:cs typeface="Times New Roman"/>
              </a:rPr>
              <a:t> </a:t>
            </a:r>
            <a:endParaRPr sz="2200" dirty="0">
              <a:latin typeface="Times New Roman"/>
              <a:cs typeface="Times New Roman"/>
            </a:endParaRPr>
          </a:p>
          <a:p>
            <a:pPr algn="ctr">
              <a:lnSpc>
                <a:spcPts val="3565"/>
              </a:lnSpc>
            </a:pPr>
            <a:r>
              <a:rPr sz="3400" dirty="0">
                <a:solidFill>
                  <a:srgbClr val="FF0000"/>
                </a:solidFill>
                <a:latin typeface="Times New Roman"/>
                <a:cs typeface="Times New Roman"/>
              </a:rPr>
              <a:t>Srinivasa</a:t>
            </a:r>
            <a:r>
              <a:rPr sz="3400" spc="-20" dirty="0">
                <a:solidFill>
                  <a:srgbClr val="FF0000"/>
                </a:solidFill>
                <a:latin typeface="Times New Roman"/>
                <a:cs typeface="Times New Roman"/>
              </a:rPr>
              <a:t> </a:t>
            </a:r>
            <a:r>
              <a:rPr sz="3400" dirty="0">
                <a:solidFill>
                  <a:srgbClr val="FF0000"/>
                </a:solidFill>
                <a:latin typeface="Times New Roman"/>
                <a:cs typeface="Times New Roman"/>
              </a:rPr>
              <a:t>Ramanujan</a:t>
            </a:r>
            <a:r>
              <a:rPr sz="3400" spc="-20" dirty="0">
                <a:solidFill>
                  <a:srgbClr val="FF0000"/>
                </a:solidFill>
                <a:latin typeface="Times New Roman"/>
                <a:cs typeface="Times New Roman"/>
              </a:rPr>
              <a:t> </a:t>
            </a:r>
            <a:r>
              <a:rPr sz="3400" dirty="0">
                <a:solidFill>
                  <a:srgbClr val="FF0000"/>
                </a:solidFill>
                <a:latin typeface="Times New Roman"/>
                <a:cs typeface="Times New Roman"/>
              </a:rPr>
              <a:t>Institute</a:t>
            </a:r>
            <a:r>
              <a:rPr sz="3400" spc="-20" dirty="0">
                <a:solidFill>
                  <a:srgbClr val="FF0000"/>
                </a:solidFill>
                <a:latin typeface="Times New Roman"/>
                <a:cs typeface="Times New Roman"/>
              </a:rPr>
              <a:t> </a:t>
            </a:r>
            <a:r>
              <a:rPr sz="3400" dirty="0">
                <a:solidFill>
                  <a:srgbClr val="FF0000"/>
                </a:solidFill>
                <a:latin typeface="Times New Roman"/>
                <a:cs typeface="Times New Roman"/>
              </a:rPr>
              <a:t>of</a:t>
            </a:r>
            <a:r>
              <a:rPr sz="3400" spc="-20" dirty="0">
                <a:solidFill>
                  <a:srgbClr val="FF0000"/>
                </a:solidFill>
                <a:latin typeface="Times New Roman"/>
                <a:cs typeface="Times New Roman"/>
              </a:rPr>
              <a:t> </a:t>
            </a:r>
            <a:r>
              <a:rPr sz="3400" spc="-10" dirty="0">
                <a:solidFill>
                  <a:srgbClr val="FF0000"/>
                </a:solidFill>
                <a:latin typeface="Times New Roman"/>
                <a:cs typeface="Times New Roman"/>
              </a:rPr>
              <a:t>Technology</a:t>
            </a:r>
            <a:endParaRPr sz="3400" dirty="0">
              <a:latin typeface="Times New Roman"/>
              <a:cs typeface="Times New Roman"/>
            </a:endParaRPr>
          </a:p>
          <a:p>
            <a:pPr marL="6350" algn="ctr">
              <a:lnSpc>
                <a:spcPts val="1850"/>
              </a:lnSpc>
            </a:pPr>
            <a:r>
              <a:rPr sz="1750" b="1" spc="-10" dirty="0">
                <a:latin typeface="Times New Roman"/>
                <a:cs typeface="Times New Roman"/>
              </a:rPr>
              <a:t>Autonomous</a:t>
            </a:r>
            <a:endParaRPr sz="1750" dirty="0">
              <a:latin typeface="Times New Roman"/>
              <a:cs typeface="Times New Roman"/>
            </a:endParaRPr>
          </a:p>
          <a:p>
            <a:pPr marL="7620" algn="ctr">
              <a:lnSpc>
                <a:spcPts val="1370"/>
              </a:lnSpc>
            </a:pPr>
            <a:r>
              <a:rPr sz="1200" b="1" dirty="0">
                <a:latin typeface="Times New Roman"/>
                <a:cs typeface="Times New Roman"/>
              </a:rPr>
              <a:t>Rotarypuram</a:t>
            </a:r>
            <a:r>
              <a:rPr sz="1200" b="1" spc="-10" dirty="0">
                <a:latin typeface="Times New Roman"/>
                <a:cs typeface="Times New Roman"/>
              </a:rPr>
              <a:t> </a:t>
            </a:r>
            <a:r>
              <a:rPr sz="1200" b="1" dirty="0">
                <a:latin typeface="Times New Roman"/>
                <a:cs typeface="Times New Roman"/>
              </a:rPr>
              <a:t>Village,</a:t>
            </a:r>
            <a:r>
              <a:rPr sz="1200" b="1" spc="-5" dirty="0">
                <a:latin typeface="Times New Roman"/>
                <a:cs typeface="Times New Roman"/>
              </a:rPr>
              <a:t> </a:t>
            </a:r>
            <a:r>
              <a:rPr sz="1200" b="1" dirty="0">
                <a:latin typeface="Times New Roman"/>
                <a:cs typeface="Times New Roman"/>
              </a:rPr>
              <a:t>B</a:t>
            </a:r>
            <a:r>
              <a:rPr sz="1200" b="1" spc="-10" dirty="0">
                <a:latin typeface="Times New Roman"/>
                <a:cs typeface="Times New Roman"/>
              </a:rPr>
              <a:t> </a:t>
            </a:r>
            <a:r>
              <a:rPr sz="1200" b="1" dirty="0">
                <a:latin typeface="Times New Roman"/>
                <a:cs typeface="Times New Roman"/>
              </a:rPr>
              <a:t>K</a:t>
            </a:r>
            <a:r>
              <a:rPr sz="1200" b="1" spc="-5" dirty="0">
                <a:latin typeface="Times New Roman"/>
                <a:cs typeface="Times New Roman"/>
              </a:rPr>
              <a:t> </a:t>
            </a:r>
            <a:r>
              <a:rPr sz="1200" b="1" dirty="0">
                <a:latin typeface="Times New Roman"/>
                <a:cs typeface="Times New Roman"/>
              </a:rPr>
              <a:t>Samudram</a:t>
            </a:r>
            <a:r>
              <a:rPr sz="1200" b="1" spc="-10" dirty="0">
                <a:latin typeface="Times New Roman"/>
                <a:cs typeface="Times New Roman"/>
              </a:rPr>
              <a:t> </a:t>
            </a:r>
            <a:r>
              <a:rPr sz="1200" b="1" dirty="0">
                <a:latin typeface="Times New Roman"/>
                <a:cs typeface="Times New Roman"/>
              </a:rPr>
              <a:t>Mandal,</a:t>
            </a:r>
            <a:r>
              <a:rPr sz="1200" b="1" spc="-5" dirty="0">
                <a:latin typeface="Times New Roman"/>
                <a:cs typeface="Times New Roman"/>
              </a:rPr>
              <a:t> </a:t>
            </a:r>
            <a:r>
              <a:rPr sz="1200" b="1" dirty="0">
                <a:latin typeface="Times New Roman"/>
                <a:cs typeface="Times New Roman"/>
              </a:rPr>
              <a:t>Ananthapuramu</a:t>
            </a:r>
            <a:r>
              <a:rPr sz="1200" b="1" spc="-10" dirty="0">
                <a:latin typeface="Times New Roman"/>
                <a:cs typeface="Times New Roman"/>
              </a:rPr>
              <a:t> </a:t>
            </a:r>
            <a:r>
              <a:rPr sz="1200" b="1" dirty="0">
                <a:latin typeface="Times New Roman"/>
                <a:cs typeface="Times New Roman"/>
              </a:rPr>
              <a:t>–</a:t>
            </a:r>
            <a:r>
              <a:rPr sz="1200" b="1" spc="-5" dirty="0">
                <a:latin typeface="Times New Roman"/>
                <a:cs typeface="Times New Roman"/>
              </a:rPr>
              <a:t> </a:t>
            </a:r>
            <a:r>
              <a:rPr sz="1200" b="1" spc="-10" dirty="0">
                <a:latin typeface="Times New Roman"/>
                <a:cs typeface="Times New Roman"/>
              </a:rPr>
              <a:t>515701.</a:t>
            </a:r>
            <a:endParaRPr sz="1200" dirty="0">
              <a:latin typeface="Times New Roman"/>
              <a:cs typeface="Times New Roman"/>
            </a:endParaRPr>
          </a:p>
          <a:p>
            <a:pPr marL="6985" algn="ctr">
              <a:lnSpc>
                <a:spcPct val="100000"/>
              </a:lnSpc>
              <a:spcBef>
                <a:spcPts val="545"/>
              </a:spcBef>
            </a:pPr>
            <a:r>
              <a:rPr sz="1300" b="1" dirty="0">
                <a:solidFill>
                  <a:srgbClr val="1E4E78"/>
                </a:solidFill>
                <a:latin typeface="Times New Roman"/>
                <a:cs typeface="Times New Roman"/>
              </a:rPr>
              <a:t>202</a:t>
            </a:r>
            <a:r>
              <a:rPr lang="en-IN" sz="1300" b="1" dirty="0">
                <a:solidFill>
                  <a:srgbClr val="1E4E78"/>
                </a:solidFill>
                <a:latin typeface="Times New Roman"/>
                <a:cs typeface="Times New Roman"/>
              </a:rPr>
              <a:t>5-</a:t>
            </a:r>
            <a:r>
              <a:rPr sz="1300" b="1" spc="-20" dirty="0">
                <a:solidFill>
                  <a:srgbClr val="1E4E78"/>
                </a:solidFill>
                <a:latin typeface="Times New Roman"/>
                <a:cs typeface="Times New Roman"/>
              </a:rPr>
              <a:t>202</a:t>
            </a:r>
            <a:r>
              <a:rPr lang="en-IN" sz="1300" b="1" spc="-20" dirty="0">
                <a:solidFill>
                  <a:srgbClr val="1E4E78"/>
                </a:solidFill>
                <a:latin typeface="Times New Roman"/>
                <a:cs typeface="Times New Roman"/>
              </a:rPr>
              <a:t>6</a:t>
            </a:r>
            <a:endParaRPr sz="1300" dirty="0">
              <a:latin typeface="Times New Roman"/>
              <a:cs typeface="Times New Roman"/>
            </a:endParaRPr>
          </a:p>
        </p:txBody>
      </p:sp>
      <p:sp>
        <p:nvSpPr>
          <p:cNvPr id="11" name="object 11"/>
          <p:cNvSpPr txBox="1"/>
          <p:nvPr/>
        </p:nvSpPr>
        <p:spPr>
          <a:xfrm>
            <a:off x="1219200" y="1674508"/>
            <a:ext cx="3032760" cy="476412"/>
          </a:xfrm>
          <a:prstGeom prst="rect">
            <a:avLst/>
          </a:prstGeom>
        </p:spPr>
        <p:txBody>
          <a:bodyPr vert="horz" wrap="square" lIns="0" tIns="14605" rIns="0" bIns="0" rtlCol="0">
            <a:spAutoFit/>
          </a:bodyPr>
          <a:lstStyle/>
          <a:p>
            <a:pPr algn="ctr">
              <a:lnSpc>
                <a:spcPts val="2380"/>
              </a:lnSpc>
              <a:spcBef>
                <a:spcPts val="115"/>
              </a:spcBef>
            </a:pPr>
            <a:r>
              <a:rPr lang="en-IN" sz="2000" dirty="0">
                <a:latin typeface="Times New Roman"/>
                <a:cs typeface="Times New Roman"/>
              </a:rPr>
              <a:t>S.K SUHANA ANJUM</a:t>
            </a:r>
            <a:endParaRPr sz="2000" dirty="0">
              <a:latin typeface="Times New Roman"/>
              <a:cs typeface="Times New Roman"/>
            </a:endParaRPr>
          </a:p>
          <a:p>
            <a:pPr marL="1270" algn="ctr">
              <a:lnSpc>
                <a:spcPts val="1060"/>
              </a:lnSpc>
            </a:pPr>
            <a:r>
              <a:rPr sz="1400" dirty="0">
                <a:latin typeface="Times New Roman"/>
                <a:cs typeface="Times New Roman"/>
              </a:rPr>
              <a:t>Roll</a:t>
            </a:r>
            <a:r>
              <a:rPr sz="1400" spc="40" dirty="0">
                <a:latin typeface="Times New Roman"/>
                <a:cs typeface="Times New Roman"/>
              </a:rPr>
              <a:t> </a:t>
            </a:r>
            <a:r>
              <a:rPr sz="1400" dirty="0">
                <a:latin typeface="Times New Roman"/>
                <a:cs typeface="Times New Roman"/>
              </a:rPr>
              <a:t>No.</a:t>
            </a:r>
            <a:r>
              <a:rPr sz="1400" spc="40" dirty="0">
                <a:latin typeface="Times New Roman"/>
                <a:cs typeface="Times New Roman"/>
              </a:rPr>
              <a:t> </a:t>
            </a:r>
            <a:r>
              <a:rPr lang="en-IN" sz="1400" spc="-10" dirty="0">
                <a:latin typeface="Times New Roman"/>
                <a:cs typeface="Times New Roman"/>
              </a:rPr>
              <a:t>224G1A05A7</a:t>
            </a:r>
            <a:endParaRPr sz="1400" dirty="0">
              <a:latin typeface="Times New Roman"/>
              <a:cs typeface="Times New Roman"/>
            </a:endParaRPr>
          </a:p>
        </p:txBody>
      </p:sp>
      <p:sp>
        <p:nvSpPr>
          <p:cNvPr id="12" name="object 12"/>
          <p:cNvSpPr txBox="1"/>
          <p:nvPr/>
        </p:nvSpPr>
        <p:spPr>
          <a:xfrm>
            <a:off x="8346446" y="1683723"/>
            <a:ext cx="2133601" cy="444352"/>
          </a:xfrm>
          <a:prstGeom prst="rect">
            <a:avLst/>
          </a:prstGeom>
        </p:spPr>
        <p:txBody>
          <a:bodyPr vert="horz" wrap="square" lIns="0" tIns="13335" rIns="0" bIns="0" rtlCol="0">
            <a:spAutoFit/>
          </a:bodyPr>
          <a:lstStyle/>
          <a:p>
            <a:pPr marL="42545">
              <a:lnSpc>
                <a:spcPct val="100000"/>
              </a:lnSpc>
              <a:spcBef>
                <a:spcPts val="409"/>
              </a:spcBef>
            </a:pPr>
            <a:r>
              <a:rPr lang="en-IN" sz="1800" spc="-10" dirty="0">
                <a:latin typeface="Times New Roman"/>
                <a:cs typeface="Times New Roman"/>
              </a:rPr>
              <a:t>       C. PALLAVI</a:t>
            </a:r>
            <a:endParaRPr lang="en-IN" sz="1800" dirty="0">
              <a:latin typeface="Times New Roman"/>
              <a:cs typeface="Times New Roman"/>
            </a:endParaRPr>
          </a:p>
          <a:p>
            <a:pPr marL="635" algn="ctr">
              <a:lnSpc>
                <a:spcPts val="1060"/>
              </a:lnSpc>
            </a:pPr>
            <a:r>
              <a:rPr lang="en-IN" sz="1400" dirty="0">
                <a:latin typeface="Times New Roman"/>
                <a:cs typeface="Times New Roman"/>
              </a:rPr>
              <a:t>Roll</a:t>
            </a:r>
            <a:r>
              <a:rPr lang="en-IN" sz="1400" spc="5" dirty="0">
                <a:latin typeface="Times New Roman"/>
                <a:cs typeface="Times New Roman"/>
              </a:rPr>
              <a:t> </a:t>
            </a:r>
            <a:r>
              <a:rPr lang="en-IN" sz="1400" dirty="0">
                <a:latin typeface="Times New Roman"/>
                <a:cs typeface="Times New Roman"/>
              </a:rPr>
              <a:t>No.</a:t>
            </a:r>
            <a:r>
              <a:rPr lang="en-IN" sz="1400" spc="5" dirty="0">
                <a:latin typeface="Times New Roman"/>
                <a:cs typeface="Times New Roman"/>
              </a:rPr>
              <a:t> </a:t>
            </a:r>
            <a:r>
              <a:rPr lang="en-IN" sz="1400" spc="-10" dirty="0">
                <a:latin typeface="Times New Roman"/>
                <a:cs typeface="Times New Roman"/>
              </a:rPr>
              <a:t>224G1A0564</a:t>
            </a:r>
            <a:endParaRPr lang="en-IN" sz="1400" dirty="0">
              <a:latin typeface="Times New Roman"/>
              <a:cs typeface="Times New Roman"/>
            </a:endParaRPr>
          </a:p>
        </p:txBody>
      </p:sp>
      <p:grpSp>
        <p:nvGrpSpPr>
          <p:cNvPr id="14" name="object 14"/>
          <p:cNvGrpSpPr/>
          <p:nvPr/>
        </p:nvGrpSpPr>
        <p:grpSpPr>
          <a:xfrm>
            <a:off x="715009" y="318271"/>
            <a:ext cx="10608310" cy="937894"/>
            <a:chOff x="715009" y="318271"/>
            <a:chExt cx="10608310" cy="937894"/>
          </a:xfrm>
        </p:grpSpPr>
        <p:pic>
          <p:nvPicPr>
            <p:cNvPr id="15" name="object 15"/>
            <p:cNvPicPr/>
            <p:nvPr/>
          </p:nvPicPr>
          <p:blipFill>
            <a:blip r:embed="rId2" cstate="print"/>
            <a:stretch>
              <a:fillRect/>
            </a:stretch>
          </p:blipFill>
          <p:spPr>
            <a:xfrm>
              <a:off x="715009" y="318271"/>
              <a:ext cx="10608182" cy="937864"/>
            </a:xfrm>
            <a:prstGeom prst="rect">
              <a:avLst/>
            </a:prstGeom>
          </p:spPr>
        </p:pic>
        <p:sp>
          <p:nvSpPr>
            <p:cNvPr id="16" name="object 16"/>
            <p:cNvSpPr/>
            <p:nvPr/>
          </p:nvSpPr>
          <p:spPr>
            <a:xfrm>
              <a:off x="755008" y="335270"/>
              <a:ext cx="10528300" cy="857885"/>
            </a:xfrm>
            <a:custGeom>
              <a:avLst/>
              <a:gdLst/>
              <a:ahLst/>
              <a:cxnLst/>
              <a:rect l="l" t="t" r="r" b="b"/>
              <a:pathLst>
                <a:path w="10528300" h="857885">
                  <a:moveTo>
                    <a:pt x="10385202" y="857863"/>
                  </a:moveTo>
                  <a:lnTo>
                    <a:pt x="142980" y="857863"/>
                  </a:lnTo>
                  <a:lnTo>
                    <a:pt x="97787" y="850574"/>
                  </a:lnTo>
                  <a:lnTo>
                    <a:pt x="58537" y="830277"/>
                  </a:lnTo>
                  <a:lnTo>
                    <a:pt x="27586" y="799326"/>
                  </a:lnTo>
                  <a:lnTo>
                    <a:pt x="7289" y="760076"/>
                  </a:lnTo>
                  <a:lnTo>
                    <a:pt x="0" y="714883"/>
                  </a:lnTo>
                  <a:lnTo>
                    <a:pt x="0" y="142980"/>
                  </a:lnTo>
                  <a:lnTo>
                    <a:pt x="7289" y="97787"/>
                  </a:lnTo>
                  <a:lnTo>
                    <a:pt x="27586" y="58537"/>
                  </a:lnTo>
                  <a:lnTo>
                    <a:pt x="58537" y="27586"/>
                  </a:lnTo>
                  <a:lnTo>
                    <a:pt x="97787" y="7289"/>
                  </a:lnTo>
                  <a:lnTo>
                    <a:pt x="142980" y="0"/>
                  </a:lnTo>
                  <a:lnTo>
                    <a:pt x="10385202" y="0"/>
                  </a:lnTo>
                  <a:lnTo>
                    <a:pt x="10439918" y="10883"/>
                  </a:lnTo>
                  <a:lnTo>
                    <a:pt x="10486304" y="41877"/>
                  </a:lnTo>
                  <a:lnTo>
                    <a:pt x="10517299" y="88264"/>
                  </a:lnTo>
                  <a:lnTo>
                    <a:pt x="10528183" y="142980"/>
                  </a:lnTo>
                  <a:lnTo>
                    <a:pt x="10528183" y="714883"/>
                  </a:lnTo>
                  <a:lnTo>
                    <a:pt x="10520894" y="760076"/>
                  </a:lnTo>
                  <a:lnTo>
                    <a:pt x="10500596" y="799326"/>
                  </a:lnTo>
                  <a:lnTo>
                    <a:pt x="10469645" y="830277"/>
                  </a:lnTo>
                  <a:lnTo>
                    <a:pt x="10430395" y="850574"/>
                  </a:lnTo>
                  <a:lnTo>
                    <a:pt x="10385202" y="857863"/>
                  </a:lnTo>
                  <a:close/>
                </a:path>
              </a:pathLst>
            </a:custGeom>
            <a:solidFill>
              <a:srgbClr val="FF6600"/>
            </a:solidFill>
          </p:spPr>
          <p:txBody>
            <a:bodyPr wrap="square" lIns="0" tIns="0" rIns="0" bIns="0" rtlCol="0"/>
            <a:lstStyle/>
            <a:p>
              <a:endParaRPr/>
            </a:p>
          </p:txBody>
        </p:sp>
      </p:grpSp>
      <p:sp>
        <p:nvSpPr>
          <p:cNvPr id="17" name="object 17"/>
          <p:cNvSpPr txBox="1">
            <a:spLocks noGrp="1"/>
          </p:cNvSpPr>
          <p:nvPr>
            <p:ph type="title"/>
          </p:nvPr>
        </p:nvSpPr>
        <p:spPr>
          <a:xfrm>
            <a:off x="2362200" y="491407"/>
            <a:ext cx="7010400" cy="997709"/>
          </a:xfrm>
          <a:prstGeom prst="rect">
            <a:avLst/>
          </a:prstGeom>
        </p:spPr>
        <p:txBody>
          <a:bodyPr vert="horz" wrap="square" lIns="0" tIns="12700" rIns="0" bIns="0" rtlCol="0">
            <a:spAutoFit/>
          </a:bodyPr>
          <a:lstStyle/>
          <a:p>
            <a:pPr marL="12700" algn="ctr">
              <a:spcBef>
                <a:spcPts val="100"/>
              </a:spcBef>
            </a:pPr>
            <a:r>
              <a:rPr lang="en-IN" sz="3200" dirty="0"/>
              <a:t> </a:t>
            </a:r>
            <a:r>
              <a:rPr lang="en-IN" sz="32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MARINE GUARD</a:t>
            </a:r>
            <a:br>
              <a:rPr lang="en-IN" sz="32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br>
            <a:endParaRPr sz="3200" dirty="0"/>
          </a:p>
        </p:txBody>
      </p:sp>
      <p:sp>
        <p:nvSpPr>
          <p:cNvPr id="18" name="object 18"/>
          <p:cNvSpPr txBox="1"/>
          <p:nvPr/>
        </p:nvSpPr>
        <p:spPr>
          <a:xfrm>
            <a:off x="5791200" y="1278968"/>
            <a:ext cx="413390" cy="262911"/>
          </a:xfrm>
          <a:prstGeom prst="rect">
            <a:avLst/>
          </a:prstGeom>
        </p:spPr>
        <p:txBody>
          <a:bodyPr vert="horz" wrap="square" lIns="0" tIns="12700" rIns="0" bIns="0" rtlCol="0">
            <a:spAutoFit/>
          </a:bodyPr>
          <a:lstStyle/>
          <a:p>
            <a:pPr marL="12700">
              <a:lnSpc>
                <a:spcPct val="100000"/>
              </a:lnSpc>
              <a:spcBef>
                <a:spcPts val="100"/>
              </a:spcBef>
            </a:pPr>
            <a:r>
              <a:rPr sz="1600" i="1" spc="-25" dirty="0">
                <a:latin typeface="Times New Roman"/>
                <a:cs typeface="Times New Roman"/>
              </a:rPr>
              <a:t>by</a:t>
            </a:r>
            <a:endParaRPr sz="1600" dirty="0">
              <a:latin typeface="Times New Roman"/>
              <a:cs typeface="Times New Roman"/>
            </a:endParaRPr>
          </a:p>
        </p:txBody>
      </p:sp>
      <p:pic>
        <p:nvPicPr>
          <p:cNvPr id="19" name="object 19"/>
          <p:cNvPicPr/>
          <p:nvPr/>
        </p:nvPicPr>
        <p:blipFill>
          <a:blip r:embed="rId3" cstate="print"/>
          <a:stretch>
            <a:fillRect/>
          </a:stretch>
        </p:blipFill>
        <p:spPr>
          <a:xfrm>
            <a:off x="5329143" y="3408075"/>
            <a:ext cx="1527378" cy="16854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181600" y="-18339"/>
            <a:ext cx="2133600" cy="246938"/>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Marine Guard</a:t>
            </a:r>
            <a:endParaRPr sz="1500" dirty="0">
              <a:latin typeface="Times New Roman"/>
              <a:cs typeface="Times New Roman"/>
            </a:endParaRPr>
          </a:p>
        </p:txBody>
      </p:sp>
      <p:grpSp>
        <p:nvGrpSpPr>
          <p:cNvPr id="3" name="object 3"/>
          <p:cNvGrpSpPr/>
          <p:nvPr/>
        </p:nvGrpSpPr>
        <p:grpSpPr>
          <a:xfrm>
            <a:off x="0" y="212399"/>
            <a:ext cx="12192000" cy="803275"/>
            <a:chOff x="0" y="212399"/>
            <a:chExt cx="12192000" cy="803275"/>
          </a:xfrm>
        </p:grpSpPr>
        <p:pic>
          <p:nvPicPr>
            <p:cNvPr id="4" name="object 4"/>
            <p:cNvPicPr/>
            <p:nvPr/>
          </p:nvPicPr>
          <p:blipFill>
            <a:blip r:embed="rId2" cstate="print"/>
            <a:stretch>
              <a:fillRect/>
            </a:stretch>
          </p:blipFill>
          <p:spPr>
            <a:xfrm>
              <a:off x="0" y="212399"/>
              <a:ext cx="12192000" cy="803160"/>
            </a:xfrm>
            <a:prstGeom prst="rect">
              <a:avLst/>
            </a:prstGeom>
          </p:spPr>
        </p:pic>
        <p:sp>
          <p:nvSpPr>
            <p:cNvPr id="5" name="object 5"/>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spc="-10" dirty="0"/>
              <a:t>Contents</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9" name="object 9"/>
          <p:cNvSpPr txBox="1">
            <a:spLocks noGrp="1"/>
          </p:cNvSpPr>
          <p:nvPr>
            <p:ph type="dt" sz="half" idx="6"/>
          </p:nvPr>
        </p:nvSpPr>
        <p:spPr>
          <a:xfrm>
            <a:off x="990600" y="6642511"/>
            <a:ext cx="4953000"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477000" y="6657976"/>
            <a:ext cx="4572000"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2</a:t>
            </a:fld>
            <a:endParaRPr spc="-25" dirty="0"/>
          </a:p>
        </p:txBody>
      </p:sp>
      <p:sp>
        <p:nvSpPr>
          <p:cNvPr id="7" name="object 7"/>
          <p:cNvSpPr txBox="1"/>
          <p:nvPr/>
        </p:nvSpPr>
        <p:spPr>
          <a:xfrm>
            <a:off x="325787" y="989990"/>
            <a:ext cx="9460230" cy="4625340"/>
          </a:xfrm>
          <a:prstGeom prst="rect">
            <a:avLst/>
          </a:prstGeom>
        </p:spPr>
        <p:txBody>
          <a:bodyPr vert="horz" wrap="square" lIns="0" tIns="96520" rIns="0" bIns="0" rtlCol="0">
            <a:spAutoFit/>
          </a:bodyPr>
          <a:lstStyle/>
          <a:p>
            <a:pPr marL="421005" indent="-408305">
              <a:lnSpc>
                <a:spcPct val="100000"/>
              </a:lnSpc>
              <a:spcBef>
                <a:spcPts val="760"/>
              </a:spcBef>
              <a:buChar char="•"/>
              <a:tabLst>
                <a:tab pos="421005" algn="l"/>
              </a:tabLst>
            </a:pPr>
            <a:r>
              <a:rPr sz="2800" dirty="0">
                <a:latin typeface="Times New Roman"/>
                <a:cs typeface="Times New Roman"/>
              </a:rPr>
              <a:t>Title</a:t>
            </a:r>
            <a:r>
              <a:rPr sz="2800" spc="-25" dirty="0">
                <a:latin typeface="Times New Roman"/>
                <a:cs typeface="Times New Roman"/>
              </a:rPr>
              <a:t> </a:t>
            </a:r>
            <a:r>
              <a:rPr sz="2800" spc="-10" dirty="0">
                <a:latin typeface="Times New Roman"/>
                <a:cs typeface="Times New Roman"/>
              </a:rPr>
              <a:t>Justification</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Abstract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Problem</a:t>
            </a:r>
            <a:r>
              <a:rPr sz="2800" spc="-35" dirty="0">
                <a:latin typeface="Times New Roman"/>
                <a:cs typeface="Times New Roman"/>
              </a:rPr>
              <a:t> </a:t>
            </a:r>
            <a:r>
              <a:rPr sz="2800" spc="-10" dirty="0">
                <a:latin typeface="Times New Roman"/>
                <a:cs typeface="Times New Roman"/>
              </a:rPr>
              <a:t>statement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Objectives</a:t>
            </a:r>
            <a:r>
              <a:rPr sz="2800" spc="-40" dirty="0">
                <a:latin typeface="Times New Roman"/>
                <a:cs typeface="Times New Roman"/>
              </a:rPr>
              <a:t> </a:t>
            </a:r>
            <a:r>
              <a:rPr sz="2800" dirty="0">
                <a:latin typeface="Times New Roman"/>
                <a:cs typeface="Times New Roman"/>
              </a:rPr>
              <a:t>of</a:t>
            </a:r>
            <a:r>
              <a:rPr sz="2800" spc="-35" dirty="0">
                <a:latin typeface="Times New Roman"/>
                <a:cs typeface="Times New Roman"/>
              </a:rPr>
              <a:t> </a:t>
            </a:r>
            <a:r>
              <a:rPr sz="2800" spc="-10" dirty="0">
                <a:latin typeface="Times New Roman"/>
                <a:cs typeface="Times New Roman"/>
              </a:rPr>
              <a:t>Project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Literature</a:t>
            </a:r>
            <a:r>
              <a:rPr sz="2800" spc="-35" dirty="0">
                <a:latin typeface="Times New Roman"/>
                <a:cs typeface="Times New Roman"/>
              </a:rPr>
              <a:t> </a:t>
            </a:r>
            <a:r>
              <a:rPr sz="2800" dirty="0">
                <a:latin typeface="Times New Roman"/>
                <a:cs typeface="Times New Roman"/>
              </a:rPr>
              <a:t>survey</a:t>
            </a:r>
            <a:r>
              <a:rPr sz="2800" spc="-25"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spc="-10" dirty="0">
                <a:latin typeface="Times New Roman"/>
                <a:cs typeface="Times New Roman"/>
              </a:rPr>
              <a:t>objectives</a:t>
            </a:r>
            <a:endParaRPr sz="2800" dirty="0">
              <a:latin typeface="Times New Roman"/>
              <a:cs typeface="Times New Roman"/>
            </a:endParaRPr>
          </a:p>
          <a:p>
            <a:pPr marL="421005" indent="-408305">
              <a:lnSpc>
                <a:spcPct val="100000"/>
              </a:lnSpc>
              <a:spcBef>
                <a:spcPts val="660"/>
              </a:spcBef>
              <a:buChar char="•"/>
              <a:tabLst>
                <a:tab pos="421005" algn="l"/>
              </a:tabLst>
            </a:pPr>
            <a:r>
              <a:rPr sz="2800" dirty="0">
                <a:latin typeface="Times New Roman"/>
                <a:cs typeface="Times New Roman"/>
              </a:rPr>
              <a:t>Proposed</a:t>
            </a:r>
            <a:r>
              <a:rPr sz="2800" spc="-25" dirty="0">
                <a:latin typeface="Times New Roman"/>
                <a:cs typeface="Times New Roman"/>
              </a:rPr>
              <a:t> </a:t>
            </a:r>
            <a:r>
              <a:rPr sz="2800" dirty="0">
                <a:latin typeface="Times New Roman"/>
                <a:cs typeface="Times New Roman"/>
              </a:rPr>
              <a:t>Work</a:t>
            </a:r>
            <a:r>
              <a:rPr sz="2800" spc="-20" dirty="0">
                <a:latin typeface="Times New Roman"/>
                <a:cs typeface="Times New Roman"/>
              </a:rPr>
              <a:t> </a:t>
            </a:r>
            <a:r>
              <a:rPr sz="2800" spc="-10" dirty="0">
                <a:latin typeface="Times New Roman"/>
                <a:cs typeface="Times New Roman"/>
              </a:rPr>
              <a:t>-</a:t>
            </a:r>
            <a:r>
              <a:rPr sz="2800" dirty="0">
                <a:latin typeface="Times New Roman"/>
                <a:cs typeface="Times New Roman"/>
              </a:rPr>
              <a:t>(Methods</a:t>
            </a:r>
            <a:r>
              <a:rPr sz="2800" spc="-25" dirty="0">
                <a:latin typeface="Times New Roman"/>
                <a:cs typeface="Times New Roman"/>
              </a:rPr>
              <a:t> </a:t>
            </a:r>
            <a:r>
              <a:rPr sz="2800" dirty="0">
                <a:latin typeface="Times New Roman"/>
                <a:cs typeface="Times New Roman"/>
              </a:rPr>
              <a:t>to</a:t>
            </a:r>
            <a:r>
              <a:rPr sz="2800" spc="-25" dirty="0">
                <a:latin typeface="Times New Roman"/>
                <a:cs typeface="Times New Roman"/>
              </a:rPr>
              <a:t> </a:t>
            </a:r>
            <a:r>
              <a:rPr sz="2800" dirty="0">
                <a:latin typeface="Times New Roman"/>
                <a:cs typeface="Times New Roman"/>
              </a:rPr>
              <a:t>be</a:t>
            </a:r>
            <a:r>
              <a:rPr sz="2800" spc="-25" dirty="0">
                <a:latin typeface="Times New Roman"/>
                <a:cs typeface="Times New Roman"/>
              </a:rPr>
              <a:t> </a:t>
            </a:r>
            <a:r>
              <a:rPr sz="2800" dirty="0">
                <a:latin typeface="Times New Roman"/>
                <a:cs typeface="Times New Roman"/>
              </a:rPr>
              <a:t>followed</a:t>
            </a:r>
            <a:r>
              <a:rPr sz="2800" spc="-20"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dirty="0">
                <a:latin typeface="Times New Roman"/>
                <a:cs typeface="Times New Roman"/>
              </a:rPr>
              <a:t>proposed</a:t>
            </a:r>
            <a:r>
              <a:rPr sz="2800" spc="-20" dirty="0">
                <a:latin typeface="Times New Roman"/>
                <a:cs typeface="Times New Roman"/>
              </a:rPr>
              <a:t> </a:t>
            </a:r>
            <a:r>
              <a:rPr sz="2800" spc="-10" dirty="0">
                <a:latin typeface="Times New Roman"/>
                <a:cs typeface="Times New Roman"/>
              </a:rPr>
              <a:t>system)</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References</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GitHub </a:t>
            </a:r>
            <a:r>
              <a:rPr sz="2800" spc="-20" dirty="0">
                <a:latin typeface="Times New Roman"/>
                <a:cs typeface="Times New Roman"/>
              </a:rPr>
              <a:t>Link</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Queries</a:t>
            </a:r>
            <a:endParaRPr sz="2800" dirty="0">
              <a:latin typeface="Times New Roman"/>
              <a:cs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3" name="object 3"/>
          <p:cNvSpPr txBox="1"/>
          <p:nvPr/>
        </p:nvSpPr>
        <p:spPr>
          <a:xfrm>
            <a:off x="5350480" y="-18339"/>
            <a:ext cx="148844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Marine Guard</a:t>
            </a:r>
            <a:endParaRPr sz="1500" dirty="0">
              <a:latin typeface="Times New Roman"/>
              <a:cs typeface="Times New Roman"/>
            </a:endParaRPr>
          </a:p>
        </p:txBody>
      </p:sp>
      <p:grpSp>
        <p:nvGrpSpPr>
          <p:cNvPr id="4" name="object 4"/>
          <p:cNvGrpSpPr/>
          <p:nvPr/>
        </p:nvGrpSpPr>
        <p:grpSpPr>
          <a:xfrm>
            <a:off x="0" y="212399"/>
            <a:ext cx="12192000" cy="803275"/>
            <a:chOff x="0" y="212399"/>
            <a:chExt cx="12192000" cy="803275"/>
          </a:xfrm>
        </p:grpSpPr>
        <p:pic>
          <p:nvPicPr>
            <p:cNvPr id="5" name="object 5"/>
            <p:cNvPicPr/>
            <p:nvPr/>
          </p:nvPicPr>
          <p:blipFill>
            <a:blip r:embed="rId2" cstate="print"/>
            <a:stretch>
              <a:fillRect/>
            </a:stretch>
          </p:blipFill>
          <p:spPr>
            <a:xfrm>
              <a:off x="0" y="212399"/>
              <a:ext cx="12192000" cy="803160"/>
            </a:xfrm>
            <a:prstGeom prst="rect">
              <a:avLst/>
            </a:prstGeom>
          </p:spPr>
        </p:pic>
        <p:sp>
          <p:nvSpPr>
            <p:cNvPr id="6" name="object 6"/>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7" name="object 7"/>
          <p:cNvSpPr txBox="1">
            <a:spLocks noGrp="1"/>
          </p:cNvSpPr>
          <p:nvPr>
            <p:ph type="title"/>
          </p:nvPr>
        </p:nvSpPr>
        <p:spPr>
          <a:xfrm>
            <a:off x="73025" y="182324"/>
            <a:ext cx="4041775" cy="1367041"/>
          </a:xfrm>
          <a:prstGeom prst="rect">
            <a:avLst/>
          </a:prstGeom>
        </p:spPr>
        <p:txBody>
          <a:bodyPr vert="horz" wrap="square" lIns="0" tIns="12700" rIns="0" bIns="0" rtlCol="0">
            <a:spAutoFit/>
          </a:bodyPr>
          <a:lstStyle/>
          <a:p>
            <a:pPr marL="12700">
              <a:lnSpc>
                <a:spcPct val="100000"/>
              </a:lnSpc>
              <a:spcBef>
                <a:spcPts val="100"/>
              </a:spcBef>
            </a:pPr>
            <a:r>
              <a:rPr dirty="0"/>
              <a:t>Title</a:t>
            </a:r>
            <a:r>
              <a:rPr spc="-110" dirty="0"/>
              <a:t> </a:t>
            </a:r>
            <a:r>
              <a:rPr spc="-10" dirty="0" err="1"/>
              <a:t>Justificati</a:t>
            </a:r>
            <a:r>
              <a:rPr lang="en-IN" spc="-10" dirty="0"/>
              <a:t>on</a:t>
            </a:r>
            <a:br>
              <a:rPr lang="en-IN" spc="-10" dirty="0">
                <a:solidFill>
                  <a:srgbClr val="000000"/>
                </a:solidFill>
              </a:rPr>
            </a:br>
            <a:endParaRPr spc="-10" dirty="0">
              <a:solidFill>
                <a:srgbClr val="000000"/>
              </a:solidFill>
            </a:endParaRP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9" name="object 9"/>
          <p:cNvSpPr txBox="1">
            <a:spLocks noGrp="1"/>
          </p:cNvSpPr>
          <p:nvPr>
            <p:ph type="dt" sz="half" idx="6"/>
          </p:nvPr>
        </p:nvSpPr>
        <p:spPr>
          <a:xfrm>
            <a:off x="914400" y="6615642"/>
            <a:ext cx="4572000"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466821" y="6629197"/>
            <a:ext cx="4572000"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3</a:t>
            </a:fld>
            <a:endParaRPr spc="-25" dirty="0"/>
          </a:p>
        </p:txBody>
      </p:sp>
      <p:sp>
        <p:nvSpPr>
          <p:cNvPr id="13" name="TextBox 12">
            <a:extLst>
              <a:ext uri="{FF2B5EF4-FFF2-40B4-BE49-F238E27FC236}">
                <a16:creationId xmlns:a16="http://schemas.microsoft.com/office/drawing/2014/main" id="{0427E45D-EC80-F6A3-B5D8-89B4F9492C60}"/>
              </a:ext>
            </a:extLst>
          </p:cNvPr>
          <p:cNvSpPr txBox="1"/>
          <p:nvPr/>
        </p:nvSpPr>
        <p:spPr>
          <a:xfrm>
            <a:off x="228600" y="1227958"/>
            <a:ext cx="14782800" cy="2712859"/>
          </a:xfrm>
          <a:prstGeom prst="rect">
            <a:avLst/>
          </a:prstGeom>
          <a:noFill/>
        </p:spPr>
        <p:txBody>
          <a:bodyPr wrap="square">
            <a:spAutoFit/>
          </a:bodyPr>
          <a:lstStyle/>
          <a:p>
            <a:pPr marL="12700" marR="3100705" algn="just">
              <a:lnSpc>
                <a:spcPct val="119800"/>
              </a:lnSpc>
              <a:spcBef>
                <a:spcPts val="95"/>
              </a:spcBef>
            </a:pPr>
            <a:r>
              <a:rPr lang="en-US" sz="2400" dirty="0">
                <a:latin typeface="Times New Roman" panose="02020603050405020304" pitchFamily="18" charset="0"/>
                <a:cs typeface="Times New Roman" panose="02020603050405020304" pitchFamily="18" charset="0"/>
              </a:rPr>
              <a:t>The title </a:t>
            </a:r>
            <a:r>
              <a:rPr lang="en-US" sz="2400" b="1" dirty="0">
                <a:latin typeface="Times New Roman" panose="02020603050405020304" pitchFamily="18" charset="0"/>
                <a:cs typeface="Times New Roman" panose="02020603050405020304" pitchFamily="18" charset="0"/>
              </a:rPr>
              <a:t>“</a:t>
            </a:r>
            <a:r>
              <a:rPr lang="en-US" sz="2400" b="1" dirty="0" err="1">
                <a:latin typeface="Times New Roman" panose="02020603050405020304" pitchFamily="18" charset="0"/>
                <a:cs typeface="Times New Roman" panose="02020603050405020304" pitchFamily="18" charset="0"/>
              </a:rPr>
              <a:t>MarineGuard</a:t>
            </a:r>
            <a:r>
              <a:rPr lang="en-US" sz="2400" b="1" dirty="0">
                <a:latin typeface="Times New Roman" panose="02020603050405020304" pitchFamily="18" charset="0"/>
                <a:cs typeface="Times New Roman" panose="02020603050405020304" pitchFamily="18" charset="0"/>
              </a:rPr>
              <a:t> – River Pollution Awareness &amp; Reporting System”</a:t>
            </a:r>
            <a:r>
              <a:rPr lang="en-US" sz="2400" dirty="0">
                <a:latin typeface="Times New Roman" panose="02020603050405020304" pitchFamily="18" charset="0"/>
                <a:cs typeface="Times New Roman" panose="02020603050405020304" pitchFamily="18" charset="0"/>
              </a:rPr>
              <a:t> is appropriate because it clearly represents the project’s purpose of protecting river ecosystems by raising awareness and enabling public reporting. “</a:t>
            </a:r>
            <a:r>
              <a:rPr lang="en-US" sz="2400" dirty="0" err="1">
                <a:latin typeface="Times New Roman" panose="02020603050405020304" pitchFamily="18" charset="0"/>
                <a:cs typeface="Times New Roman" panose="02020603050405020304" pitchFamily="18" charset="0"/>
              </a:rPr>
              <a:t>MarineGuard</a:t>
            </a:r>
            <a:r>
              <a:rPr lang="en-US" sz="2400" dirty="0">
                <a:latin typeface="Times New Roman" panose="02020603050405020304" pitchFamily="18" charset="0"/>
                <a:cs typeface="Times New Roman" panose="02020603050405020304" pitchFamily="18" charset="0"/>
              </a:rPr>
              <a:t>” suggests safeguarding water bodies, “River Pollution Awareness”. “Reporting System” shows that users can submit real-time reports with images and locations. Overall, the title reflects the system’s goal of combining awareness, monitoring, and citizen participation in line with Life Below Water.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029200" y="-18340"/>
            <a:ext cx="1809720" cy="251259"/>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Marine Guard</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pPr algn="l"/>
              <a:endParaRPr dirty="0"/>
            </a:p>
          </p:txBody>
        </p:sp>
      </p:grpSp>
      <p:sp>
        <p:nvSpPr>
          <p:cNvPr id="6" name="object 6"/>
          <p:cNvSpPr txBox="1">
            <a:spLocks noGrp="1"/>
          </p:cNvSpPr>
          <p:nvPr>
            <p:ph type="title"/>
          </p:nvPr>
        </p:nvSpPr>
        <p:spPr>
          <a:xfrm>
            <a:off x="169986" y="364365"/>
            <a:ext cx="1506414" cy="505267"/>
          </a:xfrm>
          <a:prstGeom prst="rect">
            <a:avLst/>
          </a:prstGeom>
        </p:spPr>
        <p:txBody>
          <a:bodyPr vert="horz" wrap="square" lIns="0" tIns="12700" rIns="0" bIns="0" rtlCol="0">
            <a:spAutoFit/>
          </a:bodyPr>
          <a:lstStyle/>
          <a:p>
            <a:pPr marL="12700">
              <a:lnSpc>
                <a:spcPct val="100000"/>
              </a:lnSpc>
              <a:spcBef>
                <a:spcPts val="100"/>
              </a:spcBef>
            </a:pPr>
            <a:r>
              <a:rPr sz="3200" spc="-10" dirty="0"/>
              <a:t>Abstract</a:t>
            </a:r>
            <a:endParaRPr sz="3200" dirty="0"/>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9" name="object 9"/>
          <p:cNvSpPr txBox="1">
            <a:spLocks noGrp="1"/>
          </p:cNvSpPr>
          <p:nvPr>
            <p:ph type="dt" sz="half" idx="6"/>
          </p:nvPr>
        </p:nvSpPr>
        <p:spPr>
          <a:xfrm>
            <a:off x="914400" y="6629559"/>
            <a:ext cx="452095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400801" y="6629197"/>
            <a:ext cx="4638020"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4</a:t>
            </a:fld>
            <a:endParaRPr spc="-25" dirty="0"/>
          </a:p>
        </p:txBody>
      </p:sp>
      <p:sp>
        <p:nvSpPr>
          <p:cNvPr id="7" name="object 7"/>
          <p:cNvSpPr txBox="1"/>
          <p:nvPr/>
        </p:nvSpPr>
        <p:spPr>
          <a:xfrm>
            <a:off x="149031" y="1036079"/>
            <a:ext cx="14709969" cy="4874348"/>
          </a:xfrm>
          <a:prstGeom prst="rect">
            <a:avLst/>
          </a:prstGeom>
        </p:spPr>
        <p:txBody>
          <a:bodyPr vert="horz" wrap="square" lIns="0" tIns="12065" rIns="0" bIns="0" rtlCol="0">
            <a:spAutoFit/>
          </a:bodyPr>
          <a:lstStyle/>
          <a:p>
            <a:pPr marL="355600" marR="3100705" indent="-342900" algn="just">
              <a:lnSpc>
                <a:spcPct val="119800"/>
              </a:lnSpc>
              <a:spcBef>
                <a:spcPts val="95"/>
              </a:spcBef>
              <a:buFont typeface="Wingdings" panose="05000000000000000000" pitchFamily="2" charset="2"/>
              <a:buChar char="Ø"/>
              <a:tabLst>
                <a:tab pos="11930063" algn="l"/>
              </a:tabLst>
            </a:pPr>
            <a:r>
              <a:rPr lang="en-IN" sz="2400" dirty="0">
                <a:latin typeface="Times New Roman" panose="02020603050405020304" pitchFamily="18" charset="0"/>
                <a:cs typeface="Times New Roman" panose="02020603050405020304" pitchFamily="18" charset="0"/>
              </a:rPr>
              <a:t>Water pollution is a critical concern affecting ecosystems and water quality. This project presents an integrated approach to assess river quality using automated detection of pollutants and objects present in water. The system assess pollution types, including acid pollution, dead animals, eutrophication, fish oil, and plastic pollution, along with objects like bottles, cardboard, glass, metal, leaves, paper, trash, and water containers. </a:t>
            </a:r>
          </a:p>
          <a:p>
            <a:pPr marL="355600" marR="3100705" indent="-342900" algn="just">
              <a:lnSpc>
                <a:spcPct val="119800"/>
              </a:lnSpc>
              <a:spcBef>
                <a:spcPts val="95"/>
              </a:spcBef>
              <a:buFont typeface="Wingdings" panose="05000000000000000000" pitchFamily="2" charset="2"/>
              <a:buChar char="Ø"/>
            </a:pPr>
            <a:r>
              <a:rPr lang="en-IN" sz="2400" dirty="0">
                <a:latin typeface="Times New Roman" panose="02020603050405020304" pitchFamily="18" charset="0"/>
                <a:cs typeface="Times New Roman" panose="02020603050405020304" pitchFamily="18" charset="0"/>
              </a:rPr>
              <a:t>Users can register, log in, and access a detection module that </a:t>
            </a:r>
            <a:r>
              <a:rPr lang="en-IN" sz="2400" dirty="0" err="1">
                <a:latin typeface="Times New Roman" panose="02020603050405020304" pitchFamily="18" charset="0"/>
                <a:cs typeface="Times New Roman" panose="02020603050405020304" pitchFamily="18" charset="0"/>
              </a:rPr>
              <a:t>analyzes</a:t>
            </a:r>
            <a:r>
              <a:rPr lang="en-IN" sz="2400" dirty="0">
                <a:latin typeface="Times New Roman" panose="02020603050405020304" pitchFamily="18" charset="0"/>
                <a:cs typeface="Times New Roman" panose="02020603050405020304" pitchFamily="18" charset="0"/>
              </a:rPr>
              <a:t> uploaded images for pollutants. Detected pollution instances can trigger automated notifications to the administrator, enabling effective monitoring. This approach allows systematic evaluation of water quality, highlighting areas affected by different types of contamination. The methodology can be extended to other water sources and environmental studies.</a:t>
            </a:r>
          </a:p>
          <a:p>
            <a:pPr marL="355600" marR="3100705" indent="-342900" algn="just">
              <a:lnSpc>
                <a:spcPct val="119800"/>
              </a:lnSpc>
              <a:spcBef>
                <a:spcPts val="95"/>
              </a:spcBef>
              <a:buFont typeface="Wingdings" panose="05000000000000000000" pitchFamily="2" charset="2"/>
              <a:buChar char="Ø"/>
            </a:pPr>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350480" y="-18339"/>
            <a:ext cx="148844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Marine Guard</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Problem</a:t>
            </a:r>
            <a:r>
              <a:rPr spc="-185" dirty="0"/>
              <a:t> </a:t>
            </a:r>
            <a:r>
              <a:rPr spc="-10" dirty="0"/>
              <a:t>Statement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9" name="object 9"/>
          <p:cNvSpPr txBox="1">
            <a:spLocks noGrp="1"/>
          </p:cNvSpPr>
          <p:nvPr>
            <p:ph type="dt" sz="half" idx="6"/>
          </p:nvPr>
        </p:nvSpPr>
        <p:spPr>
          <a:xfrm>
            <a:off x="914400" y="6629559"/>
            <a:ext cx="452095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400801" y="6629197"/>
            <a:ext cx="4638020"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5</a:t>
            </a:fld>
            <a:endParaRPr spc="-25" dirty="0"/>
          </a:p>
        </p:txBody>
      </p:sp>
      <p:sp>
        <p:nvSpPr>
          <p:cNvPr id="14" name="Rectangle 3">
            <a:extLst>
              <a:ext uri="{FF2B5EF4-FFF2-40B4-BE49-F238E27FC236}">
                <a16:creationId xmlns:a16="http://schemas.microsoft.com/office/drawing/2014/main" id="{BF09A509-6326-C205-FDB8-9E2631C4231F}"/>
              </a:ext>
            </a:extLst>
          </p:cNvPr>
          <p:cNvSpPr>
            <a:spLocks noGrp="1" noChangeArrowheads="1"/>
          </p:cNvSpPr>
          <p:nvPr>
            <p:ph type="body" idx="1"/>
          </p:nvPr>
        </p:nvSpPr>
        <p:spPr bwMode="auto">
          <a:xfrm>
            <a:off x="1" y="970798"/>
            <a:ext cx="12021844"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Rivers are polluted by multiple sources such as chemical waste, plastic debris, dead organisms, and oil residues.</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mixing of different pollutants in water makes effective monitoring and classification difficult.</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Traditional manual inspection and water analysis are time-consuming and prone to incomplete assessment.</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Existing methods may fail to detect all pollution types simultaneously, causing contamination to go unnoticed.</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Undetected pollution leads to deterioration of water quality and severe environmental impacts.</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There is a need for a systematic and automated approach to detect multiple pollutants and objects from water images.</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 technology-driven solution is required to efficiently analyze water conditions and classify pollution types.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350480" y="-18339"/>
            <a:ext cx="148844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Marine Guard</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tabLst>
                <a:tab pos="3145790" algn="l"/>
              </a:tabLst>
            </a:pPr>
            <a:r>
              <a:rPr dirty="0"/>
              <a:t>Objectives</a:t>
            </a:r>
            <a:r>
              <a:rPr spc="-60" dirty="0"/>
              <a:t> </a:t>
            </a:r>
            <a:r>
              <a:rPr spc="-25" dirty="0"/>
              <a:t>of</a:t>
            </a:r>
            <a:r>
              <a:rPr dirty="0"/>
              <a:t>	</a:t>
            </a:r>
            <a:r>
              <a:rPr spc="-10" dirty="0"/>
              <a:t>Project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9" name="object 9"/>
          <p:cNvSpPr txBox="1">
            <a:spLocks noGrp="1"/>
          </p:cNvSpPr>
          <p:nvPr>
            <p:ph type="dt" sz="half" idx="6"/>
          </p:nvPr>
        </p:nvSpPr>
        <p:spPr>
          <a:xfrm>
            <a:off x="990600" y="6629559"/>
            <a:ext cx="444475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400801" y="6629197"/>
            <a:ext cx="4638020"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6</a:t>
            </a:fld>
            <a:endParaRPr spc="-25" dirty="0"/>
          </a:p>
        </p:txBody>
      </p:sp>
      <p:sp>
        <p:nvSpPr>
          <p:cNvPr id="12" name="Rectangle 1">
            <a:extLst>
              <a:ext uri="{FF2B5EF4-FFF2-40B4-BE49-F238E27FC236}">
                <a16:creationId xmlns:a16="http://schemas.microsoft.com/office/drawing/2014/main" id="{DBE420EC-06F3-1168-67C4-186883BCB12D}"/>
              </a:ext>
            </a:extLst>
          </p:cNvPr>
          <p:cNvSpPr>
            <a:spLocks noChangeArrowheads="1"/>
          </p:cNvSpPr>
          <p:nvPr/>
        </p:nvSpPr>
        <p:spPr bwMode="auto">
          <a:xfrm>
            <a:off x="100769" y="811423"/>
            <a:ext cx="11707130" cy="2954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just" defTabSz="914400" rtl="0" eaLnBrk="0" fontAlgn="base" latinLnBrk="0" hangingPunct="0">
              <a:lnSpc>
                <a:spcPct val="100000"/>
              </a:lnSpc>
              <a:spcBef>
                <a:spcPct val="0"/>
              </a:spcBef>
              <a:spcAft>
                <a:spcPct val="0"/>
              </a:spcAft>
              <a:buClrTx/>
              <a:buSzTx/>
              <a:tabLst/>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assess river water quality</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by automatically detecting and classifying various pollution types and objects such as acid contamination, plastic waste, dead animals, eutrophication, oil residues, and debris using the </a:t>
            </a: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YOLOv10 object detection algorithm</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develop a user-friendly web-based system</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that allows users to register, log in, upload river images for analysis, and communicate detected pollution results to the administrator for effective monitoring and management.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350480" y="-18339"/>
            <a:ext cx="148844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Marine Guard</a:t>
            </a:r>
            <a:endParaRPr sz="1500" dirty="0">
              <a:latin typeface="Times New Roman"/>
              <a:cs typeface="Times New Roman"/>
            </a:endParaRPr>
          </a:p>
        </p:txBody>
      </p:sp>
      <p:grpSp>
        <p:nvGrpSpPr>
          <p:cNvPr id="3" name="object 3"/>
          <p:cNvGrpSpPr/>
          <p:nvPr/>
        </p:nvGrpSpPr>
        <p:grpSpPr>
          <a:xfrm>
            <a:off x="0" y="22860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r>
                <a:rPr lang="en-IN" dirty="0"/>
                <a:t>d</a:t>
              </a:r>
              <a:endParaRPr dirty="0"/>
            </a:p>
          </p:txBody>
        </p:sp>
      </p:grpSp>
      <p:sp>
        <p:nvSpPr>
          <p:cNvPr id="6" name="object 6"/>
          <p:cNvSpPr txBox="1"/>
          <p:nvPr/>
        </p:nvSpPr>
        <p:spPr>
          <a:xfrm>
            <a:off x="73025" y="209958"/>
            <a:ext cx="6708775" cy="1023357"/>
          </a:xfrm>
          <a:prstGeom prst="rect">
            <a:avLst/>
          </a:prstGeom>
        </p:spPr>
        <p:txBody>
          <a:bodyPr vert="horz" wrap="square" lIns="0" tIns="12700" rIns="0" bIns="0" rtlCol="0">
            <a:spAutoFit/>
          </a:bodyPr>
          <a:lstStyle/>
          <a:p>
            <a:pPr marL="12700">
              <a:lnSpc>
                <a:spcPct val="100000"/>
              </a:lnSpc>
              <a:spcBef>
                <a:spcPts val="100"/>
              </a:spcBef>
            </a:pPr>
            <a:r>
              <a:rPr lang="en-US" sz="3600" dirty="0">
                <a:solidFill>
                  <a:schemeClr val="bg1"/>
                </a:solidFill>
                <a:latin typeface="Times New Roman" panose="02020603050405020304" pitchFamily="18" charset="0"/>
                <a:cs typeface="Times New Roman" panose="02020603050405020304" pitchFamily="18" charset="0"/>
              </a:rPr>
              <a:t>Literature Survey for Objectives</a:t>
            </a:r>
            <a:endParaRPr sz="3600" dirty="0">
              <a:solidFill>
                <a:schemeClr val="bg1"/>
              </a:solidFill>
              <a:latin typeface="Times New Roman" panose="02020603050405020304" pitchFamily="18" charset="0"/>
              <a:cs typeface="Times New Roman" panose="02020603050405020304" pitchFamily="18" charset="0"/>
            </a:endParaRPr>
          </a:p>
          <a:p>
            <a:pPr>
              <a:lnSpc>
                <a:spcPct val="100000"/>
              </a:lnSpc>
              <a:spcBef>
                <a:spcPts val="225"/>
              </a:spcBef>
            </a:pPr>
            <a:endParaRPr sz="2800" dirty="0">
              <a:latin typeface="Times New Roman"/>
              <a:cs typeface="Times New Roman"/>
            </a:endParaRPr>
          </a:p>
        </p:txBody>
      </p:sp>
      <p:sp>
        <p:nvSpPr>
          <p:cNvPr id="7" name="object 7"/>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8" name="object 8"/>
          <p:cNvSpPr txBox="1">
            <a:spLocks noGrp="1"/>
          </p:cNvSpPr>
          <p:nvPr>
            <p:ph type="dt" sz="half" idx="6"/>
          </p:nvPr>
        </p:nvSpPr>
        <p:spPr>
          <a:xfrm>
            <a:off x="990600" y="6629559"/>
            <a:ext cx="444475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9" name="object 9"/>
          <p:cNvSpPr txBox="1"/>
          <p:nvPr/>
        </p:nvSpPr>
        <p:spPr>
          <a:xfrm>
            <a:off x="6476999" y="6629197"/>
            <a:ext cx="4561821"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0" name="object 10"/>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7</a:t>
            </a:fld>
            <a:endParaRPr spc="-25" dirty="0"/>
          </a:p>
        </p:txBody>
      </p:sp>
      <p:graphicFrame>
        <p:nvGraphicFramePr>
          <p:cNvPr id="11" name="Table 10">
            <a:extLst>
              <a:ext uri="{FF2B5EF4-FFF2-40B4-BE49-F238E27FC236}">
                <a16:creationId xmlns:a16="http://schemas.microsoft.com/office/drawing/2014/main" id="{5B2D7E4A-8AB6-9131-4F25-61754FEF0DD5}"/>
              </a:ext>
            </a:extLst>
          </p:cNvPr>
          <p:cNvGraphicFramePr>
            <a:graphicFrameLocks noGrp="1"/>
          </p:cNvGraphicFramePr>
          <p:nvPr>
            <p:extLst>
              <p:ext uri="{D42A27DB-BD31-4B8C-83A1-F6EECF244321}">
                <p14:modId xmlns:p14="http://schemas.microsoft.com/office/powerpoint/2010/main" val="3644769359"/>
              </p:ext>
            </p:extLst>
          </p:nvPr>
        </p:nvGraphicFramePr>
        <p:xfrm>
          <a:off x="73024" y="1031760"/>
          <a:ext cx="11890375" cy="4693940"/>
        </p:xfrm>
        <a:graphic>
          <a:graphicData uri="http://schemas.openxmlformats.org/drawingml/2006/table">
            <a:tbl>
              <a:tblPr>
                <a:noFill/>
              </a:tblPr>
              <a:tblGrid>
                <a:gridCol w="546300">
                  <a:extLst>
                    <a:ext uri="{9D8B030D-6E8A-4147-A177-3AD203B41FA5}">
                      <a16:colId xmlns:a16="http://schemas.microsoft.com/office/drawing/2014/main" val="4252331308"/>
                    </a:ext>
                  </a:extLst>
                </a:gridCol>
                <a:gridCol w="3113468">
                  <a:extLst>
                    <a:ext uri="{9D8B030D-6E8A-4147-A177-3AD203B41FA5}">
                      <a16:colId xmlns:a16="http://schemas.microsoft.com/office/drawing/2014/main" val="199706998"/>
                    </a:ext>
                  </a:extLst>
                </a:gridCol>
                <a:gridCol w="1557689">
                  <a:extLst>
                    <a:ext uri="{9D8B030D-6E8A-4147-A177-3AD203B41FA5}">
                      <a16:colId xmlns:a16="http://schemas.microsoft.com/office/drawing/2014/main" val="741082847"/>
                    </a:ext>
                  </a:extLst>
                </a:gridCol>
                <a:gridCol w="1959621">
                  <a:extLst>
                    <a:ext uri="{9D8B030D-6E8A-4147-A177-3AD203B41FA5}">
                      <a16:colId xmlns:a16="http://schemas.microsoft.com/office/drawing/2014/main" val="2804853241"/>
                    </a:ext>
                  </a:extLst>
                </a:gridCol>
                <a:gridCol w="2270526">
                  <a:extLst>
                    <a:ext uri="{9D8B030D-6E8A-4147-A177-3AD203B41FA5}">
                      <a16:colId xmlns:a16="http://schemas.microsoft.com/office/drawing/2014/main" val="2402200909"/>
                    </a:ext>
                  </a:extLst>
                </a:gridCol>
                <a:gridCol w="2442771">
                  <a:extLst>
                    <a:ext uri="{9D8B030D-6E8A-4147-A177-3AD203B41FA5}">
                      <a16:colId xmlns:a16="http://schemas.microsoft.com/office/drawing/2014/main" val="2002382633"/>
                    </a:ext>
                  </a:extLst>
                </a:gridCol>
              </a:tblGrid>
              <a:tr h="608157">
                <a:tc>
                  <a:txBody>
                    <a:bodyPr/>
                    <a:lstStyle/>
                    <a:p>
                      <a:pPr marL="0" lvl="0" indent="0" algn="l" rtl="0">
                        <a:spcBef>
                          <a:spcPts val="0"/>
                        </a:spcBef>
                        <a:spcAft>
                          <a:spcPts val="0"/>
                        </a:spcAft>
                        <a:buNone/>
                      </a:pPr>
                      <a:r>
                        <a:rPr lang="en-US" sz="1400" dirty="0">
                          <a:solidFill>
                            <a:srgbClr val="FFFFFF"/>
                          </a:solidFill>
                          <a:latin typeface="Times New Roman" panose="02020603050405020304" pitchFamily="18" charset="0"/>
                          <a:ea typeface="Verdana"/>
                          <a:cs typeface="Times New Roman" panose="02020603050405020304" pitchFamily="18" charset="0"/>
                          <a:sym typeface="Verdana"/>
                        </a:rPr>
                        <a:t>No</a:t>
                      </a:r>
                      <a:endParaRPr sz="1400" dirty="0">
                        <a:solidFill>
                          <a:srgbClr val="FFFFFF"/>
                        </a:solidFill>
                        <a:latin typeface="Times New Roman" panose="02020603050405020304" pitchFamily="18" charset="0"/>
                        <a:ea typeface="Verdana"/>
                        <a:cs typeface="Times New Roman" panose="02020603050405020304" pitchFamily="18" charset="0"/>
                        <a:sym typeface="Verdana"/>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r>
                        <a:rPr lang="en-US" sz="1400" dirty="0">
                          <a:solidFill>
                            <a:srgbClr val="FFFFFF"/>
                          </a:solidFill>
                          <a:latin typeface="Times New Roman" panose="02020603050405020304" pitchFamily="18" charset="0"/>
                          <a:ea typeface="Verdana"/>
                          <a:cs typeface="Times New Roman" panose="02020603050405020304" pitchFamily="18" charset="0"/>
                          <a:sym typeface="Verdana"/>
                        </a:rPr>
                        <a:t>Title</a:t>
                      </a:r>
                      <a:endParaRPr sz="1400" dirty="0">
                        <a:solidFill>
                          <a:srgbClr val="FFFFFF"/>
                        </a:solidFill>
                        <a:latin typeface="Times New Roman" panose="02020603050405020304" pitchFamily="18" charset="0"/>
                        <a:ea typeface="Verdana"/>
                        <a:cs typeface="Times New Roman" panose="02020603050405020304" pitchFamily="18" charset="0"/>
                        <a:sym typeface="Verdana"/>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r>
                        <a:rPr lang="en-US" sz="1400" dirty="0">
                          <a:solidFill>
                            <a:srgbClr val="FFFFFF"/>
                          </a:solidFill>
                          <a:latin typeface="Times New Roman" panose="02020603050405020304" pitchFamily="18" charset="0"/>
                          <a:cs typeface="Times New Roman" panose="02020603050405020304" pitchFamily="18" charset="0"/>
                        </a:rPr>
                        <a:t>Authors</a:t>
                      </a:r>
                      <a:endParaRPr sz="1400" dirty="0">
                        <a:solidFill>
                          <a:srgbClr val="FFFFFF"/>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r>
                        <a:rPr lang="en-US" sz="1400">
                          <a:solidFill>
                            <a:srgbClr val="FFFFFF"/>
                          </a:solidFill>
                          <a:latin typeface="Times New Roman" panose="02020603050405020304" pitchFamily="18" charset="0"/>
                          <a:cs typeface="Times New Roman" panose="02020603050405020304" pitchFamily="18" charset="0"/>
                        </a:rPr>
                        <a:t>Journal Name &amp; Year</a:t>
                      </a:r>
                      <a:endParaRPr sz="1400">
                        <a:solidFill>
                          <a:srgbClr val="FFFFFF"/>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r>
                        <a:rPr lang="en-US" sz="1400">
                          <a:solidFill>
                            <a:srgbClr val="FFFFFF"/>
                          </a:solidFill>
                          <a:latin typeface="Times New Roman" panose="02020603050405020304" pitchFamily="18" charset="0"/>
                          <a:cs typeface="Times New Roman" panose="02020603050405020304" pitchFamily="18" charset="0"/>
                        </a:rPr>
                        <a:t>Methodology Adapted</a:t>
                      </a:r>
                      <a:endParaRPr sz="1400">
                        <a:solidFill>
                          <a:srgbClr val="FFFFFF"/>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r>
                        <a:rPr lang="en-US" sz="1400">
                          <a:solidFill>
                            <a:srgbClr val="FFFFFF"/>
                          </a:solidFill>
                          <a:latin typeface="Times New Roman" panose="02020603050405020304" pitchFamily="18" charset="0"/>
                          <a:cs typeface="Times New Roman" panose="02020603050405020304" pitchFamily="18" charset="0"/>
                        </a:rPr>
                        <a:t>Key Findings</a:t>
                      </a:r>
                      <a:endParaRPr sz="1400">
                        <a:solidFill>
                          <a:srgbClr val="FFFFFF"/>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chemeClr val="accent1"/>
                    </a:solidFill>
                  </a:tcPr>
                </a:tc>
                <a:extLst>
                  <a:ext uri="{0D108BD9-81ED-4DB2-BD59-A6C34878D82A}">
                    <a16:rowId xmlns:a16="http://schemas.microsoft.com/office/drawing/2014/main" val="4049350723"/>
                  </a:ext>
                </a:extLst>
              </a:tr>
              <a:tr h="1797681">
                <a:tc>
                  <a:txBody>
                    <a:bodyPr/>
                    <a:lstStyle/>
                    <a:p>
                      <a:pPr marL="0" lvl="0" indent="0" algn="l" rtl="0">
                        <a:spcBef>
                          <a:spcPts val="0"/>
                        </a:spcBef>
                        <a:spcAft>
                          <a:spcPts val="0"/>
                        </a:spcAft>
                        <a:buNone/>
                      </a:pPr>
                      <a:r>
                        <a:rPr lang="en-US" sz="1400">
                          <a:solidFill>
                            <a:schemeClr val="dk1"/>
                          </a:solidFill>
                          <a:latin typeface="Times New Roman" panose="02020603050405020304" pitchFamily="18" charset="0"/>
                          <a:cs typeface="Times New Roman" panose="02020603050405020304" pitchFamily="18" charset="0"/>
                        </a:rPr>
                        <a:t>1.</a:t>
                      </a:r>
                      <a:endParaRPr sz="140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A2C4C9"/>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latin typeface="Times New Roman" panose="02020603050405020304" pitchFamily="18" charset="0"/>
                          <a:cs typeface="Times New Roman" panose="02020603050405020304" pitchFamily="18" charset="0"/>
                        </a:rPr>
                        <a:t>Microplastics in Freshwater Ecosystems of India: Current Trends and Future Perspectives</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A2C4C9"/>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i-FI" sz="1400" dirty="0">
                          <a:latin typeface="Times New Roman" panose="02020603050405020304" pitchFamily="18" charset="0"/>
                          <a:cs typeface="Times New Roman" panose="02020603050405020304" pitchFamily="18" charset="0"/>
                        </a:rPr>
                        <a:t>K. Neelavannan, I. S. Sen</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A2C4C9"/>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1400" i="1" dirty="0">
                          <a:latin typeface="Times New Roman" panose="02020603050405020304" pitchFamily="18" charset="0"/>
                          <a:cs typeface="Times New Roman" panose="02020603050405020304" pitchFamily="18" charset="0"/>
                        </a:rPr>
                        <a:t>ACS Omega</a:t>
                      </a:r>
                      <a:r>
                        <a:rPr lang="nl-NL" sz="1400" dirty="0">
                          <a:latin typeface="Times New Roman" panose="02020603050405020304" pitchFamily="18" charset="0"/>
                          <a:cs typeface="Times New Roman" panose="02020603050405020304" pitchFamily="18" charset="0"/>
                        </a:rPr>
                        <a:t>, Vol. 8, 2023</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A2C4C9"/>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latin typeface="Times New Roman" panose="02020603050405020304" pitchFamily="18" charset="0"/>
                          <a:cs typeface="Times New Roman" panose="02020603050405020304" pitchFamily="18" charset="0"/>
                        </a:rPr>
                        <a:t>Reviews 18 studies on microplastics in Indian rivers and lakes using sampling, separation, and polymer identification techniques.</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A2C4C9"/>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latin typeface="Times New Roman" panose="02020603050405020304" pitchFamily="18" charset="0"/>
                          <a:cs typeface="Times New Roman" panose="02020603050405020304" pitchFamily="18" charset="0"/>
                        </a:rPr>
                        <a:t>Microplastics are widespread in Indian freshwater systems with significant regional data gaps and inconsistent study methods.</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solidFill>
                        <a:srgbClr val="FFFFFF"/>
                      </a:solidFill>
                      <a:prstDash val="solid"/>
                      <a:round/>
                      <a:headEnd type="none" w="sm" len="sm"/>
                      <a:tailEnd type="none" w="sm" len="sm"/>
                    </a:lnR>
                    <a:lnT w="28575" cap="flat" cmpd="sng">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A2C4C9"/>
                    </a:solidFill>
                  </a:tcPr>
                </a:tc>
                <a:extLst>
                  <a:ext uri="{0D108BD9-81ED-4DB2-BD59-A6C34878D82A}">
                    <a16:rowId xmlns:a16="http://schemas.microsoft.com/office/drawing/2014/main" val="619134017"/>
                  </a:ext>
                </a:extLst>
              </a:tr>
              <a:tr h="2288102">
                <a:tc>
                  <a:txBody>
                    <a:bodyPr/>
                    <a:lstStyle/>
                    <a:p>
                      <a:pPr marL="0" lvl="0" indent="0" algn="l" rtl="0">
                        <a:spcBef>
                          <a:spcPts val="0"/>
                        </a:spcBef>
                        <a:spcAft>
                          <a:spcPts val="0"/>
                        </a:spcAft>
                        <a:buNone/>
                      </a:pPr>
                      <a:r>
                        <a:rPr lang="en-US" sz="1400">
                          <a:solidFill>
                            <a:schemeClr val="dk1"/>
                          </a:solidFill>
                          <a:latin typeface="Times New Roman" panose="02020603050405020304" pitchFamily="18" charset="0"/>
                          <a:cs typeface="Times New Roman" panose="02020603050405020304" pitchFamily="18" charset="0"/>
                        </a:rPr>
                        <a:t>2.</a:t>
                      </a:r>
                      <a:endParaRPr sz="140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solidFill>
                        <a:srgbClr val="FFFFFF"/>
                      </a:solidFill>
                      <a:prstDash val="solid"/>
                      <a:round/>
                      <a:headEnd type="none" w="sm" len="sm"/>
                      <a:tailEnd type="none" w="sm" len="sm"/>
                    </a:lnL>
                    <a:lnR w="28575" cap="flat" cmpd="sng" algn="ctr">
                      <a:solidFill>
                        <a:srgbClr val="FFFFFF"/>
                      </a:solidFill>
                      <a:prstDash val="solid"/>
                      <a:round/>
                      <a:headEnd type="none" w="sm" len="sm"/>
                      <a:tailEnd type="none" w="sm" len="sm"/>
                    </a:lnR>
                    <a:lnT w="28575" cap="flat" cmpd="sng" algn="ctr">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D0E0E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latin typeface="Times New Roman" panose="02020603050405020304" pitchFamily="18" charset="0"/>
                          <a:cs typeface="Times New Roman" panose="02020603050405020304" pitchFamily="18" charset="0"/>
                        </a:rPr>
                        <a:t>Using Citizen Science to Understand River Water Quality: The Catchment Science Approach</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lgn="ctr">
                      <a:solidFill>
                        <a:srgbClr val="FFFFFF"/>
                      </a:solidFill>
                      <a:prstDash val="solid"/>
                      <a:round/>
                      <a:headEnd type="none" w="sm" len="sm"/>
                      <a:tailEnd type="none" w="sm" len="sm"/>
                    </a:lnL>
                    <a:lnR w="28575" cap="flat" cmpd="sng" algn="ctr">
                      <a:solidFill>
                        <a:srgbClr val="FFFFFF"/>
                      </a:solidFill>
                      <a:prstDash val="solid"/>
                      <a:round/>
                      <a:headEnd type="none" w="sm" len="sm"/>
                      <a:tailEnd type="none" w="sm" len="sm"/>
                    </a:lnR>
                    <a:lnT w="28575" cap="flat" cmpd="sng" algn="ctr">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D0E0E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400" dirty="0">
                          <a:latin typeface="Times New Roman" panose="02020603050405020304" pitchFamily="18" charset="0"/>
                          <a:cs typeface="Times New Roman" panose="02020603050405020304" pitchFamily="18" charset="0"/>
                        </a:rPr>
                        <a:t>S. Hegarty et al.</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lgn="ctr">
                      <a:solidFill>
                        <a:srgbClr val="FFFFFF"/>
                      </a:solidFill>
                      <a:prstDash val="solid"/>
                      <a:round/>
                      <a:headEnd type="none" w="sm" len="sm"/>
                      <a:tailEnd type="none" w="sm" len="sm"/>
                    </a:lnL>
                    <a:lnR w="28575" cap="flat" cmpd="sng" algn="ctr">
                      <a:solidFill>
                        <a:srgbClr val="FFFFFF"/>
                      </a:solidFill>
                      <a:prstDash val="solid"/>
                      <a:round/>
                      <a:headEnd type="none" w="sm" len="sm"/>
                      <a:tailEnd type="none" w="sm" len="sm"/>
                    </a:lnR>
                    <a:lnT w="28575" cap="flat" cmpd="sng" algn="ctr">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D0E0E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i="1" dirty="0">
                          <a:latin typeface="Times New Roman" panose="02020603050405020304" pitchFamily="18" charset="0"/>
                          <a:cs typeface="Times New Roman" panose="02020603050405020304" pitchFamily="18" charset="0"/>
                        </a:rPr>
                        <a:t>Science of the Total Environment</a:t>
                      </a:r>
                      <a:r>
                        <a:rPr lang="en-US" sz="1400" dirty="0">
                          <a:latin typeface="Times New Roman" panose="02020603050405020304" pitchFamily="18" charset="0"/>
                          <a:cs typeface="Times New Roman" panose="02020603050405020304" pitchFamily="18" charset="0"/>
                        </a:rPr>
                        <a:t>, Vol. 790, 2021</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lgn="ctr">
                      <a:solidFill>
                        <a:srgbClr val="FFFFFF"/>
                      </a:solidFill>
                      <a:prstDash val="solid"/>
                      <a:round/>
                      <a:headEnd type="none" w="sm" len="sm"/>
                      <a:tailEnd type="none" w="sm" len="sm"/>
                    </a:lnL>
                    <a:lnR w="28575" cap="flat" cmpd="sng" algn="ctr">
                      <a:solidFill>
                        <a:srgbClr val="FFFFFF"/>
                      </a:solidFill>
                      <a:prstDash val="solid"/>
                      <a:round/>
                      <a:headEnd type="none" w="sm" len="sm"/>
                      <a:tailEnd type="none" w="sm" len="sm"/>
                    </a:lnR>
                    <a:lnT w="28575" cap="flat" cmpd="sng" algn="ctr">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D0E0E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latin typeface="Times New Roman" panose="02020603050405020304" pitchFamily="18" charset="0"/>
                          <a:cs typeface="Times New Roman" panose="02020603050405020304" pitchFamily="18" charset="0"/>
                        </a:rPr>
                        <a:t>Uses </a:t>
                      </a:r>
                      <a:r>
                        <a:rPr lang="en-US" sz="1400" b="1" dirty="0">
                          <a:latin typeface="Times New Roman" panose="02020603050405020304" pitchFamily="18" charset="0"/>
                          <a:cs typeface="Times New Roman" panose="02020603050405020304" pitchFamily="18" charset="0"/>
                        </a:rPr>
                        <a:t>citizen science</a:t>
                      </a:r>
                      <a:r>
                        <a:rPr lang="en-US" sz="1400" dirty="0">
                          <a:latin typeface="Times New Roman" panose="02020603050405020304" pitchFamily="18" charset="0"/>
                          <a:cs typeface="Times New Roman" panose="02020603050405020304" pitchFamily="18" charset="0"/>
                        </a:rPr>
                        <a:t>, where volunteers collect water samples and report water-quality information using standardized scientific procedures</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lgn="ctr">
                      <a:solidFill>
                        <a:srgbClr val="FFFFFF"/>
                      </a:solidFill>
                      <a:prstDash val="solid"/>
                      <a:round/>
                      <a:headEnd type="none" w="sm" len="sm"/>
                      <a:tailEnd type="none" w="sm" len="sm"/>
                    </a:lnL>
                    <a:lnR w="28575" cap="flat" cmpd="sng" algn="ctr">
                      <a:solidFill>
                        <a:srgbClr val="FFFFFF"/>
                      </a:solidFill>
                      <a:prstDash val="solid"/>
                      <a:round/>
                      <a:headEnd type="none" w="sm" len="sm"/>
                      <a:tailEnd type="none" w="sm" len="sm"/>
                    </a:lnR>
                    <a:lnT w="28575" cap="flat" cmpd="sng" algn="ctr">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D0E0E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latin typeface="Times New Roman" panose="02020603050405020304" pitchFamily="18" charset="0"/>
                          <a:cs typeface="Times New Roman" panose="02020603050405020304" pitchFamily="18" charset="0"/>
                        </a:rPr>
                        <a:t>Citizen participation </a:t>
                      </a:r>
                      <a:r>
                        <a:rPr lang="en-US" sz="1400" b="1" dirty="0">
                          <a:latin typeface="Times New Roman" panose="02020603050405020304" pitchFamily="18" charset="0"/>
                          <a:cs typeface="Times New Roman" panose="02020603050405020304" pitchFamily="18" charset="0"/>
                        </a:rPr>
                        <a:t>improves water-quality data collection</a:t>
                      </a:r>
                      <a:r>
                        <a:rPr lang="en-US" sz="1400" dirty="0">
                          <a:latin typeface="Times New Roman" panose="02020603050405020304" pitchFamily="18" charset="0"/>
                          <a:cs typeface="Times New Roman" panose="02020603050405020304" pitchFamily="18" charset="0"/>
                        </a:rPr>
                        <a:t>, increases monitoring coverage, and helps identify river pollution patterns more efficiently.</a:t>
                      </a:r>
                      <a:endParaRPr lang="en-US" sz="1400" dirty="0">
                        <a:solidFill>
                          <a:schemeClr val="dk1"/>
                        </a:solidFill>
                        <a:latin typeface="Times New Roman" panose="02020603050405020304" pitchFamily="18" charset="0"/>
                        <a:cs typeface="Times New Roman" panose="02020603050405020304" pitchFamily="18" charset="0"/>
                      </a:endParaRPr>
                    </a:p>
                  </a:txBody>
                  <a:tcPr marL="91425" marR="91425" marT="91425" marB="91425">
                    <a:lnL w="28575" cap="flat" cmpd="sng" algn="ctr">
                      <a:solidFill>
                        <a:srgbClr val="FFFFFF"/>
                      </a:solidFill>
                      <a:prstDash val="solid"/>
                      <a:round/>
                      <a:headEnd type="none" w="sm" len="sm"/>
                      <a:tailEnd type="none" w="sm" len="sm"/>
                    </a:lnL>
                    <a:lnR w="28575" cap="flat" cmpd="sng" algn="ctr">
                      <a:solidFill>
                        <a:srgbClr val="FFFFFF"/>
                      </a:solidFill>
                      <a:prstDash val="solid"/>
                      <a:round/>
                      <a:headEnd type="none" w="sm" len="sm"/>
                      <a:tailEnd type="none" w="sm" len="sm"/>
                    </a:lnR>
                    <a:lnT w="28575" cap="flat" cmpd="sng" algn="ctr">
                      <a:solidFill>
                        <a:srgbClr val="FFFFFF"/>
                      </a:solidFill>
                      <a:prstDash val="solid"/>
                      <a:round/>
                      <a:headEnd type="none" w="sm" len="sm"/>
                      <a:tailEnd type="none" w="sm" len="sm"/>
                    </a:lnT>
                    <a:lnB w="28575" cap="flat" cmpd="sng">
                      <a:solidFill>
                        <a:srgbClr val="FFFFFF"/>
                      </a:solidFill>
                      <a:prstDash val="solid"/>
                      <a:round/>
                      <a:headEnd type="none" w="sm" len="sm"/>
                      <a:tailEnd type="none" w="sm" len="sm"/>
                    </a:lnB>
                    <a:solidFill>
                      <a:srgbClr val="D0E0E3"/>
                    </a:solidFill>
                  </a:tcPr>
                </a:tc>
                <a:extLst>
                  <a:ext uri="{0D108BD9-81ED-4DB2-BD59-A6C34878D82A}">
                    <a16:rowId xmlns:a16="http://schemas.microsoft.com/office/drawing/2014/main" val="420652229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350480" y="-18339"/>
            <a:ext cx="148844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Marine Guard</a:t>
            </a:r>
            <a:endParaRPr sz="1500" dirty="0">
              <a:latin typeface="Times New Roman"/>
              <a:cs typeface="Times New Roman"/>
            </a:endParaRPr>
          </a:p>
        </p:txBody>
      </p:sp>
      <p:grpSp>
        <p:nvGrpSpPr>
          <p:cNvPr id="4" name="object 4"/>
          <p:cNvGrpSpPr/>
          <p:nvPr/>
        </p:nvGrpSpPr>
        <p:grpSpPr>
          <a:xfrm>
            <a:off x="0" y="216720"/>
            <a:ext cx="12192000" cy="803275"/>
            <a:chOff x="0" y="216720"/>
            <a:chExt cx="12192000" cy="803275"/>
          </a:xfrm>
        </p:grpSpPr>
        <p:pic>
          <p:nvPicPr>
            <p:cNvPr id="5" name="object 5"/>
            <p:cNvPicPr/>
            <p:nvPr/>
          </p:nvPicPr>
          <p:blipFill>
            <a:blip r:embed="rId2" cstate="print"/>
            <a:stretch>
              <a:fillRect/>
            </a:stretch>
          </p:blipFill>
          <p:spPr>
            <a:xfrm>
              <a:off x="0" y="216720"/>
              <a:ext cx="12192000" cy="803160"/>
            </a:xfrm>
            <a:prstGeom prst="rect">
              <a:avLst/>
            </a:prstGeom>
          </p:spPr>
        </p:pic>
        <p:sp>
          <p:nvSpPr>
            <p:cNvPr id="6" name="object 6"/>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7" name="object 7"/>
          <p:cNvSpPr txBox="1">
            <a:spLocks noGrp="1"/>
          </p:cNvSpPr>
          <p:nvPr>
            <p:ph type="title"/>
          </p:nvPr>
        </p:nvSpPr>
        <p:spPr>
          <a:xfrm>
            <a:off x="73025" y="182323"/>
            <a:ext cx="3888104" cy="695960"/>
          </a:xfrm>
          <a:prstGeom prst="rect">
            <a:avLst/>
          </a:prstGeom>
        </p:spPr>
        <p:txBody>
          <a:bodyPr vert="horz" wrap="square" lIns="0" tIns="12700" rIns="0" bIns="0" rtlCol="0">
            <a:spAutoFit/>
          </a:bodyPr>
          <a:lstStyle/>
          <a:p>
            <a:pPr marL="12700">
              <a:lnSpc>
                <a:spcPct val="100000"/>
              </a:lnSpc>
              <a:spcBef>
                <a:spcPts val="100"/>
              </a:spcBef>
              <a:tabLst>
                <a:tab pos="2232025" algn="l"/>
              </a:tabLst>
            </a:pPr>
            <a:r>
              <a:rPr spc="-10" dirty="0"/>
              <a:t>Proposed</a:t>
            </a:r>
            <a:r>
              <a:rPr dirty="0"/>
              <a:t>	</a:t>
            </a:r>
            <a:r>
              <a:rPr spc="-10" dirty="0"/>
              <a:t>System</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9" name="object 9"/>
          <p:cNvSpPr txBox="1">
            <a:spLocks noGrp="1"/>
          </p:cNvSpPr>
          <p:nvPr>
            <p:ph type="dt" sz="half" idx="6"/>
          </p:nvPr>
        </p:nvSpPr>
        <p:spPr>
          <a:xfrm>
            <a:off x="914400" y="6629559"/>
            <a:ext cx="452095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400800" y="6607175"/>
            <a:ext cx="4211615"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8</a:t>
            </a:fld>
            <a:endParaRPr spc="-25" dirty="0"/>
          </a:p>
        </p:txBody>
      </p:sp>
      <p:sp>
        <p:nvSpPr>
          <p:cNvPr id="3" name="Rectangle 1">
            <a:extLst>
              <a:ext uri="{FF2B5EF4-FFF2-40B4-BE49-F238E27FC236}">
                <a16:creationId xmlns:a16="http://schemas.microsoft.com/office/drawing/2014/main" id="{2F867B1D-217C-6B24-72DD-9ECC560F672D}"/>
              </a:ext>
            </a:extLst>
          </p:cNvPr>
          <p:cNvSpPr>
            <a:spLocks noChangeArrowheads="1"/>
          </p:cNvSpPr>
          <p:nvPr/>
        </p:nvSpPr>
        <p:spPr bwMode="auto">
          <a:xfrm>
            <a:off x="149031" y="1027483"/>
            <a:ext cx="11966769" cy="55796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13" name="Rectangle 2">
            <a:extLst>
              <a:ext uri="{FF2B5EF4-FFF2-40B4-BE49-F238E27FC236}">
                <a16:creationId xmlns:a16="http://schemas.microsoft.com/office/drawing/2014/main" id="{8C08FA46-37B7-E9ED-77FA-748F99A66327}"/>
              </a:ext>
            </a:extLst>
          </p:cNvPr>
          <p:cNvSpPr>
            <a:spLocks noChangeArrowheads="1"/>
          </p:cNvSpPr>
          <p:nvPr/>
        </p:nvSpPr>
        <p:spPr bwMode="auto">
          <a:xfrm>
            <a:off x="149031" y="1043120"/>
            <a:ext cx="11893938"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Rivers are polluted by multiple sources, affecting water quality and aquatic ecosystems.</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Pollutants such as chemical waste, plastic debris, dead organisms, and oil residues mix in water, making monitoring difficult.</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Manual inspection and traditional analysis methods are time-consuming and incomplete.</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Existing methods fail to detect multiple pollutants and objects simultaneously.</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Undetected contamination can lead to severe degradation of water quality and environmental damage.</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There is a need for a systematic and automated approach to analyze river conditions efficiently.</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Advanced technology is required to classify different pollution types accurately.</a:t>
            </a:r>
          </a:p>
          <a:p>
            <a:pPr marL="342900" marR="0" lvl="0" indent="-342900" algn="just"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proposed project integrates object detection algorithms with a user-friendly system for comprehensive river pollution monitoring</a:t>
            </a:r>
            <a:r>
              <a:rPr kumimoji="0" lang="en-US" altLang="en-US" sz="800" b="0" i="0" u="none" strike="noStrike" cap="none" normalizeH="0" baseline="0" dirty="0">
                <a:ln>
                  <a:noFill/>
                </a:ln>
                <a:solidFill>
                  <a:schemeClr val="tx1"/>
                </a:solidFill>
                <a:effectLst/>
                <a:latin typeface="Arial" panose="020B0604020202020204" pitchFamily="34" charset="0"/>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350480" y="-18339"/>
            <a:ext cx="148844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Marine Guard</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52400">
              <a:lnSpc>
                <a:spcPct val="100000"/>
              </a:lnSpc>
              <a:spcBef>
                <a:spcPts val="100"/>
              </a:spcBef>
            </a:pPr>
            <a:r>
              <a:rPr spc="-10" dirty="0"/>
              <a:t>References</a:t>
            </a:r>
          </a:p>
        </p:txBody>
      </p:sp>
      <p:sp>
        <p:nvSpPr>
          <p:cNvPr id="9" name="object 9"/>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10" name="object 10"/>
          <p:cNvSpPr txBox="1">
            <a:spLocks noGrp="1"/>
          </p:cNvSpPr>
          <p:nvPr>
            <p:ph type="dt" sz="half" idx="6"/>
          </p:nvPr>
        </p:nvSpPr>
        <p:spPr>
          <a:xfrm>
            <a:off x="914400" y="6629558"/>
            <a:ext cx="452095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1" name="object 11"/>
          <p:cNvSpPr txBox="1"/>
          <p:nvPr/>
        </p:nvSpPr>
        <p:spPr>
          <a:xfrm>
            <a:off x="6517863" y="6629197"/>
            <a:ext cx="4520958"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9</a:t>
            </a:fld>
            <a:endParaRPr spc="-25" dirty="0"/>
          </a:p>
        </p:txBody>
      </p:sp>
      <p:sp>
        <p:nvSpPr>
          <p:cNvPr id="7" name="object 7"/>
          <p:cNvSpPr txBox="1"/>
          <p:nvPr/>
        </p:nvSpPr>
        <p:spPr>
          <a:xfrm>
            <a:off x="272465" y="1074318"/>
            <a:ext cx="11749380" cy="2646878"/>
          </a:xfrm>
          <a:prstGeom prst="rect">
            <a:avLst/>
          </a:prstGeom>
        </p:spPr>
        <p:txBody>
          <a:bodyPr vert="horz" wrap="square" lIns="0" tIns="60960" rIns="0" bIns="0" rtlCol="0">
            <a:spAutoFit/>
          </a:bodyPr>
          <a:lstStyle/>
          <a:p>
            <a:pPr marL="342900" indent="-342900" algn="just">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K. Neelavannan and I. S. Sen, “</a:t>
            </a:r>
            <a:r>
              <a:rPr lang="en-US" sz="2400" i="1" dirty="0">
                <a:latin typeface="Times New Roman" panose="02020603050405020304" pitchFamily="18" charset="0"/>
                <a:cs typeface="Times New Roman" panose="02020603050405020304" pitchFamily="18" charset="0"/>
              </a:rPr>
              <a:t>Microplastics in Freshwater Ecosystems of India: Current Trends and Future Perspectives</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ACS Omega</a:t>
            </a:r>
            <a:r>
              <a:rPr lang="en-US" sz="2400" dirty="0">
                <a:latin typeface="Times New Roman" panose="02020603050405020304" pitchFamily="18" charset="0"/>
                <a:cs typeface="Times New Roman" panose="02020603050405020304" pitchFamily="18" charset="0"/>
              </a:rPr>
              <a:t>, vol. 8, pp. 34235–34248, 2023.</a:t>
            </a:r>
          </a:p>
          <a:p>
            <a:pPr algn="just"/>
            <a:endParaRPr lang="en-US" sz="24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400" b="1" dirty="0">
                <a:latin typeface="Times New Roman" panose="02020603050405020304" pitchFamily="18" charset="0"/>
                <a:cs typeface="Times New Roman" panose="02020603050405020304" pitchFamily="18" charset="0"/>
              </a:rPr>
              <a:t>Citizen Science for River Water Quality (Very Closely Related to Your Concept)  </a:t>
            </a:r>
          </a:p>
          <a:p>
            <a:pPr marL="360363" indent="-360363" algn="just"/>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S. Hegarty </a:t>
            </a:r>
            <a:r>
              <a:rPr lang="en-US" sz="2400" i="1" dirty="0">
                <a:latin typeface="Times New Roman" panose="02020603050405020304" pitchFamily="18" charset="0"/>
                <a:cs typeface="Times New Roman" panose="02020603050405020304" pitchFamily="18" charset="0"/>
              </a:rPr>
              <a:t>et al.</a:t>
            </a:r>
            <a:r>
              <a:rPr lang="en-US" sz="2400" dirty="0">
                <a:latin typeface="Times New Roman" panose="02020603050405020304" pitchFamily="18" charset="0"/>
                <a:cs typeface="Times New Roman" panose="02020603050405020304" pitchFamily="18" charset="0"/>
              </a:rPr>
              <a:t>, “</a:t>
            </a:r>
            <a:r>
              <a:rPr lang="en-US" sz="2400" i="1" dirty="0">
                <a:latin typeface="Times New Roman" panose="02020603050405020304" pitchFamily="18" charset="0"/>
                <a:cs typeface="Times New Roman" panose="02020603050405020304" pitchFamily="18" charset="0"/>
              </a:rPr>
              <a:t>Using citizen science to understand river water quality: The catchment        science approach</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Science of the Total Environment</a:t>
            </a:r>
            <a:r>
              <a:rPr lang="en-US" sz="2400" dirty="0">
                <a:latin typeface="Times New Roman" panose="02020603050405020304" pitchFamily="18" charset="0"/>
                <a:cs typeface="Times New Roman" panose="02020603050405020304" pitchFamily="18" charset="0"/>
              </a:rPr>
              <a:t>, vol. 790, 2021.</a:t>
            </a:r>
          </a:p>
          <a:p>
            <a:pPr algn="just"/>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4" name="object 4"/>
          <p:cNvSpPr txBox="1"/>
          <p:nvPr/>
        </p:nvSpPr>
        <p:spPr>
          <a:xfrm>
            <a:off x="5350480" y="-18339"/>
            <a:ext cx="1488440" cy="487313"/>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Marine Guard</a:t>
            </a:r>
          </a:p>
          <a:p>
            <a:pPr marL="12700">
              <a:lnSpc>
                <a:spcPct val="100000"/>
              </a:lnSpc>
              <a:spcBef>
                <a:spcPts val="100"/>
              </a:spcBef>
            </a:pPr>
            <a:endParaRPr sz="1500" dirty="0">
              <a:latin typeface="Times New Roman"/>
              <a:cs typeface="Times New Roman"/>
            </a:endParaRPr>
          </a:p>
        </p:txBody>
      </p:sp>
      <p:grpSp>
        <p:nvGrpSpPr>
          <p:cNvPr id="5" name="object 5"/>
          <p:cNvGrpSpPr/>
          <p:nvPr/>
        </p:nvGrpSpPr>
        <p:grpSpPr>
          <a:xfrm>
            <a:off x="0" y="216720"/>
            <a:ext cx="12192000" cy="803275"/>
            <a:chOff x="0" y="216720"/>
            <a:chExt cx="12192000" cy="803275"/>
          </a:xfrm>
        </p:grpSpPr>
        <p:pic>
          <p:nvPicPr>
            <p:cNvPr id="6" name="object 6"/>
            <p:cNvPicPr/>
            <p:nvPr/>
          </p:nvPicPr>
          <p:blipFill>
            <a:blip r:embed="rId2" cstate="print"/>
            <a:stretch>
              <a:fillRect/>
            </a:stretch>
          </p:blipFill>
          <p:spPr>
            <a:xfrm>
              <a:off x="0" y="216720"/>
              <a:ext cx="12192000" cy="803160"/>
            </a:xfrm>
            <a:prstGeom prst="rect">
              <a:avLst/>
            </a:prstGeom>
          </p:spPr>
        </p:pic>
        <p:sp>
          <p:nvSpPr>
            <p:cNvPr id="7" name="object 7"/>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8" name="object 8"/>
          <p:cNvSpPr txBox="1">
            <a:spLocks noGrp="1"/>
          </p:cNvSpPr>
          <p:nvPr>
            <p:ph type="title"/>
          </p:nvPr>
        </p:nvSpPr>
        <p:spPr>
          <a:xfrm>
            <a:off x="73025" y="182323"/>
            <a:ext cx="8136255" cy="695960"/>
          </a:xfrm>
          <a:prstGeom prst="rect">
            <a:avLst/>
          </a:prstGeom>
        </p:spPr>
        <p:txBody>
          <a:bodyPr vert="horz" wrap="square" lIns="0" tIns="12700" rIns="0" bIns="0" rtlCol="0">
            <a:spAutoFit/>
          </a:bodyPr>
          <a:lstStyle/>
          <a:p>
            <a:pPr marL="12700">
              <a:lnSpc>
                <a:spcPct val="100000"/>
              </a:lnSpc>
              <a:spcBef>
                <a:spcPts val="100"/>
              </a:spcBef>
              <a:tabLst>
                <a:tab pos="1966595" algn="l"/>
                <a:tab pos="5348605" algn="l"/>
                <a:tab pos="6511925" algn="l"/>
              </a:tabLst>
            </a:pPr>
            <a:r>
              <a:rPr dirty="0"/>
              <a:t>Git</a:t>
            </a:r>
            <a:r>
              <a:rPr spc="-75" dirty="0"/>
              <a:t> </a:t>
            </a:r>
            <a:r>
              <a:rPr spc="-25" dirty="0"/>
              <a:t>Hub</a:t>
            </a:r>
            <a:r>
              <a:rPr dirty="0"/>
              <a:t>	Dashboards</a:t>
            </a:r>
            <a:r>
              <a:rPr spc="-60" dirty="0"/>
              <a:t> </a:t>
            </a:r>
            <a:r>
              <a:rPr spc="-25" dirty="0"/>
              <a:t>of</a:t>
            </a:r>
            <a:r>
              <a:rPr dirty="0"/>
              <a:t>	</a:t>
            </a:r>
            <a:r>
              <a:rPr spc="-20" dirty="0"/>
              <a:t>each</a:t>
            </a:r>
            <a:r>
              <a:rPr dirty="0"/>
              <a:t>	</a:t>
            </a:r>
            <a:r>
              <a:rPr spc="-10" dirty="0"/>
              <a:t>student</a:t>
            </a:r>
          </a:p>
        </p:txBody>
      </p:sp>
      <p:sp>
        <p:nvSpPr>
          <p:cNvPr id="10" name="object 10"/>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11" name="object 11"/>
          <p:cNvSpPr txBox="1">
            <a:spLocks noGrp="1"/>
          </p:cNvSpPr>
          <p:nvPr>
            <p:ph type="dt" sz="half" idx="6"/>
          </p:nvPr>
        </p:nvSpPr>
        <p:spPr>
          <a:xfrm>
            <a:off x="911225" y="6629558"/>
            <a:ext cx="4524134"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2" name="object 12"/>
          <p:cNvSpPr txBox="1"/>
          <p:nvPr/>
        </p:nvSpPr>
        <p:spPr>
          <a:xfrm>
            <a:off x="6400801" y="6629197"/>
            <a:ext cx="4638020"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10</a:t>
            </a:fld>
            <a:endParaRPr spc="-25" dirty="0"/>
          </a:p>
        </p:txBody>
      </p:sp>
      <p:sp>
        <p:nvSpPr>
          <p:cNvPr id="9" name="object 9"/>
          <p:cNvSpPr txBox="1"/>
          <p:nvPr/>
        </p:nvSpPr>
        <p:spPr>
          <a:xfrm>
            <a:off x="228599" y="6152444"/>
            <a:ext cx="11277601" cy="289823"/>
          </a:xfrm>
          <a:prstGeom prst="rect">
            <a:avLst/>
          </a:prstGeom>
        </p:spPr>
        <p:txBody>
          <a:bodyPr vert="horz" wrap="square" lIns="0" tIns="12700" rIns="0" bIns="0" rtlCol="0">
            <a:spAutoFit/>
          </a:bodyPr>
          <a:lstStyle/>
          <a:p>
            <a:pPr marL="12700">
              <a:lnSpc>
                <a:spcPct val="100000"/>
              </a:lnSpc>
              <a:spcBef>
                <a:spcPts val="100"/>
              </a:spcBef>
            </a:pPr>
            <a:r>
              <a:rPr lang="en-IN" dirty="0" err="1">
                <a:latin typeface="Sitka Small Semibold" pitchFamily="2" charset="0"/>
                <a:cs typeface="Arial MT"/>
              </a:rPr>
              <a:t>Github</a:t>
            </a:r>
            <a:r>
              <a:rPr lang="en-IN" dirty="0">
                <a:latin typeface="Sitka Small Semibold" pitchFamily="2" charset="0"/>
                <a:cs typeface="Arial MT"/>
              </a:rPr>
              <a:t> link:  </a:t>
            </a:r>
            <a:r>
              <a:rPr lang="en-IN" dirty="0">
                <a:latin typeface="Times New Roman" panose="02020603050405020304" pitchFamily="18" charset="0"/>
                <a:cs typeface="Times New Roman" panose="02020603050405020304" pitchFamily="18" charset="0"/>
              </a:rPr>
              <a:t>https://github.com/SKSuhanaAnjum/CSE-2022-26-Batch-B-18</a:t>
            </a:r>
            <a:endParaRPr sz="1800" dirty="0">
              <a:latin typeface="Times New Roman" panose="02020603050405020304" pitchFamily="18" charset="0"/>
              <a:cs typeface="Times New Roman" panose="02020603050405020304" pitchFamily="18" charset="0"/>
            </a:endParaRPr>
          </a:p>
        </p:txBody>
      </p:sp>
      <p:pic>
        <p:nvPicPr>
          <p:cNvPr id="14" name="Picture 13" descr="A screenshot of a computer&#10;&#10;AI-generated content may be incorrect.">
            <a:extLst>
              <a:ext uri="{FF2B5EF4-FFF2-40B4-BE49-F238E27FC236}">
                <a16:creationId xmlns:a16="http://schemas.microsoft.com/office/drawing/2014/main" id="{8A09342B-5188-E9E6-32F5-0E381BDF4167}"/>
              </a:ext>
            </a:extLst>
          </p:cNvPr>
          <p:cNvPicPr>
            <a:picLocks noChangeAspect="1"/>
          </p:cNvPicPr>
          <p:nvPr/>
        </p:nvPicPr>
        <p:blipFill>
          <a:blip r:embed="rId3"/>
          <a:stretch>
            <a:fillRect/>
          </a:stretch>
        </p:blipFill>
        <p:spPr>
          <a:xfrm>
            <a:off x="844111" y="999299"/>
            <a:ext cx="10185918" cy="510096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3" name="object 3"/>
          <p:cNvSpPr txBox="1"/>
          <p:nvPr/>
        </p:nvSpPr>
        <p:spPr>
          <a:xfrm>
            <a:off x="5350480" y="-18339"/>
            <a:ext cx="148844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Marine Guard</a:t>
            </a:r>
            <a:endParaRPr sz="1500" dirty="0">
              <a:latin typeface="Times New Roman"/>
              <a:cs typeface="Times New Roman"/>
            </a:endParaRPr>
          </a:p>
        </p:txBody>
      </p:sp>
      <p:sp>
        <p:nvSpPr>
          <p:cNvPr id="5" name="object 5"/>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IN" spc="-25" dirty="0"/>
              <a:t>B - 18</a:t>
            </a:r>
            <a:endParaRPr spc="-25" dirty="0"/>
          </a:p>
        </p:txBody>
      </p:sp>
      <p:sp>
        <p:nvSpPr>
          <p:cNvPr id="6" name="object 6"/>
          <p:cNvSpPr txBox="1">
            <a:spLocks noGrp="1"/>
          </p:cNvSpPr>
          <p:nvPr>
            <p:ph type="dt" sz="half" idx="6"/>
          </p:nvPr>
        </p:nvSpPr>
        <p:spPr>
          <a:xfrm>
            <a:off x="990600" y="6629559"/>
            <a:ext cx="444475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object 7"/>
          <p:cNvSpPr txBox="1"/>
          <p:nvPr/>
        </p:nvSpPr>
        <p:spPr>
          <a:xfrm>
            <a:off x="6477001" y="6629197"/>
            <a:ext cx="4561820"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11</a:t>
            </a:fld>
            <a:endParaRPr spc="-25" dirty="0"/>
          </a:p>
        </p:txBody>
      </p:sp>
      <p:sp>
        <p:nvSpPr>
          <p:cNvPr id="4" name="object 4"/>
          <p:cNvSpPr txBox="1">
            <a:spLocks noGrp="1"/>
          </p:cNvSpPr>
          <p:nvPr>
            <p:ph type="title"/>
          </p:nvPr>
        </p:nvSpPr>
        <p:spPr>
          <a:xfrm>
            <a:off x="2705705" y="2352272"/>
            <a:ext cx="6692265" cy="1488440"/>
          </a:xfrm>
          <a:prstGeom prst="rect">
            <a:avLst/>
          </a:prstGeom>
        </p:spPr>
        <p:txBody>
          <a:bodyPr vert="horz" wrap="square" lIns="0" tIns="12700" rIns="0" bIns="0" rtlCol="0">
            <a:spAutoFit/>
          </a:bodyPr>
          <a:lstStyle/>
          <a:p>
            <a:pPr marL="12700">
              <a:lnSpc>
                <a:spcPct val="100000"/>
              </a:lnSpc>
              <a:spcBef>
                <a:spcPts val="100"/>
              </a:spcBef>
            </a:pPr>
            <a:r>
              <a:rPr sz="9600" i="1" dirty="0">
                <a:solidFill>
                  <a:srgbClr val="FF6600"/>
                </a:solidFill>
                <a:latin typeface="Times New Roman"/>
                <a:cs typeface="Times New Roman"/>
              </a:rPr>
              <a:t>Any</a:t>
            </a:r>
            <a:r>
              <a:rPr sz="9600" i="1" spc="-30" dirty="0">
                <a:solidFill>
                  <a:srgbClr val="FF6600"/>
                </a:solidFill>
                <a:latin typeface="Times New Roman"/>
                <a:cs typeface="Times New Roman"/>
              </a:rPr>
              <a:t> </a:t>
            </a:r>
            <a:r>
              <a:rPr sz="9600" i="1" spc="-10" dirty="0">
                <a:solidFill>
                  <a:srgbClr val="FF6600"/>
                </a:solidFill>
                <a:latin typeface="Times New Roman"/>
                <a:cs typeface="Times New Roman"/>
              </a:rPr>
              <a:t>Queries?</a:t>
            </a:r>
            <a:endParaRPr sz="9600">
              <a:latin typeface="Times New Roman"/>
              <a:cs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1030</TotalTime>
  <Words>1104</Words>
  <Application>Microsoft Office PowerPoint</Application>
  <PresentationFormat>Widescreen</PresentationFormat>
  <Paragraphs>131</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Sitka Small Semibold</vt:lpstr>
      <vt:lpstr>Times New Roman</vt:lpstr>
      <vt:lpstr>Wingdings</vt:lpstr>
      <vt:lpstr>Office Theme</vt:lpstr>
      <vt:lpstr> MARINE GUARD </vt:lpstr>
      <vt:lpstr>Contents</vt:lpstr>
      <vt:lpstr>Title Justification </vt:lpstr>
      <vt:lpstr>Abstract</vt:lpstr>
      <vt:lpstr>Problem Statement</vt:lpstr>
      <vt:lpstr>Objectives of Project</vt:lpstr>
      <vt:lpstr>PowerPoint Presentation</vt:lpstr>
      <vt:lpstr>Proposed System</vt:lpstr>
      <vt:lpstr>References</vt:lpstr>
      <vt:lpstr>Git Hub Dashboards of each student</vt:lpstr>
      <vt:lpstr>Any Queries?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Naveen</dc:creator>
  <cp:lastModifiedBy>suhana anjum</cp:lastModifiedBy>
  <cp:revision>19</cp:revision>
  <dcterms:created xsi:type="dcterms:W3CDTF">2025-12-02T11:29:58Z</dcterms:created>
  <dcterms:modified xsi:type="dcterms:W3CDTF">2026-01-01T13:04:21Z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2025-12-02T00:00:00Z</vt:filetime>
  </property>
  <property fmtid="{D5CDD505-2E9C-101B-9397-08002B2CF9AE}" pid="3" name="Creator">
    <vt:lpwstr>Google</vt:lpwstr>
  </property>
  <property fmtid="{D5CDD505-2E9C-101B-9397-08002B2CF9AE}" pid="4" name="LastSaved">
    <vt:filetime>2025-12-02T00:00:00Z</vt:filetime>
  </property>
</Properties>
</file>