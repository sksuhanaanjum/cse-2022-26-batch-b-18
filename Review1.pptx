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97" r:id="rId3"/>
    <p:sldId id="288" r:id="rId4"/>
    <p:sldId id="268" r:id="rId5"/>
    <p:sldId id="275" r:id="rId6"/>
    <p:sldId id="276" r:id="rId7"/>
    <p:sldId id="277" r:id="rId8"/>
    <p:sldId id="278" r:id="rId9"/>
    <p:sldId id="296" r:id="rId10"/>
    <p:sldId id="279" r:id="rId11"/>
    <p:sldId id="285" r:id="rId12"/>
    <p:sldId id="286" r:id="rId13"/>
    <p:sldId id="300" r:id="rId14"/>
    <p:sldId id="298" r:id="rId15"/>
    <p:sldId id="299" r:id="rId16"/>
    <p:sldId id="301" r:id="rId17"/>
    <p:sldId id="293" r:id="rId18"/>
    <p:sldId id="291" r:id="rId19"/>
    <p:sldId id="284" r:id="rId20"/>
    <p:sldId id="281" r:id="rId21"/>
    <p:sldId id="289" r:id="rId22"/>
    <p:sldId id="29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7" d="100"/>
          <a:sy n="87" d="100"/>
        </p:scale>
        <p:origin x="451" y="1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4D1D45-6469-45A7-9D4E-05D7E019FAF5}" type="datetimeFigureOut">
              <a:rPr lang="en-IN" smtClean="0"/>
              <a:t>11-02-2026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EC5B14-35BC-466B-8C06-66DBAD6F47F3}" type="slidenum">
              <a:rPr lang="en-IN" smtClean="0"/>
              <a:t>‹#›</a:t>
            </a:fld>
            <a:endParaRPr lang="en-IN"/>
          </a:p>
        </p:txBody>
      </p:sp>
    </p:spTree>
    <p:extLst>
      <p:ext uri="{BB962C8B-B14F-4D97-AF65-F5344CB8AC3E}">
        <p14:creationId xmlns:p14="http://schemas.microsoft.com/office/powerpoint/2010/main" val="3292099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C0F1D-A9B4-0E16-5693-DBB63E1C24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2282E-3F7D-E90D-1BDA-B5E4EDEA28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EA385FB-BFBA-DC5D-1870-DF8F14CFD08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3E7B028-F66D-B4FF-148E-5DE4DEE13D73}"/>
              </a:ext>
            </a:extLst>
          </p:cNvPr>
          <p:cNvSpPr>
            <a:spLocks noGrp="1"/>
          </p:cNvSpPr>
          <p:nvPr>
            <p:ph type="sldNum" sz="quarter" idx="5"/>
          </p:nvPr>
        </p:nvSpPr>
        <p:spPr/>
        <p:txBody>
          <a:bodyPr/>
          <a:lstStyle/>
          <a:p>
            <a:fld id="{28FC78BE-84F6-4F5F-974A-47A573FE2857}" type="slidenum">
              <a:rPr lang="en-US" smtClean="0"/>
              <a:pPr/>
              <a:t>2</a:t>
            </a:fld>
            <a:endParaRPr lang="en-US"/>
          </a:p>
        </p:txBody>
      </p:sp>
    </p:spTree>
    <p:extLst>
      <p:ext uri="{BB962C8B-B14F-4D97-AF65-F5344CB8AC3E}">
        <p14:creationId xmlns:p14="http://schemas.microsoft.com/office/powerpoint/2010/main" val="1701386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47EF4-EFFC-FBB4-86AE-F54CB934A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E23769-9A53-8BCC-7CBA-D6D4259B04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E455F6-12BB-B4F1-87B2-0EA03327D75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98773D1-F13B-A937-E18D-8AD214CE6DED}"/>
              </a:ext>
            </a:extLst>
          </p:cNvPr>
          <p:cNvSpPr>
            <a:spLocks noGrp="1"/>
          </p:cNvSpPr>
          <p:nvPr>
            <p:ph type="sldNum" sz="quarter" idx="5"/>
          </p:nvPr>
        </p:nvSpPr>
        <p:spPr/>
        <p:txBody>
          <a:bodyPr/>
          <a:lstStyle/>
          <a:p>
            <a:fld id="{28FC78BE-84F6-4F5F-974A-47A573FE2857}" type="slidenum">
              <a:rPr lang="en-US" smtClean="0"/>
              <a:pPr/>
              <a:t>3</a:t>
            </a:fld>
            <a:endParaRPr lang="en-US"/>
          </a:p>
        </p:txBody>
      </p:sp>
    </p:spTree>
    <p:extLst>
      <p:ext uri="{BB962C8B-B14F-4D97-AF65-F5344CB8AC3E}">
        <p14:creationId xmlns:p14="http://schemas.microsoft.com/office/powerpoint/2010/main" val="3147151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8FC78BE-84F6-4F5F-974A-47A573FE2857}" type="slidenum">
              <a:rPr lang="en-US" smtClean="0"/>
              <a:pPr/>
              <a:t>4</a:t>
            </a:fld>
            <a:endParaRPr lang="en-US"/>
          </a:p>
        </p:txBody>
      </p:sp>
    </p:spTree>
    <p:extLst>
      <p:ext uri="{BB962C8B-B14F-4D97-AF65-F5344CB8AC3E}">
        <p14:creationId xmlns:p14="http://schemas.microsoft.com/office/powerpoint/2010/main" val="2760131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25A58-5BA8-87AA-2E81-0535A72F22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F7E5B-BE92-5437-5B13-A7D5AD1D2A6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9F5F034-959C-A179-2985-6536152564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C1FEC5C-F498-6384-92E6-D33CB3F09012}"/>
              </a:ext>
            </a:extLst>
          </p:cNvPr>
          <p:cNvSpPr>
            <a:spLocks noGrp="1"/>
          </p:cNvSpPr>
          <p:nvPr>
            <p:ph type="sldNum" sz="quarter" idx="5"/>
          </p:nvPr>
        </p:nvSpPr>
        <p:spPr/>
        <p:txBody>
          <a:bodyPr/>
          <a:lstStyle/>
          <a:p>
            <a:fld id="{28FC78BE-84F6-4F5F-974A-47A573FE2857}" type="slidenum">
              <a:rPr lang="en-US" smtClean="0"/>
              <a:pPr/>
              <a:t>5</a:t>
            </a:fld>
            <a:endParaRPr lang="en-US"/>
          </a:p>
        </p:txBody>
      </p:sp>
    </p:spTree>
    <p:extLst>
      <p:ext uri="{BB962C8B-B14F-4D97-AF65-F5344CB8AC3E}">
        <p14:creationId xmlns:p14="http://schemas.microsoft.com/office/powerpoint/2010/main" val="4146071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1ACE-FA5A-D2B9-F254-15FAC1806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42344-5C7C-31A9-89C1-68C90C2E45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BD9EFA-6561-8161-AB32-755673041DC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B3A229-3E2D-3835-14F5-F1E87CEBA5E5}"/>
              </a:ext>
            </a:extLst>
          </p:cNvPr>
          <p:cNvSpPr>
            <a:spLocks noGrp="1"/>
          </p:cNvSpPr>
          <p:nvPr>
            <p:ph type="sldNum" sz="quarter" idx="5"/>
          </p:nvPr>
        </p:nvSpPr>
        <p:spPr/>
        <p:txBody>
          <a:bodyPr/>
          <a:lstStyle/>
          <a:p>
            <a:fld id="{28FC78BE-84F6-4F5F-974A-47A573FE2857}" type="slidenum">
              <a:rPr lang="en-US" smtClean="0"/>
              <a:pPr/>
              <a:t>6</a:t>
            </a:fld>
            <a:endParaRPr lang="en-US"/>
          </a:p>
        </p:txBody>
      </p:sp>
    </p:spTree>
    <p:extLst>
      <p:ext uri="{BB962C8B-B14F-4D97-AF65-F5344CB8AC3E}">
        <p14:creationId xmlns:p14="http://schemas.microsoft.com/office/powerpoint/2010/main" val="3906884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A9D27-B22B-BAC6-FAA0-D2B127B1B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64512-592D-070D-9EF6-37D95D55214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48A90F9-305D-0E8D-F4EC-E0C06A84B26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F80DC10-FEC8-5B00-D15F-A8F84A365D63}"/>
              </a:ext>
            </a:extLst>
          </p:cNvPr>
          <p:cNvSpPr>
            <a:spLocks noGrp="1"/>
          </p:cNvSpPr>
          <p:nvPr>
            <p:ph type="sldNum" sz="quarter" idx="5"/>
          </p:nvPr>
        </p:nvSpPr>
        <p:spPr/>
        <p:txBody>
          <a:bodyPr/>
          <a:lstStyle/>
          <a:p>
            <a:fld id="{28FC78BE-84F6-4F5F-974A-47A573FE2857}" type="slidenum">
              <a:rPr lang="en-US" smtClean="0"/>
              <a:pPr/>
              <a:t>7</a:t>
            </a:fld>
            <a:endParaRPr lang="en-US"/>
          </a:p>
        </p:txBody>
      </p:sp>
    </p:spTree>
    <p:extLst>
      <p:ext uri="{BB962C8B-B14F-4D97-AF65-F5344CB8AC3E}">
        <p14:creationId xmlns:p14="http://schemas.microsoft.com/office/powerpoint/2010/main" val="2915384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3AB38-255B-148E-895A-D701DE1F6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A9D1E2-E319-0D46-0AAC-2AC0027810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489B73-03FF-D428-EF72-28A955051A6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401CBCC-18A8-85E6-09CC-48A7706FDF63}"/>
              </a:ext>
            </a:extLst>
          </p:cNvPr>
          <p:cNvSpPr>
            <a:spLocks noGrp="1"/>
          </p:cNvSpPr>
          <p:nvPr>
            <p:ph type="sldNum" sz="quarter" idx="5"/>
          </p:nvPr>
        </p:nvSpPr>
        <p:spPr/>
        <p:txBody>
          <a:bodyPr/>
          <a:lstStyle/>
          <a:p>
            <a:fld id="{28FC78BE-84F6-4F5F-974A-47A573FE2857}" type="slidenum">
              <a:rPr lang="en-US" smtClean="0"/>
              <a:pPr/>
              <a:t>8</a:t>
            </a:fld>
            <a:endParaRPr lang="en-US"/>
          </a:p>
        </p:txBody>
      </p:sp>
    </p:spTree>
    <p:extLst>
      <p:ext uri="{BB962C8B-B14F-4D97-AF65-F5344CB8AC3E}">
        <p14:creationId xmlns:p14="http://schemas.microsoft.com/office/powerpoint/2010/main" val="2514409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17361-B2C2-5B15-21F9-9D61CA6F00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8F023-3C1F-A04B-7CE0-D9F1666345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9AE4BB1-ED43-336E-1CDB-9B78D04FD16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DCE65D1-682D-3F3D-8B43-89673F8C77AE}"/>
              </a:ext>
            </a:extLst>
          </p:cNvPr>
          <p:cNvSpPr>
            <a:spLocks noGrp="1"/>
          </p:cNvSpPr>
          <p:nvPr>
            <p:ph type="sldNum" sz="quarter" idx="5"/>
          </p:nvPr>
        </p:nvSpPr>
        <p:spPr/>
        <p:txBody>
          <a:bodyPr/>
          <a:lstStyle/>
          <a:p>
            <a:fld id="{28FC78BE-84F6-4F5F-974A-47A573FE2857}" type="slidenum">
              <a:rPr lang="en-US" smtClean="0"/>
              <a:pPr/>
              <a:t>9</a:t>
            </a:fld>
            <a:endParaRPr lang="en-US"/>
          </a:p>
        </p:txBody>
      </p:sp>
    </p:spTree>
    <p:extLst>
      <p:ext uri="{BB962C8B-B14F-4D97-AF65-F5344CB8AC3E}">
        <p14:creationId xmlns:p14="http://schemas.microsoft.com/office/powerpoint/2010/main" val="269619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03375-60D9-28C1-53DC-D237B3C4D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8884A-3801-9906-4669-94B04A63AD1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067BEC-B0D1-8049-7990-43CED831AB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4C25515-26DB-1A09-7BF9-CCC086D66B86}"/>
              </a:ext>
            </a:extLst>
          </p:cNvPr>
          <p:cNvSpPr>
            <a:spLocks noGrp="1"/>
          </p:cNvSpPr>
          <p:nvPr>
            <p:ph type="sldNum" sz="quarter" idx="5"/>
          </p:nvPr>
        </p:nvSpPr>
        <p:spPr/>
        <p:txBody>
          <a:bodyPr/>
          <a:lstStyle/>
          <a:p>
            <a:fld id="{28FC78BE-84F6-4F5F-974A-47A573FE2857}" type="slidenum">
              <a:rPr lang="en-US" smtClean="0"/>
              <a:pPr/>
              <a:t>10</a:t>
            </a:fld>
            <a:endParaRPr lang="en-US"/>
          </a:p>
        </p:txBody>
      </p:sp>
    </p:spTree>
    <p:extLst>
      <p:ext uri="{BB962C8B-B14F-4D97-AF65-F5344CB8AC3E}">
        <p14:creationId xmlns:p14="http://schemas.microsoft.com/office/powerpoint/2010/main" val="3092244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F44EC-430A-58E2-2C9C-D46F4DD59F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234959-0013-56AE-C480-0044D9BCDEE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94BD76-7FCB-F07A-7F74-C8BDCBDC284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00FF213-3D44-B9D7-89C6-722DD3D39717}"/>
              </a:ext>
            </a:extLst>
          </p:cNvPr>
          <p:cNvSpPr>
            <a:spLocks noGrp="1"/>
          </p:cNvSpPr>
          <p:nvPr>
            <p:ph type="sldNum" sz="quarter" idx="5"/>
          </p:nvPr>
        </p:nvSpPr>
        <p:spPr/>
        <p:txBody>
          <a:bodyPr/>
          <a:lstStyle/>
          <a:p>
            <a:fld id="{28FC78BE-84F6-4F5F-974A-47A573FE2857}" type="slidenum">
              <a:rPr lang="en-US" smtClean="0"/>
              <a:pPr/>
              <a:t>11</a:t>
            </a:fld>
            <a:endParaRPr lang="en-US"/>
          </a:p>
        </p:txBody>
      </p:sp>
    </p:spTree>
    <p:extLst>
      <p:ext uri="{BB962C8B-B14F-4D97-AF65-F5344CB8AC3E}">
        <p14:creationId xmlns:p14="http://schemas.microsoft.com/office/powerpoint/2010/main" val="635341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2D0F3-D2C6-2B89-F5AA-733624580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AC01C0-7E58-B924-E57C-47764F8BE5D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831CF1-A2CD-841C-BED7-838EF2CB36A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0B101B4-B5EB-F7E4-C5E4-E8674D4127C9}"/>
              </a:ext>
            </a:extLst>
          </p:cNvPr>
          <p:cNvSpPr>
            <a:spLocks noGrp="1"/>
          </p:cNvSpPr>
          <p:nvPr>
            <p:ph type="sldNum" sz="quarter" idx="5"/>
          </p:nvPr>
        </p:nvSpPr>
        <p:spPr/>
        <p:txBody>
          <a:bodyPr/>
          <a:lstStyle/>
          <a:p>
            <a:fld id="{28FC78BE-84F6-4F5F-974A-47A573FE2857}" type="slidenum">
              <a:rPr lang="en-US" smtClean="0"/>
              <a:pPr/>
              <a:t>12</a:t>
            </a:fld>
            <a:endParaRPr lang="en-US"/>
          </a:p>
        </p:txBody>
      </p:sp>
    </p:spTree>
    <p:extLst>
      <p:ext uri="{BB962C8B-B14F-4D97-AF65-F5344CB8AC3E}">
        <p14:creationId xmlns:p14="http://schemas.microsoft.com/office/powerpoint/2010/main" val="3961922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CC8F0-ABF1-8927-EF3C-A3282B9FBB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515C9-B5EE-6F83-8D89-C86F002DD3C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DBF70C8-8450-6B64-AAD8-BEDC1C80774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735D0A7-8C6F-58CB-D7BC-452E823E5969}"/>
              </a:ext>
            </a:extLst>
          </p:cNvPr>
          <p:cNvSpPr>
            <a:spLocks noGrp="1"/>
          </p:cNvSpPr>
          <p:nvPr>
            <p:ph type="sldNum" sz="quarter" idx="5"/>
          </p:nvPr>
        </p:nvSpPr>
        <p:spPr/>
        <p:txBody>
          <a:bodyPr/>
          <a:lstStyle/>
          <a:p>
            <a:fld id="{28FC78BE-84F6-4F5F-974A-47A573FE2857}" type="slidenum">
              <a:rPr lang="en-US" smtClean="0"/>
              <a:pPr/>
              <a:t>13</a:t>
            </a:fld>
            <a:endParaRPr lang="en-US"/>
          </a:p>
        </p:txBody>
      </p:sp>
    </p:spTree>
    <p:extLst>
      <p:ext uri="{BB962C8B-B14F-4D97-AF65-F5344CB8AC3E}">
        <p14:creationId xmlns:p14="http://schemas.microsoft.com/office/powerpoint/2010/main" val="3380431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37923-37E5-3497-5354-A2E9D162DE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0B422E-583F-7185-5B53-27BAFAE326C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53B24B5-A2B9-33AF-C83B-7CF21DB4668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14C076F-EE8E-2776-A17A-D7C8558B5E09}"/>
              </a:ext>
            </a:extLst>
          </p:cNvPr>
          <p:cNvSpPr>
            <a:spLocks noGrp="1"/>
          </p:cNvSpPr>
          <p:nvPr>
            <p:ph type="sldNum" sz="quarter" idx="5"/>
          </p:nvPr>
        </p:nvSpPr>
        <p:spPr/>
        <p:txBody>
          <a:bodyPr/>
          <a:lstStyle/>
          <a:p>
            <a:fld id="{28FC78BE-84F6-4F5F-974A-47A573FE2857}" type="slidenum">
              <a:rPr lang="en-US" smtClean="0"/>
              <a:pPr/>
              <a:t>14</a:t>
            </a:fld>
            <a:endParaRPr lang="en-US"/>
          </a:p>
        </p:txBody>
      </p:sp>
    </p:spTree>
    <p:extLst>
      <p:ext uri="{BB962C8B-B14F-4D97-AF65-F5344CB8AC3E}">
        <p14:creationId xmlns:p14="http://schemas.microsoft.com/office/powerpoint/2010/main" val="36055326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C8ED2-D55A-E0F1-2751-F99C3C3FCC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F4419F-21EE-D865-9579-800CAA56A76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A14027D-7E17-3FB2-5A51-DABE6ECC24F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7B399C3-2C10-4A0E-2413-3A8798451689}"/>
              </a:ext>
            </a:extLst>
          </p:cNvPr>
          <p:cNvSpPr>
            <a:spLocks noGrp="1"/>
          </p:cNvSpPr>
          <p:nvPr>
            <p:ph type="sldNum" sz="quarter" idx="5"/>
          </p:nvPr>
        </p:nvSpPr>
        <p:spPr/>
        <p:txBody>
          <a:bodyPr/>
          <a:lstStyle/>
          <a:p>
            <a:fld id="{28FC78BE-84F6-4F5F-974A-47A573FE2857}" type="slidenum">
              <a:rPr lang="en-US" smtClean="0"/>
              <a:pPr/>
              <a:t>15</a:t>
            </a:fld>
            <a:endParaRPr lang="en-US"/>
          </a:p>
        </p:txBody>
      </p:sp>
    </p:spTree>
    <p:extLst>
      <p:ext uri="{BB962C8B-B14F-4D97-AF65-F5344CB8AC3E}">
        <p14:creationId xmlns:p14="http://schemas.microsoft.com/office/powerpoint/2010/main" val="28787630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DC90F-F44D-29A2-BDE4-0BED1825F3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FDDD7B-0DED-B201-1F45-73462E18DF0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009B333-77B2-13F0-9A6B-1504727BEF2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1B1A653-1C96-0B8F-A9E5-768E77B8B505}"/>
              </a:ext>
            </a:extLst>
          </p:cNvPr>
          <p:cNvSpPr>
            <a:spLocks noGrp="1"/>
          </p:cNvSpPr>
          <p:nvPr>
            <p:ph type="sldNum" sz="quarter" idx="5"/>
          </p:nvPr>
        </p:nvSpPr>
        <p:spPr/>
        <p:txBody>
          <a:bodyPr/>
          <a:lstStyle/>
          <a:p>
            <a:fld id="{28FC78BE-84F6-4F5F-974A-47A573FE2857}" type="slidenum">
              <a:rPr lang="en-US" smtClean="0"/>
              <a:pPr/>
              <a:t>16</a:t>
            </a:fld>
            <a:endParaRPr lang="en-US"/>
          </a:p>
        </p:txBody>
      </p:sp>
    </p:spTree>
    <p:extLst>
      <p:ext uri="{BB962C8B-B14F-4D97-AF65-F5344CB8AC3E}">
        <p14:creationId xmlns:p14="http://schemas.microsoft.com/office/powerpoint/2010/main" val="9549500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F2D3D-DEFD-BE37-9DEC-B8A989761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E7D838-0D64-0427-DA0D-A2179AA510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ABB027-C464-A310-DEA1-03B68387A3D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65C58AF-68A4-D3AC-3611-12D8A6A8B827}"/>
              </a:ext>
            </a:extLst>
          </p:cNvPr>
          <p:cNvSpPr>
            <a:spLocks noGrp="1"/>
          </p:cNvSpPr>
          <p:nvPr>
            <p:ph type="sldNum" sz="quarter" idx="5"/>
          </p:nvPr>
        </p:nvSpPr>
        <p:spPr/>
        <p:txBody>
          <a:bodyPr/>
          <a:lstStyle/>
          <a:p>
            <a:fld id="{28FC78BE-84F6-4F5F-974A-47A573FE2857}" type="slidenum">
              <a:rPr lang="en-US" smtClean="0"/>
              <a:pPr/>
              <a:t>17</a:t>
            </a:fld>
            <a:endParaRPr lang="en-US"/>
          </a:p>
        </p:txBody>
      </p:sp>
    </p:spTree>
    <p:extLst>
      <p:ext uri="{BB962C8B-B14F-4D97-AF65-F5344CB8AC3E}">
        <p14:creationId xmlns:p14="http://schemas.microsoft.com/office/powerpoint/2010/main" val="35397511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89C3D-57EE-9699-6989-8A3D0FAC8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A04C80-EA60-CAAE-29DD-D6823BF4804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7660D1-B45A-8949-6A4B-7539BDB30C0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2D58BDF-B5A9-6756-3782-A0459CCD24B3}"/>
              </a:ext>
            </a:extLst>
          </p:cNvPr>
          <p:cNvSpPr>
            <a:spLocks noGrp="1"/>
          </p:cNvSpPr>
          <p:nvPr>
            <p:ph type="sldNum" sz="quarter" idx="5"/>
          </p:nvPr>
        </p:nvSpPr>
        <p:spPr/>
        <p:txBody>
          <a:bodyPr/>
          <a:lstStyle/>
          <a:p>
            <a:fld id="{28FC78BE-84F6-4F5F-974A-47A573FE2857}" type="slidenum">
              <a:rPr lang="en-US" smtClean="0"/>
              <a:pPr/>
              <a:t>18</a:t>
            </a:fld>
            <a:endParaRPr lang="en-US"/>
          </a:p>
        </p:txBody>
      </p:sp>
    </p:spTree>
    <p:extLst>
      <p:ext uri="{BB962C8B-B14F-4D97-AF65-F5344CB8AC3E}">
        <p14:creationId xmlns:p14="http://schemas.microsoft.com/office/powerpoint/2010/main" val="25477554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20AAC-C67E-FB0A-388E-970D2DB4E2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36A74-09A0-2823-7E3A-DB285631FC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BE9456E-684D-4D75-8A49-2C201729F27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958CF9-93E6-DEC4-8CC9-49573E2F5A6B}"/>
              </a:ext>
            </a:extLst>
          </p:cNvPr>
          <p:cNvSpPr>
            <a:spLocks noGrp="1"/>
          </p:cNvSpPr>
          <p:nvPr>
            <p:ph type="sldNum" sz="quarter" idx="5"/>
          </p:nvPr>
        </p:nvSpPr>
        <p:spPr/>
        <p:txBody>
          <a:bodyPr/>
          <a:lstStyle/>
          <a:p>
            <a:fld id="{28FC78BE-84F6-4F5F-974A-47A573FE2857}" type="slidenum">
              <a:rPr lang="en-US" smtClean="0"/>
              <a:pPr/>
              <a:t>19</a:t>
            </a:fld>
            <a:endParaRPr lang="en-US"/>
          </a:p>
        </p:txBody>
      </p:sp>
    </p:spTree>
    <p:extLst>
      <p:ext uri="{BB962C8B-B14F-4D97-AF65-F5344CB8AC3E}">
        <p14:creationId xmlns:p14="http://schemas.microsoft.com/office/powerpoint/2010/main" val="13021777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111A1-A520-6692-8AC1-CDC7B8697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998781-0784-8373-21DB-C5C195012B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BE8905-08AD-438F-53A3-37CB8C43C2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6CFDA5-D29B-387A-9E5A-1B66C39578A1}"/>
              </a:ext>
            </a:extLst>
          </p:cNvPr>
          <p:cNvSpPr>
            <a:spLocks noGrp="1"/>
          </p:cNvSpPr>
          <p:nvPr>
            <p:ph type="sldNum" sz="quarter" idx="5"/>
          </p:nvPr>
        </p:nvSpPr>
        <p:spPr/>
        <p:txBody>
          <a:bodyPr/>
          <a:lstStyle/>
          <a:p>
            <a:fld id="{28FC78BE-84F6-4F5F-974A-47A573FE2857}" type="slidenum">
              <a:rPr lang="en-US" smtClean="0"/>
              <a:pPr/>
              <a:t>20</a:t>
            </a:fld>
            <a:endParaRPr lang="en-US"/>
          </a:p>
        </p:txBody>
      </p:sp>
    </p:spTree>
    <p:extLst>
      <p:ext uri="{BB962C8B-B14F-4D97-AF65-F5344CB8AC3E}">
        <p14:creationId xmlns:p14="http://schemas.microsoft.com/office/powerpoint/2010/main" val="2546710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AB15E-9A7F-FCD9-48D1-FC1D222F3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FC4A89-68BA-2E66-DB4C-397ED29C3F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B34D1B8-84DE-DB65-0BFE-BF8E85C5887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A76E776-2471-C5F3-47C9-F931D67E0E4E}"/>
              </a:ext>
            </a:extLst>
          </p:cNvPr>
          <p:cNvSpPr>
            <a:spLocks noGrp="1"/>
          </p:cNvSpPr>
          <p:nvPr>
            <p:ph type="sldNum" sz="quarter" idx="5"/>
          </p:nvPr>
        </p:nvSpPr>
        <p:spPr/>
        <p:txBody>
          <a:bodyPr/>
          <a:lstStyle/>
          <a:p>
            <a:fld id="{28FC78BE-84F6-4F5F-974A-47A573FE2857}" type="slidenum">
              <a:rPr lang="en-US" smtClean="0"/>
              <a:pPr/>
              <a:t>21</a:t>
            </a:fld>
            <a:endParaRPr lang="en-US"/>
          </a:p>
        </p:txBody>
      </p:sp>
    </p:spTree>
    <p:extLst>
      <p:ext uri="{BB962C8B-B14F-4D97-AF65-F5344CB8AC3E}">
        <p14:creationId xmlns:p14="http://schemas.microsoft.com/office/powerpoint/2010/main" val="23213848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2CB5B-8F5D-ADA0-3C19-365E07DCC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8D212-2CAD-08F7-F6EE-71FC8B0A88B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6D7D26-3872-1F5B-96C7-6313F7D60C5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B9CC9E5-6F81-FF5E-FD0C-19316F06B2B0}"/>
              </a:ext>
            </a:extLst>
          </p:cNvPr>
          <p:cNvSpPr>
            <a:spLocks noGrp="1"/>
          </p:cNvSpPr>
          <p:nvPr>
            <p:ph type="sldNum" sz="quarter" idx="5"/>
          </p:nvPr>
        </p:nvSpPr>
        <p:spPr/>
        <p:txBody>
          <a:bodyPr/>
          <a:lstStyle/>
          <a:p>
            <a:fld id="{28FC78BE-84F6-4F5F-974A-47A573FE2857}" type="slidenum">
              <a:rPr lang="en-US" smtClean="0"/>
              <a:pPr/>
              <a:t>22</a:t>
            </a:fld>
            <a:endParaRPr lang="en-US"/>
          </a:p>
        </p:txBody>
      </p:sp>
    </p:spTree>
    <p:extLst>
      <p:ext uri="{BB962C8B-B14F-4D97-AF65-F5344CB8AC3E}">
        <p14:creationId xmlns:p14="http://schemas.microsoft.com/office/powerpoint/2010/main" val="3909695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F6F7E-009E-BFEB-C37A-2A9E516A09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BC02FF5-9A92-4590-E2E2-33E7F47C5A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F20DF9E-A7DD-B54B-A0E5-A59199D69200}"/>
              </a:ext>
            </a:extLst>
          </p:cNvPr>
          <p:cNvSpPr>
            <a:spLocks noGrp="1"/>
          </p:cNvSpPr>
          <p:nvPr>
            <p:ph type="dt" sz="half" idx="10"/>
          </p:nvPr>
        </p:nvSpPr>
        <p:spPr/>
        <p:txBody>
          <a:bodyPr/>
          <a:lstStyle/>
          <a:p>
            <a:fld id="{0DBB0E7A-691A-49A6-B1F0-D26B85CC67C5}" type="datetimeFigureOut">
              <a:rPr lang="en-IN" smtClean="0"/>
              <a:t>11-02-2026</a:t>
            </a:fld>
            <a:endParaRPr lang="en-IN"/>
          </a:p>
        </p:txBody>
      </p:sp>
      <p:sp>
        <p:nvSpPr>
          <p:cNvPr id="5" name="Footer Placeholder 4">
            <a:extLst>
              <a:ext uri="{FF2B5EF4-FFF2-40B4-BE49-F238E27FC236}">
                <a16:creationId xmlns:a16="http://schemas.microsoft.com/office/drawing/2014/main" id="{E09522FE-8A63-70C2-0F76-3EC4F380E2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B10ABB-CAC6-AD9E-CA16-FB6199953A26}"/>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2351711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4597-D753-A1CA-05B9-5A5ADCE9F5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5A4807-4949-70BC-EFC5-B444189393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DF9EF5-B53B-B8F3-73B5-52A785B100C6}"/>
              </a:ext>
            </a:extLst>
          </p:cNvPr>
          <p:cNvSpPr>
            <a:spLocks noGrp="1"/>
          </p:cNvSpPr>
          <p:nvPr>
            <p:ph type="dt" sz="half" idx="10"/>
          </p:nvPr>
        </p:nvSpPr>
        <p:spPr/>
        <p:txBody>
          <a:bodyPr/>
          <a:lstStyle/>
          <a:p>
            <a:fld id="{0DBB0E7A-691A-49A6-B1F0-D26B85CC67C5}" type="datetimeFigureOut">
              <a:rPr lang="en-IN" smtClean="0"/>
              <a:t>11-02-2026</a:t>
            </a:fld>
            <a:endParaRPr lang="en-IN"/>
          </a:p>
        </p:txBody>
      </p:sp>
      <p:sp>
        <p:nvSpPr>
          <p:cNvPr id="5" name="Footer Placeholder 4">
            <a:extLst>
              <a:ext uri="{FF2B5EF4-FFF2-40B4-BE49-F238E27FC236}">
                <a16:creationId xmlns:a16="http://schemas.microsoft.com/office/drawing/2014/main" id="{81AF9B32-693D-5F55-2E4B-7C44ECE050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64B629-26AE-31C4-D4E2-81E34ED02845}"/>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4128974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00E81-FD43-9FC5-F4AD-A2B229B84E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949C76D-CCF2-463B-BE19-8E421E963D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424B7A-388E-E53A-F1AC-25B0CC00393A}"/>
              </a:ext>
            </a:extLst>
          </p:cNvPr>
          <p:cNvSpPr>
            <a:spLocks noGrp="1"/>
          </p:cNvSpPr>
          <p:nvPr>
            <p:ph type="dt" sz="half" idx="10"/>
          </p:nvPr>
        </p:nvSpPr>
        <p:spPr/>
        <p:txBody>
          <a:bodyPr/>
          <a:lstStyle/>
          <a:p>
            <a:fld id="{0DBB0E7A-691A-49A6-B1F0-D26B85CC67C5}" type="datetimeFigureOut">
              <a:rPr lang="en-IN" smtClean="0"/>
              <a:t>11-02-2026</a:t>
            </a:fld>
            <a:endParaRPr lang="en-IN"/>
          </a:p>
        </p:txBody>
      </p:sp>
      <p:sp>
        <p:nvSpPr>
          <p:cNvPr id="5" name="Footer Placeholder 4">
            <a:extLst>
              <a:ext uri="{FF2B5EF4-FFF2-40B4-BE49-F238E27FC236}">
                <a16:creationId xmlns:a16="http://schemas.microsoft.com/office/drawing/2014/main" id="{242EB7DA-648F-9CF9-DF59-8A29F189CD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F946B1-3E4E-9BF8-703E-60C10B5BFBBB}"/>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3110374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5C39D-9057-836C-6367-9778DBD84C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3CDBB5-5F5F-E8C3-20EE-32D4EF0F7E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3ACF99-01ED-9A6C-032E-EC0D6A675A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850886-5085-8914-5DF8-5D9C52AF2049}"/>
              </a:ext>
            </a:extLst>
          </p:cNvPr>
          <p:cNvSpPr>
            <a:spLocks noGrp="1"/>
          </p:cNvSpPr>
          <p:nvPr>
            <p:ph type="dt" sz="half" idx="10"/>
          </p:nvPr>
        </p:nvSpPr>
        <p:spPr/>
        <p:txBody>
          <a:bodyPr/>
          <a:lstStyle/>
          <a:p>
            <a:fld id="{0DBB0E7A-691A-49A6-B1F0-D26B85CC67C5}" type="datetimeFigureOut">
              <a:rPr lang="en-IN" smtClean="0"/>
              <a:t>11-02-2026</a:t>
            </a:fld>
            <a:endParaRPr lang="en-IN"/>
          </a:p>
        </p:txBody>
      </p:sp>
      <p:sp>
        <p:nvSpPr>
          <p:cNvPr id="6" name="Footer Placeholder 5">
            <a:extLst>
              <a:ext uri="{FF2B5EF4-FFF2-40B4-BE49-F238E27FC236}">
                <a16:creationId xmlns:a16="http://schemas.microsoft.com/office/drawing/2014/main" id="{58D53C6E-B8BA-1EDC-9109-612032209B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7E7F3E-CA8E-CA1B-CE29-61DCCC82242E}"/>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1225073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1C53A-BAAB-36AE-0B5E-A91A98C7C4B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F42C93B-7E17-7D21-3E55-C0B3947BC9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FC7ACA-5A04-6C78-7C46-24DD0641E9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C1DB73-95E0-2CA5-1FAA-485060D454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68570A-C147-361A-270A-350B68584F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514703-0378-48EB-2D1D-7F4922945BE0}"/>
              </a:ext>
            </a:extLst>
          </p:cNvPr>
          <p:cNvSpPr>
            <a:spLocks noGrp="1"/>
          </p:cNvSpPr>
          <p:nvPr>
            <p:ph type="dt" sz="half" idx="10"/>
          </p:nvPr>
        </p:nvSpPr>
        <p:spPr/>
        <p:txBody>
          <a:bodyPr/>
          <a:lstStyle/>
          <a:p>
            <a:fld id="{0DBB0E7A-691A-49A6-B1F0-D26B85CC67C5}" type="datetimeFigureOut">
              <a:rPr lang="en-IN" smtClean="0"/>
              <a:t>11-02-2026</a:t>
            </a:fld>
            <a:endParaRPr lang="en-IN"/>
          </a:p>
        </p:txBody>
      </p:sp>
      <p:sp>
        <p:nvSpPr>
          <p:cNvPr id="8" name="Footer Placeholder 7">
            <a:extLst>
              <a:ext uri="{FF2B5EF4-FFF2-40B4-BE49-F238E27FC236}">
                <a16:creationId xmlns:a16="http://schemas.microsoft.com/office/drawing/2014/main" id="{7F2EE4F8-A60F-D9F9-CAAE-32AE0FE6C0D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F31DA8-888B-D212-D220-7AEE167D207F}"/>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1056068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BD602-B283-69F3-F102-395D730BCB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86205C-4426-9929-8251-ADEBC079F9FE}"/>
              </a:ext>
            </a:extLst>
          </p:cNvPr>
          <p:cNvSpPr>
            <a:spLocks noGrp="1"/>
          </p:cNvSpPr>
          <p:nvPr>
            <p:ph type="dt" sz="half" idx="10"/>
          </p:nvPr>
        </p:nvSpPr>
        <p:spPr/>
        <p:txBody>
          <a:bodyPr/>
          <a:lstStyle/>
          <a:p>
            <a:fld id="{0DBB0E7A-691A-49A6-B1F0-D26B85CC67C5}" type="datetimeFigureOut">
              <a:rPr lang="en-IN" smtClean="0"/>
              <a:t>11-02-2026</a:t>
            </a:fld>
            <a:endParaRPr lang="en-IN"/>
          </a:p>
        </p:txBody>
      </p:sp>
      <p:sp>
        <p:nvSpPr>
          <p:cNvPr id="4" name="Footer Placeholder 3">
            <a:extLst>
              <a:ext uri="{FF2B5EF4-FFF2-40B4-BE49-F238E27FC236}">
                <a16:creationId xmlns:a16="http://schemas.microsoft.com/office/drawing/2014/main" id="{EA5E2032-F457-1054-AF89-9E900A75BAA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B669171-D6D6-D6A4-865E-791B889C33DC}"/>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2769391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123FBE-12D0-2517-ECEA-C2A93913C694}"/>
              </a:ext>
            </a:extLst>
          </p:cNvPr>
          <p:cNvSpPr>
            <a:spLocks noGrp="1"/>
          </p:cNvSpPr>
          <p:nvPr>
            <p:ph type="dt" sz="half" idx="10"/>
          </p:nvPr>
        </p:nvSpPr>
        <p:spPr/>
        <p:txBody>
          <a:bodyPr/>
          <a:lstStyle/>
          <a:p>
            <a:fld id="{0DBB0E7A-691A-49A6-B1F0-D26B85CC67C5}" type="datetimeFigureOut">
              <a:rPr lang="en-IN" smtClean="0"/>
              <a:t>11-02-2026</a:t>
            </a:fld>
            <a:endParaRPr lang="en-IN"/>
          </a:p>
        </p:txBody>
      </p:sp>
      <p:sp>
        <p:nvSpPr>
          <p:cNvPr id="3" name="Footer Placeholder 2">
            <a:extLst>
              <a:ext uri="{FF2B5EF4-FFF2-40B4-BE49-F238E27FC236}">
                <a16:creationId xmlns:a16="http://schemas.microsoft.com/office/drawing/2014/main" id="{1EC080F8-8229-8E1D-A8E8-B2BAED6914C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1AA8199-F2CE-D464-414C-2E2D7A82C1F4}"/>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2684102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4E41D-E09A-1D31-FB44-60F73D02CB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6588AB-C354-920D-B642-C4B72AB852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0973447-B6B5-C20E-F555-CA3739B36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34B233-B9EF-274E-C5B1-1EEA34D889DC}"/>
              </a:ext>
            </a:extLst>
          </p:cNvPr>
          <p:cNvSpPr>
            <a:spLocks noGrp="1"/>
          </p:cNvSpPr>
          <p:nvPr>
            <p:ph type="dt" sz="half" idx="10"/>
          </p:nvPr>
        </p:nvSpPr>
        <p:spPr/>
        <p:txBody>
          <a:bodyPr/>
          <a:lstStyle/>
          <a:p>
            <a:fld id="{0DBB0E7A-691A-49A6-B1F0-D26B85CC67C5}" type="datetimeFigureOut">
              <a:rPr lang="en-IN" smtClean="0"/>
              <a:t>11-02-2026</a:t>
            </a:fld>
            <a:endParaRPr lang="en-IN"/>
          </a:p>
        </p:txBody>
      </p:sp>
      <p:sp>
        <p:nvSpPr>
          <p:cNvPr id="6" name="Footer Placeholder 5">
            <a:extLst>
              <a:ext uri="{FF2B5EF4-FFF2-40B4-BE49-F238E27FC236}">
                <a16:creationId xmlns:a16="http://schemas.microsoft.com/office/drawing/2014/main" id="{F06EA7E9-8413-1CD1-55DD-201B4D9E36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8FDE02-D27A-3007-13F6-CD5FB6C38897}"/>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843957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3EE92-0673-8D5D-7692-90E81C7DC8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55F483E-1BDD-55E7-3E4A-2AEC00E970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562A7BCD-37E6-6317-FB10-B6DF6F233B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A8DDD7-D562-A017-7B16-F96DDF88734D}"/>
              </a:ext>
            </a:extLst>
          </p:cNvPr>
          <p:cNvSpPr>
            <a:spLocks noGrp="1"/>
          </p:cNvSpPr>
          <p:nvPr>
            <p:ph type="dt" sz="half" idx="10"/>
          </p:nvPr>
        </p:nvSpPr>
        <p:spPr/>
        <p:txBody>
          <a:bodyPr/>
          <a:lstStyle/>
          <a:p>
            <a:fld id="{0DBB0E7A-691A-49A6-B1F0-D26B85CC67C5}" type="datetimeFigureOut">
              <a:rPr lang="en-IN" smtClean="0"/>
              <a:t>11-02-2026</a:t>
            </a:fld>
            <a:endParaRPr lang="en-IN"/>
          </a:p>
        </p:txBody>
      </p:sp>
      <p:sp>
        <p:nvSpPr>
          <p:cNvPr id="6" name="Footer Placeholder 5">
            <a:extLst>
              <a:ext uri="{FF2B5EF4-FFF2-40B4-BE49-F238E27FC236}">
                <a16:creationId xmlns:a16="http://schemas.microsoft.com/office/drawing/2014/main" id="{3FAEF617-63EE-1855-FA6E-75A1C1AC81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DD47F0-8385-DC86-88B5-9692CB7FDF2A}"/>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1750975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AD632-7E92-D52D-7A8F-3F71DB4246A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62D827-BAA4-987D-E6DE-7106860D43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6399DE-B890-3A55-0DD8-09032516342D}"/>
              </a:ext>
            </a:extLst>
          </p:cNvPr>
          <p:cNvSpPr>
            <a:spLocks noGrp="1"/>
          </p:cNvSpPr>
          <p:nvPr>
            <p:ph type="dt" sz="half" idx="10"/>
          </p:nvPr>
        </p:nvSpPr>
        <p:spPr/>
        <p:txBody>
          <a:bodyPr/>
          <a:lstStyle/>
          <a:p>
            <a:fld id="{0DBB0E7A-691A-49A6-B1F0-D26B85CC67C5}" type="datetimeFigureOut">
              <a:rPr lang="en-IN" smtClean="0"/>
              <a:t>11-02-2026</a:t>
            </a:fld>
            <a:endParaRPr lang="en-IN"/>
          </a:p>
        </p:txBody>
      </p:sp>
      <p:sp>
        <p:nvSpPr>
          <p:cNvPr id="5" name="Footer Placeholder 4">
            <a:extLst>
              <a:ext uri="{FF2B5EF4-FFF2-40B4-BE49-F238E27FC236}">
                <a16:creationId xmlns:a16="http://schemas.microsoft.com/office/drawing/2014/main" id="{4E36BE0A-3D2E-123E-22B6-F09E129BB7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44216D-D689-A634-8DC9-7EF2F0FA3E68}"/>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3687086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965D50-FFFC-196D-9962-0C5A16F87F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DF1AFF-34F0-9FF7-0824-FF83B057DE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764F87-4FFF-D541-815C-42DAF5BED3B9}"/>
              </a:ext>
            </a:extLst>
          </p:cNvPr>
          <p:cNvSpPr>
            <a:spLocks noGrp="1"/>
          </p:cNvSpPr>
          <p:nvPr>
            <p:ph type="dt" sz="half" idx="10"/>
          </p:nvPr>
        </p:nvSpPr>
        <p:spPr/>
        <p:txBody>
          <a:bodyPr/>
          <a:lstStyle/>
          <a:p>
            <a:fld id="{0DBB0E7A-691A-49A6-B1F0-D26B85CC67C5}" type="datetimeFigureOut">
              <a:rPr lang="en-IN" smtClean="0"/>
              <a:t>11-02-2026</a:t>
            </a:fld>
            <a:endParaRPr lang="en-IN"/>
          </a:p>
        </p:txBody>
      </p:sp>
      <p:sp>
        <p:nvSpPr>
          <p:cNvPr id="5" name="Footer Placeholder 4">
            <a:extLst>
              <a:ext uri="{FF2B5EF4-FFF2-40B4-BE49-F238E27FC236}">
                <a16:creationId xmlns:a16="http://schemas.microsoft.com/office/drawing/2014/main" id="{8CB531E4-DE51-5AF5-0ABC-BC4518D7E6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02BC8F-8BC9-FC4C-66C3-30DFEFE67BAE}"/>
              </a:ext>
            </a:extLst>
          </p:cNvPr>
          <p:cNvSpPr>
            <a:spLocks noGrp="1"/>
          </p:cNvSpPr>
          <p:nvPr>
            <p:ph type="sldNum" sz="quarter" idx="12"/>
          </p:nvPr>
        </p:nvSpPr>
        <p:spPr/>
        <p:txBody>
          <a:bodyPr/>
          <a:lstStyle/>
          <a:p>
            <a:fld id="{0C2E5909-80DD-4F63-A607-40297820B079}" type="slidenum">
              <a:rPr lang="en-IN" smtClean="0"/>
              <a:t>‹#›</a:t>
            </a:fld>
            <a:endParaRPr lang="en-IN"/>
          </a:p>
        </p:txBody>
      </p:sp>
    </p:spTree>
    <p:extLst>
      <p:ext uri="{BB962C8B-B14F-4D97-AF65-F5344CB8AC3E}">
        <p14:creationId xmlns:p14="http://schemas.microsoft.com/office/powerpoint/2010/main" val="317900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916571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D2C521-2D18-7140-975B-85EDC255C1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3C7CA4-1941-1257-05C4-C154515585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35C15F-01C2-3D60-D347-02F1C92780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B0E7A-691A-49A6-B1F0-D26B85CC67C5}" type="datetimeFigureOut">
              <a:rPr lang="en-IN" smtClean="0"/>
              <a:t>11-02-2026</a:t>
            </a:fld>
            <a:endParaRPr lang="en-IN"/>
          </a:p>
        </p:txBody>
      </p:sp>
      <p:sp>
        <p:nvSpPr>
          <p:cNvPr id="5" name="Footer Placeholder 4">
            <a:extLst>
              <a:ext uri="{FF2B5EF4-FFF2-40B4-BE49-F238E27FC236}">
                <a16:creationId xmlns:a16="http://schemas.microsoft.com/office/drawing/2014/main" id="{140CA51C-EBAC-AA2A-45C3-CC89F7DA24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716D6D1-6109-0C99-439D-DDDA7E1A85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2E5909-80DD-4F63-A607-40297820B079}" type="slidenum">
              <a:rPr lang="en-IN" smtClean="0"/>
              <a:t>‹#›</a:t>
            </a:fld>
            <a:endParaRPr lang="en-IN"/>
          </a:p>
        </p:txBody>
      </p:sp>
    </p:spTree>
    <p:extLst>
      <p:ext uri="{BB962C8B-B14F-4D97-AF65-F5344CB8AC3E}">
        <p14:creationId xmlns:p14="http://schemas.microsoft.com/office/powerpoint/2010/main" val="1563492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77240" y="6634440"/>
            <a:ext cx="11414760" cy="223520"/>
            <a:chOff x="777240" y="6634440"/>
            <a:chExt cx="11414760" cy="223520"/>
          </a:xfrm>
        </p:grpSpPr>
        <p:sp>
          <p:nvSpPr>
            <p:cNvPr id="3" name="object 3"/>
            <p:cNvSpPr/>
            <p:nvPr/>
          </p:nvSpPr>
          <p:spPr>
            <a:xfrm>
              <a:off x="777240" y="6634440"/>
              <a:ext cx="5781675" cy="220979"/>
            </a:xfrm>
            <a:custGeom>
              <a:avLst/>
              <a:gdLst/>
              <a:ahLst/>
              <a:cxnLst/>
              <a:rect l="l" t="t" r="r" b="b"/>
              <a:pathLst>
                <a:path w="5781675" h="220979">
                  <a:moveTo>
                    <a:pt x="5781599" y="220679"/>
                  </a:moveTo>
                  <a:lnTo>
                    <a:pt x="0" y="220679"/>
                  </a:lnTo>
                  <a:lnTo>
                    <a:pt x="0" y="0"/>
                  </a:lnTo>
                  <a:lnTo>
                    <a:pt x="5781599" y="0"/>
                  </a:lnTo>
                  <a:lnTo>
                    <a:pt x="5781599" y="220679"/>
                  </a:lnTo>
                  <a:close/>
                </a:path>
              </a:pathLst>
            </a:custGeom>
            <a:solidFill>
              <a:srgbClr val="002060"/>
            </a:solidFill>
          </p:spPr>
          <p:txBody>
            <a:bodyPr wrap="square" lIns="0" tIns="0" rIns="0" bIns="0" rtlCol="0"/>
            <a:lstStyle/>
            <a:p>
              <a:endParaRPr dirty="0"/>
            </a:p>
          </p:txBody>
        </p:sp>
        <p:sp>
          <p:nvSpPr>
            <p:cNvPr id="4" name="object 4"/>
            <p:cNvSpPr/>
            <p:nvPr/>
          </p:nvSpPr>
          <p:spPr>
            <a:xfrm>
              <a:off x="6559199" y="6634440"/>
              <a:ext cx="5194935" cy="220979"/>
            </a:xfrm>
            <a:custGeom>
              <a:avLst/>
              <a:gdLst/>
              <a:ahLst/>
              <a:cxnLst/>
              <a:rect l="l" t="t" r="r" b="b"/>
              <a:pathLst>
                <a:path w="5194934" h="220979">
                  <a:moveTo>
                    <a:pt x="5194799" y="220679"/>
                  </a:moveTo>
                  <a:lnTo>
                    <a:pt x="0" y="220679"/>
                  </a:lnTo>
                  <a:lnTo>
                    <a:pt x="0" y="0"/>
                  </a:lnTo>
                  <a:lnTo>
                    <a:pt x="5194799" y="0"/>
                  </a:lnTo>
                  <a:lnTo>
                    <a:pt x="5194799" y="220679"/>
                  </a:lnTo>
                  <a:close/>
                </a:path>
              </a:pathLst>
            </a:custGeom>
            <a:solidFill>
              <a:srgbClr val="008080"/>
            </a:solidFill>
          </p:spPr>
          <p:txBody>
            <a:bodyPr wrap="square" lIns="0" tIns="0" rIns="0" bIns="0" rtlCol="0"/>
            <a:lstStyle/>
            <a:p>
              <a:endParaRPr/>
            </a:p>
          </p:txBody>
        </p:sp>
        <p:sp>
          <p:nvSpPr>
            <p:cNvPr id="5" name="object 5"/>
            <p:cNvSpPr/>
            <p:nvPr/>
          </p:nvSpPr>
          <p:spPr>
            <a:xfrm>
              <a:off x="11754359" y="6636960"/>
              <a:ext cx="437515" cy="220979"/>
            </a:xfrm>
            <a:custGeom>
              <a:avLst/>
              <a:gdLst/>
              <a:ahLst/>
              <a:cxnLst/>
              <a:rect l="l" t="t" r="r" b="b"/>
              <a:pathLst>
                <a:path w="437515" h="220979">
                  <a:moveTo>
                    <a:pt x="437399" y="220679"/>
                  </a:moveTo>
                  <a:lnTo>
                    <a:pt x="0" y="220679"/>
                  </a:lnTo>
                  <a:lnTo>
                    <a:pt x="0" y="0"/>
                  </a:lnTo>
                  <a:lnTo>
                    <a:pt x="437399" y="0"/>
                  </a:lnTo>
                  <a:lnTo>
                    <a:pt x="437399" y="220679"/>
                  </a:lnTo>
                  <a:close/>
                </a:path>
              </a:pathLst>
            </a:custGeom>
            <a:solidFill>
              <a:srgbClr val="FFC000"/>
            </a:solidFill>
          </p:spPr>
          <p:txBody>
            <a:bodyPr wrap="square" lIns="0" tIns="0" rIns="0" bIns="0" rtlCol="0"/>
            <a:lstStyle/>
            <a:p>
              <a:endParaRPr/>
            </a:p>
          </p:txBody>
        </p:sp>
      </p:grpSp>
      <p:sp>
        <p:nvSpPr>
          <p:cNvPr id="6" name="object 6"/>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7" name="object 7"/>
          <p:cNvSpPr/>
          <p:nvPr/>
        </p:nvSpPr>
        <p:spPr>
          <a:xfrm>
            <a:off x="0" y="6634440"/>
            <a:ext cx="776956" cy="220979"/>
          </a:xfrm>
          <a:custGeom>
            <a:avLst/>
            <a:gdLst/>
            <a:ahLst/>
            <a:cxnLst/>
            <a:rect l="l" t="t" r="r" b="b"/>
            <a:pathLst>
              <a:path w="777240" h="221615">
                <a:moveTo>
                  <a:pt x="776879" y="221039"/>
                </a:moveTo>
                <a:lnTo>
                  <a:pt x="0" y="221039"/>
                </a:lnTo>
                <a:lnTo>
                  <a:pt x="0" y="0"/>
                </a:lnTo>
                <a:lnTo>
                  <a:pt x="776879" y="0"/>
                </a:lnTo>
                <a:lnTo>
                  <a:pt x="776879" y="221039"/>
                </a:lnTo>
                <a:close/>
              </a:path>
            </a:pathLst>
          </a:custGeom>
          <a:solidFill>
            <a:srgbClr val="C55A11"/>
          </a:solidFill>
        </p:spPr>
        <p:txBody>
          <a:bodyPr wrap="square" lIns="0" tIns="0" rIns="0" bIns="0" rtlCol="0"/>
          <a:lstStyle/>
          <a:p>
            <a:r>
              <a:rPr lang="en-IN" dirty="0"/>
              <a:t>    </a:t>
            </a:r>
            <a:r>
              <a:rPr lang="en-IN" dirty="0">
                <a:solidFill>
                  <a:schemeClr val="bg1"/>
                </a:solidFill>
                <a:latin typeface="Times New Roman" panose="02020603050405020304" pitchFamily="18" charset="0"/>
                <a:cs typeface="Times New Roman" panose="02020603050405020304" pitchFamily="18" charset="0"/>
              </a:rPr>
              <a:t>B18</a:t>
            </a:r>
            <a:endParaRPr dirty="0">
              <a:solidFill>
                <a:schemeClr val="bg1"/>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3581401" y="1708363"/>
            <a:ext cx="4038600" cy="442685"/>
          </a:xfrm>
          <a:prstGeom prst="rect">
            <a:avLst/>
          </a:prstGeom>
        </p:spPr>
        <p:txBody>
          <a:bodyPr vert="horz" wrap="square" lIns="0" tIns="13335" rIns="0" bIns="0" rtlCol="0">
            <a:spAutoFit/>
          </a:bodyPr>
          <a:lstStyle/>
          <a:p>
            <a:pPr algn="ctr">
              <a:lnSpc>
                <a:spcPts val="2080"/>
              </a:lnSpc>
              <a:spcBef>
                <a:spcPts val="105"/>
              </a:spcBef>
            </a:pPr>
            <a:r>
              <a:rPr lang="en-IN" sz="1750" dirty="0">
                <a:latin typeface="Times New Roman"/>
                <a:cs typeface="Times New Roman"/>
              </a:rPr>
              <a:t>P. MAHAMMED THANVEER</a:t>
            </a:r>
          </a:p>
          <a:p>
            <a:pPr marL="635" algn="ctr">
              <a:lnSpc>
                <a:spcPts val="1060"/>
              </a:lnSpc>
            </a:pPr>
            <a:r>
              <a:rPr sz="1600" dirty="0">
                <a:latin typeface="Times New Roman"/>
                <a:cs typeface="Times New Roman"/>
              </a:rPr>
              <a:t>Roll</a:t>
            </a:r>
            <a:r>
              <a:rPr sz="1600" spc="5" dirty="0">
                <a:latin typeface="Times New Roman"/>
                <a:cs typeface="Times New Roman"/>
              </a:rPr>
              <a:t> </a:t>
            </a:r>
            <a:r>
              <a:rPr sz="1600" dirty="0">
                <a:latin typeface="Times New Roman"/>
                <a:cs typeface="Times New Roman"/>
              </a:rPr>
              <a:t>No.</a:t>
            </a:r>
            <a:r>
              <a:rPr sz="1600" spc="5" dirty="0">
                <a:latin typeface="Times New Roman"/>
                <a:cs typeface="Times New Roman"/>
              </a:rPr>
              <a:t> </a:t>
            </a:r>
            <a:r>
              <a:rPr lang="en-IN" sz="1600" spc="-10" dirty="0">
                <a:latin typeface="Times New Roman"/>
                <a:cs typeface="Times New Roman"/>
              </a:rPr>
              <a:t>224G1A0546</a:t>
            </a:r>
            <a:endParaRPr sz="1600" dirty="0">
              <a:latin typeface="Times New Roman"/>
              <a:cs typeface="Times New Roman"/>
            </a:endParaRPr>
          </a:p>
        </p:txBody>
      </p:sp>
      <p:sp>
        <p:nvSpPr>
          <p:cNvPr id="9" name="object 9"/>
          <p:cNvSpPr txBox="1"/>
          <p:nvPr/>
        </p:nvSpPr>
        <p:spPr>
          <a:xfrm>
            <a:off x="3733800" y="2476799"/>
            <a:ext cx="4724400" cy="1320874"/>
          </a:xfrm>
          <a:prstGeom prst="rect">
            <a:avLst/>
          </a:prstGeom>
        </p:spPr>
        <p:txBody>
          <a:bodyPr vert="horz" wrap="square" lIns="0" tIns="12700" rIns="0" bIns="0" rtlCol="0">
            <a:spAutoFit/>
          </a:bodyPr>
          <a:lstStyle/>
          <a:p>
            <a:pPr marL="635" algn="ctr">
              <a:lnSpc>
                <a:spcPts val="1630"/>
              </a:lnSpc>
              <a:spcBef>
                <a:spcPts val="100"/>
              </a:spcBef>
            </a:pPr>
            <a:r>
              <a:rPr sz="1400" i="1" dirty="0">
                <a:latin typeface="Times New Roman"/>
                <a:cs typeface="Times New Roman"/>
              </a:rPr>
              <a:t>Under</a:t>
            </a:r>
            <a:r>
              <a:rPr sz="1400" i="1" spc="-35" dirty="0">
                <a:latin typeface="Times New Roman"/>
                <a:cs typeface="Times New Roman"/>
              </a:rPr>
              <a:t> </a:t>
            </a:r>
            <a:r>
              <a:rPr sz="1400" i="1" dirty="0">
                <a:latin typeface="Times New Roman"/>
                <a:cs typeface="Times New Roman"/>
              </a:rPr>
              <a:t>the</a:t>
            </a:r>
            <a:r>
              <a:rPr sz="1400" i="1" spc="-35" dirty="0">
                <a:latin typeface="Times New Roman"/>
                <a:cs typeface="Times New Roman"/>
              </a:rPr>
              <a:t> </a:t>
            </a:r>
            <a:r>
              <a:rPr sz="1400" i="1" spc="-10" dirty="0">
                <a:latin typeface="Times New Roman"/>
                <a:cs typeface="Times New Roman"/>
              </a:rPr>
              <a:t>guidance</a:t>
            </a:r>
            <a:r>
              <a:rPr sz="1400" i="1" spc="-35" dirty="0">
                <a:latin typeface="Times New Roman"/>
                <a:cs typeface="Times New Roman"/>
              </a:rPr>
              <a:t> </a:t>
            </a:r>
            <a:r>
              <a:rPr sz="1400" i="1" spc="-25" dirty="0">
                <a:latin typeface="Times New Roman"/>
                <a:cs typeface="Times New Roman"/>
              </a:rPr>
              <a:t>of</a:t>
            </a:r>
            <a:endParaRPr lang="en-IN" sz="1400" dirty="0">
              <a:latin typeface="Times New Roman"/>
              <a:cs typeface="Times New Roman"/>
            </a:endParaRPr>
          </a:p>
          <a:p>
            <a:pPr marL="12065" marR="5080" algn="ctr">
              <a:lnSpc>
                <a:spcPts val="2790"/>
              </a:lnSpc>
              <a:spcBef>
                <a:spcPts val="114"/>
              </a:spcBef>
            </a:pPr>
            <a:r>
              <a:rPr lang="en-IN" sz="2400" spc="-10" dirty="0">
                <a:latin typeface="Times New Roman"/>
                <a:cs typeface="Times New Roman"/>
              </a:rPr>
              <a:t>Mr. C. Sudheer Kumar, </a:t>
            </a:r>
            <a:r>
              <a:rPr lang="en-IN" sz="1400" spc="-10" dirty="0" err="1">
                <a:latin typeface="Times New Roman"/>
                <a:cs typeface="Times New Roman"/>
              </a:rPr>
              <a:t>M.Tech</a:t>
            </a:r>
            <a:r>
              <a:rPr lang="en-IN" sz="1400" spc="-10" dirty="0">
                <a:latin typeface="Times New Roman"/>
                <a:cs typeface="Times New Roman"/>
              </a:rPr>
              <a:t>., (Ph. D) </a:t>
            </a:r>
          </a:p>
          <a:p>
            <a:pPr marL="12065" marR="5080" algn="ctr">
              <a:lnSpc>
                <a:spcPts val="2790"/>
              </a:lnSpc>
              <a:spcBef>
                <a:spcPts val="114"/>
              </a:spcBef>
            </a:pPr>
            <a:r>
              <a:rPr lang="en-IN" sz="1400" spc="-20" dirty="0">
                <a:latin typeface="Times New Roman"/>
                <a:cs typeface="Times New Roman"/>
              </a:rPr>
              <a:t>Assistant</a:t>
            </a:r>
            <a:r>
              <a:rPr lang="en-IN" sz="1400" spc="-40" dirty="0">
                <a:latin typeface="Times New Roman"/>
                <a:cs typeface="Times New Roman"/>
              </a:rPr>
              <a:t> </a:t>
            </a:r>
            <a:r>
              <a:rPr lang="en-IN" sz="1400" spc="-10" dirty="0">
                <a:latin typeface="Times New Roman"/>
                <a:cs typeface="Times New Roman"/>
              </a:rPr>
              <a:t>Professor</a:t>
            </a:r>
            <a:endParaRPr lang="en-IN" sz="1400" dirty="0">
              <a:latin typeface="Times New Roman"/>
              <a:cs typeface="Times New Roman"/>
            </a:endParaRPr>
          </a:p>
          <a:p>
            <a:pPr marL="12065" marR="5080" algn="ctr">
              <a:lnSpc>
                <a:spcPts val="2790"/>
              </a:lnSpc>
              <a:spcBef>
                <a:spcPts val="114"/>
              </a:spcBef>
            </a:pPr>
            <a:endParaRPr sz="2400" dirty="0">
              <a:latin typeface="Times New Roman"/>
              <a:cs typeface="Times New Roman"/>
            </a:endParaRPr>
          </a:p>
        </p:txBody>
      </p:sp>
      <p:sp>
        <p:nvSpPr>
          <p:cNvPr id="10" name="object 10"/>
          <p:cNvSpPr txBox="1"/>
          <p:nvPr/>
        </p:nvSpPr>
        <p:spPr>
          <a:xfrm>
            <a:off x="2147578" y="5096081"/>
            <a:ext cx="7890509" cy="1448435"/>
          </a:xfrm>
          <a:prstGeom prst="rect">
            <a:avLst/>
          </a:prstGeom>
        </p:spPr>
        <p:txBody>
          <a:bodyPr vert="horz" wrap="square" lIns="0" tIns="13335" rIns="0" bIns="0" rtlCol="0">
            <a:spAutoFit/>
          </a:bodyPr>
          <a:lstStyle/>
          <a:p>
            <a:pPr marL="4445" algn="ctr">
              <a:lnSpc>
                <a:spcPts val="2300"/>
              </a:lnSpc>
              <a:spcBef>
                <a:spcPts val="105"/>
              </a:spcBef>
            </a:pPr>
            <a:r>
              <a:rPr sz="2200" dirty="0">
                <a:latin typeface="Times New Roman"/>
                <a:cs typeface="Times New Roman"/>
              </a:rPr>
              <a:t>Department</a:t>
            </a:r>
            <a:r>
              <a:rPr sz="2200" spc="-25" dirty="0">
                <a:latin typeface="Times New Roman"/>
                <a:cs typeface="Times New Roman"/>
              </a:rPr>
              <a:t> </a:t>
            </a:r>
            <a:r>
              <a:rPr sz="2200" dirty="0">
                <a:latin typeface="Times New Roman"/>
                <a:cs typeface="Times New Roman"/>
              </a:rPr>
              <a:t>of</a:t>
            </a:r>
            <a:r>
              <a:rPr sz="2200" spc="-15" dirty="0">
                <a:latin typeface="Times New Roman"/>
                <a:cs typeface="Times New Roman"/>
              </a:rPr>
              <a:t> </a:t>
            </a:r>
            <a:r>
              <a:rPr sz="2200" dirty="0">
                <a:latin typeface="Times New Roman"/>
                <a:cs typeface="Times New Roman"/>
              </a:rPr>
              <a:t>Computer</a:t>
            </a:r>
            <a:r>
              <a:rPr sz="2200" spc="-15" dirty="0">
                <a:latin typeface="Times New Roman"/>
                <a:cs typeface="Times New Roman"/>
              </a:rPr>
              <a:t> </a:t>
            </a:r>
            <a:r>
              <a:rPr sz="2200" dirty="0">
                <a:latin typeface="Times New Roman"/>
                <a:cs typeface="Times New Roman"/>
              </a:rPr>
              <a:t>Science</a:t>
            </a:r>
            <a:r>
              <a:rPr sz="2200" spc="-20" dirty="0">
                <a:latin typeface="Times New Roman"/>
                <a:cs typeface="Times New Roman"/>
              </a:rPr>
              <a:t> </a:t>
            </a:r>
            <a:r>
              <a:rPr sz="2200" dirty="0">
                <a:latin typeface="Times New Roman"/>
                <a:cs typeface="Times New Roman"/>
              </a:rPr>
              <a:t>and</a:t>
            </a:r>
            <a:r>
              <a:rPr sz="2200" spc="-15" dirty="0">
                <a:latin typeface="Times New Roman"/>
                <a:cs typeface="Times New Roman"/>
              </a:rPr>
              <a:t> </a:t>
            </a:r>
            <a:r>
              <a:rPr sz="2200" dirty="0">
                <a:latin typeface="Times New Roman"/>
                <a:cs typeface="Times New Roman"/>
              </a:rPr>
              <a:t>Engineering</a:t>
            </a:r>
            <a:r>
              <a:rPr sz="2200" spc="-15" dirty="0">
                <a:latin typeface="Times New Roman"/>
                <a:cs typeface="Times New Roman"/>
              </a:rPr>
              <a:t> </a:t>
            </a:r>
            <a:endParaRPr sz="2200" dirty="0">
              <a:latin typeface="Times New Roman"/>
              <a:cs typeface="Times New Roman"/>
            </a:endParaRPr>
          </a:p>
          <a:p>
            <a:pPr algn="ctr">
              <a:lnSpc>
                <a:spcPts val="3565"/>
              </a:lnSpc>
            </a:pPr>
            <a:r>
              <a:rPr sz="3400" dirty="0">
                <a:solidFill>
                  <a:srgbClr val="FF0000"/>
                </a:solidFill>
                <a:latin typeface="Times New Roman"/>
                <a:cs typeface="Times New Roman"/>
              </a:rPr>
              <a:t>Srinivasa</a:t>
            </a:r>
            <a:r>
              <a:rPr sz="3400" spc="-20" dirty="0">
                <a:solidFill>
                  <a:srgbClr val="FF0000"/>
                </a:solidFill>
                <a:latin typeface="Times New Roman"/>
                <a:cs typeface="Times New Roman"/>
              </a:rPr>
              <a:t> </a:t>
            </a:r>
            <a:r>
              <a:rPr sz="3400" dirty="0">
                <a:solidFill>
                  <a:srgbClr val="FF0000"/>
                </a:solidFill>
                <a:latin typeface="Times New Roman"/>
                <a:cs typeface="Times New Roman"/>
              </a:rPr>
              <a:t>Ramanujan</a:t>
            </a:r>
            <a:r>
              <a:rPr sz="3400" spc="-20" dirty="0">
                <a:solidFill>
                  <a:srgbClr val="FF0000"/>
                </a:solidFill>
                <a:latin typeface="Times New Roman"/>
                <a:cs typeface="Times New Roman"/>
              </a:rPr>
              <a:t> </a:t>
            </a:r>
            <a:r>
              <a:rPr sz="3400" dirty="0">
                <a:solidFill>
                  <a:srgbClr val="FF0000"/>
                </a:solidFill>
                <a:latin typeface="Times New Roman"/>
                <a:cs typeface="Times New Roman"/>
              </a:rPr>
              <a:t>Institute</a:t>
            </a:r>
            <a:r>
              <a:rPr sz="3400" spc="-20" dirty="0">
                <a:solidFill>
                  <a:srgbClr val="FF0000"/>
                </a:solidFill>
                <a:latin typeface="Times New Roman"/>
                <a:cs typeface="Times New Roman"/>
              </a:rPr>
              <a:t> </a:t>
            </a:r>
            <a:r>
              <a:rPr sz="3400" dirty="0">
                <a:solidFill>
                  <a:srgbClr val="FF0000"/>
                </a:solidFill>
                <a:latin typeface="Times New Roman"/>
                <a:cs typeface="Times New Roman"/>
              </a:rPr>
              <a:t>of</a:t>
            </a:r>
            <a:r>
              <a:rPr sz="3400" spc="-20" dirty="0">
                <a:solidFill>
                  <a:srgbClr val="FF0000"/>
                </a:solidFill>
                <a:latin typeface="Times New Roman"/>
                <a:cs typeface="Times New Roman"/>
              </a:rPr>
              <a:t> </a:t>
            </a:r>
            <a:r>
              <a:rPr sz="3400" spc="-10" dirty="0">
                <a:solidFill>
                  <a:srgbClr val="FF0000"/>
                </a:solidFill>
                <a:latin typeface="Times New Roman"/>
                <a:cs typeface="Times New Roman"/>
              </a:rPr>
              <a:t>Technology</a:t>
            </a:r>
            <a:endParaRPr sz="3400" dirty="0">
              <a:latin typeface="Times New Roman"/>
              <a:cs typeface="Times New Roman"/>
            </a:endParaRPr>
          </a:p>
          <a:p>
            <a:pPr marL="6350" algn="ctr">
              <a:lnSpc>
                <a:spcPts val="1850"/>
              </a:lnSpc>
            </a:pPr>
            <a:r>
              <a:rPr sz="1750" b="1" spc="-10" dirty="0">
                <a:latin typeface="Times New Roman"/>
                <a:cs typeface="Times New Roman"/>
              </a:rPr>
              <a:t>Autonomous</a:t>
            </a:r>
            <a:endParaRPr sz="1750" dirty="0">
              <a:latin typeface="Times New Roman"/>
              <a:cs typeface="Times New Roman"/>
            </a:endParaRPr>
          </a:p>
          <a:p>
            <a:pPr marL="7620" algn="ctr">
              <a:lnSpc>
                <a:spcPts val="1370"/>
              </a:lnSpc>
            </a:pPr>
            <a:r>
              <a:rPr sz="1200" b="1" dirty="0">
                <a:latin typeface="Times New Roman"/>
                <a:cs typeface="Times New Roman"/>
              </a:rPr>
              <a:t>Rotarypuram</a:t>
            </a:r>
            <a:r>
              <a:rPr sz="1200" b="1" spc="-10" dirty="0">
                <a:latin typeface="Times New Roman"/>
                <a:cs typeface="Times New Roman"/>
              </a:rPr>
              <a:t> </a:t>
            </a:r>
            <a:r>
              <a:rPr sz="1200" b="1" dirty="0">
                <a:latin typeface="Times New Roman"/>
                <a:cs typeface="Times New Roman"/>
              </a:rPr>
              <a:t>Village,</a:t>
            </a:r>
            <a:r>
              <a:rPr sz="1200" b="1" spc="-5" dirty="0">
                <a:latin typeface="Times New Roman"/>
                <a:cs typeface="Times New Roman"/>
              </a:rPr>
              <a:t> </a:t>
            </a:r>
            <a:r>
              <a:rPr sz="1200" b="1" dirty="0">
                <a:latin typeface="Times New Roman"/>
                <a:cs typeface="Times New Roman"/>
              </a:rPr>
              <a:t>B</a:t>
            </a:r>
            <a:r>
              <a:rPr sz="1200" b="1" spc="-10" dirty="0">
                <a:latin typeface="Times New Roman"/>
                <a:cs typeface="Times New Roman"/>
              </a:rPr>
              <a:t> </a:t>
            </a:r>
            <a:r>
              <a:rPr sz="1200" b="1" dirty="0">
                <a:latin typeface="Times New Roman"/>
                <a:cs typeface="Times New Roman"/>
              </a:rPr>
              <a:t>K</a:t>
            </a:r>
            <a:r>
              <a:rPr sz="1200" b="1" spc="-5" dirty="0">
                <a:latin typeface="Times New Roman"/>
                <a:cs typeface="Times New Roman"/>
              </a:rPr>
              <a:t> </a:t>
            </a:r>
            <a:r>
              <a:rPr sz="1200" b="1" dirty="0">
                <a:latin typeface="Times New Roman"/>
                <a:cs typeface="Times New Roman"/>
              </a:rPr>
              <a:t>Samudram</a:t>
            </a:r>
            <a:r>
              <a:rPr sz="1200" b="1" spc="-10" dirty="0">
                <a:latin typeface="Times New Roman"/>
                <a:cs typeface="Times New Roman"/>
              </a:rPr>
              <a:t> </a:t>
            </a:r>
            <a:r>
              <a:rPr sz="1200" b="1" dirty="0">
                <a:latin typeface="Times New Roman"/>
                <a:cs typeface="Times New Roman"/>
              </a:rPr>
              <a:t>Mandal,</a:t>
            </a:r>
            <a:r>
              <a:rPr sz="1200" b="1" spc="-5" dirty="0">
                <a:latin typeface="Times New Roman"/>
                <a:cs typeface="Times New Roman"/>
              </a:rPr>
              <a:t> </a:t>
            </a:r>
            <a:r>
              <a:rPr sz="1200" b="1" dirty="0">
                <a:latin typeface="Times New Roman"/>
                <a:cs typeface="Times New Roman"/>
              </a:rPr>
              <a:t>Ananthapuramu</a:t>
            </a:r>
            <a:r>
              <a:rPr sz="1200" b="1" spc="-10"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spc="-10" dirty="0">
                <a:latin typeface="Times New Roman"/>
                <a:cs typeface="Times New Roman"/>
              </a:rPr>
              <a:t>515701.</a:t>
            </a:r>
            <a:endParaRPr sz="1200" dirty="0">
              <a:latin typeface="Times New Roman"/>
              <a:cs typeface="Times New Roman"/>
            </a:endParaRPr>
          </a:p>
          <a:p>
            <a:pPr marL="6985" algn="ctr">
              <a:lnSpc>
                <a:spcPct val="100000"/>
              </a:lnSpc>
              <a:spcBef>
                <a:spcPts val="545"/>
              </a:spcBef>
            </a:pPr>
            <a:r>
              <a:rPr sz="1300" b="1" dirty="0">
                <a:solidFill>
                  <a:srgbClr val="1E4E78"/>
                </a:solidFill>
                <a:latin typeface="Times New Roman"/>
                <a:cs typeface="Times New Roman"/>
              </a:rPr>
              <a:t>202</a:t>
            </a:r>
            <a:r>
              <a:rPr lang="en-IN" sz="1300" b="1" dirty="0">
                <a:solidFill>
                  <a:srgbClr val="1E4E78"/>
                </a:solidFill>
                <a:latin typeface="Times New Roman"/>
                <a:cs typeface="Times New Roman"/>
              </a:rPr>
              <a:t>5-</a:t>
            </a:r>
            <a:r>
              <a:rPr sz="1300" b="1" spc="-20" dirty="0">
                <a:solidFill>
                  <a:srgbClr val="1E4E78"/>
                </a:solidFill>
                <a:latin typeface="Times New Roman"/>
                <a:cs typeface="Times New Roman"/>
              </a:rPr>
              <a:t>202</a:t>
            </a:r>
            <a:r>
              <a:rPr lang="en-IN" sz="1300" b="1" spc="-20" dirty="0">
                <a:solidFill>
                  <a:srgbClr val="1E4E78"/>
                </a:solidFill>
                <a:latin typeface="Times New Roman"/>
                <a:cs typeface="Times New Roman"/>
              </a:rPr>
              <a:t>6</a:t>
            </a:r>
            <a:endParaRPr sz="1300" dirty="0">
              <a:latin typeface="Times New Roman"/>
              <a:cs typeface="Times New Roman"/>
            </a:endParaRPr>
          </a:p>
        </p:txBody>
      </p:sp>
      <p:sp>
        <p:nvSpPr>
          <p:cNvPr id="11" name="object 11"/>
          <p:cNvSpPr txBox="1"/>
          <p:nvPr/>
        </p:nvSpPr>
        <p:spPr>
          <a:xfrm>
            <a:off x="777240" y="1674508"/>
            <a:ext cx="3032760" cy="476412"/>
          </a:xfrm>
          <a:prstGeom prst="rect">
            <a:avLst/>
          </a:prstGeom>
        </p:spPr>
        <p:txBody>
          <a:bodyPr vert="horz" wrap="square" lIns="0" tIns="14605" rIns="0" bIns="0" rtlCol="0">
            <a:spAutoFit/>
          </a:bodyPr>
          <a:lstStyle/>
          <a:p>
            <a:pPr algn="ctr">
              <a:lnSpc>
                <a:spcPts val="2380"/>
              </a:lnSpc>
              <a:spcBef>
                <a:spcPts val="115"/>
              </a:spcBef>
            </a:pPr>
            <a:r>
              <a:rPr lang="en-IN" sz="2000" dirty="0">
                <a:latin typeface="Times New Roman"/>
                <a:cs typeface="Times New Roman"/>
              </a:rPr>
              <a:t>S.K SUHANA ANJUM</a:t>
            </a:r>
            <a:endParaRPr sz="2000" dirty="0">
              <a:latin typeface="Times New Roman"/>
              <a:cs typeface="Times New Roman"/>
            </a:endParaRPr>
          </a:p>
          <a:p>
            <a:pPr marL="1270" algn="ctr">
              <a:lnSpc>
                <a:spcPts val="1060"/>
              </a:lnSpc>
            </a:pPr>
            <a:r>
              <a:rPr sz="1600" dirty="0">
                <a:latin typeface="Times New Roman"/>
                <a:cs typeface="Times New Roman"/>
              </a:rPr>
              <a:t>Roll</a:t>
            </a:r>
            <a:r>
              <a:rPr sz="1600" spc="40" dirty="0">
                <a:latin typeface="Times New Roman"/>
                <a:cs typeface="Times New Roman"/>
              </a:rPr>
              <a:t> </a:t>
            </a:r>
            <a:r>
              <a:rPr sz="1600" dirty="0">
                <a:latin typeface="Times New Roman"/>
                <a:cs typeface="Times New Roman"/>
              </a:rPr>
              <a:t>No.</a:t>
            </a:r>
            <a:r>
              <a:rPr sz="1600" spc="40" dirty="0">
                <a:latin typeface="Times New Roman"/>
                <a:cs typeface="Times New Roman"/>
              </a:rPr>
              <a:t> </a:t>
            </a:r>
            <a:r>
              <a:rPr lang="en-IN" sz="1600" spc="-10" dirty="0">
                <a:latin typeface="Times New Roman"/>
                <a:cs typeface="Times New Roman"/>
              </a:rPr>
              <a:t>224G1A05A7</a:t>
            </a:r>
            <a:endParaRPr sz="1600" dirty="0">
              <a:latin typeface="Times New Roman"/>
              <a:cs typeface="Times New Roman"/>
            </a:endParaRPr>
          </a:p>
        </p:txBody>
      </p:sp>
      <p:sp>
        <p:nvSpPr>
          <p:cNvPr id="12" name="object 12"/>
          <p:cNvSpPr txBox="1"/>
          <p:nvPr/>
        </p:nvSpPr>
        <p:spPr>
          <a:xfrm>
            <a:off x="7904486" y="1683723"/>
            <a:ext cx="2133601" cy="444352"/>
          </a:xfrm>
          <a:prstGeom prst="rect">
            <a:avLst/>
          </a:prstGeom>
        </p:spPr>
        <p:txBody>
          <a:bodyPr vert="horz" wrap="square" lIns="0" tIns="13335" rIns="0" bIns="0" rtlCol="0">
            <a:spAutoFit/>
          </a:bodyPr>
          <a:lstStyle/>
          <a:p>
            <a:pPr marL="42545">
              <a:lnSpc>
                <a:spcPct val="100000"/>
              </a:lnSpc>
              <a:spcBef>
                <a:spcPts val="409"/>
              </a:spcBef>
            </a:pPr>
            <a:r>
              <a:rPr lang="en-IN" sz="1800" spc="-10" dirty="0">
                <a:latin typeface="Times New Roman"/>
                <a:cs typeface="Times New Roman"/>
              </a:rPr>
              <a:t>       C. PALLAVI</a:t>
            </a:r>
            <a:endParaRPr lang="en-IN" sz="1800" dirty="0">
              <a:latin typeface="Times New Roman"/>
              <a:cs typeface="Times New Roman"/>
            </a:endParaRPr>
          </a:p>
          <a:p>
            <a:pPr marL="635" algn="ctr">
              <a:lnSpc>
                <a:spcPts val="1060"/>
              </a:lnSpc>
            </a:pPr>
            <a:r>
              <a:rPr lang="en-IN" sz="1600" dirty="0">
                <a:latin typeface="Times New Roman"/>
                <a:cs typeface="Times New Roman"/>
              </a:rPr>
              <a:t>Roll</a:t>
            </a:r>
            <a:r>
              <a:rPr lang="en-IN" sz="1600" spc="5" dirty="0">
                <a:latin typeface="Times New Roman"/>
                <a:cs typeface="Times New Roman"/>
              </a:rPr>
              <a:t> </a:t>
            </a:r>
            <a:r>
              <a:rPr lang="en-IN" sz="1600" dirty="0">
                <a:latin typeface="Times New Roman"/>
                <a:cs typeface="Times New Roman"/>
              </a:rPr>
              <a:t>No.</a:t>
            </a:r>
            <a:r>
              <a:rPr lang="en-IN" sz="1600" spc="5" dirty="0">
                <a:latin typeface="Times New Roman"/>
                <a:cs typeface="Times New Roman"/>
              </a:rPr>
              <a:t> </a:t>
            </a:r>
            <a:r>
              <a:rPr lang="en-IN" sz="1600" spc="-10" dirty="0">
                <a:latin typeface="Times New Roman"/>
                <a:cs typeface="Times New Roman"/>
              </a:rPr>
              <a:t>224G1A0564</a:t>
            </a:r>
            <a:endParaRPr lang="en-IN" sz="1600" dirty="0">
              <a:latin typeface="Times New Roman"/>
              <a:cs typeface="Times New Roman"/>
            </a:endParaRPr>
          </a:p>
        </p:txBody>
      </p:sp>
      <p:sp>
        <p:nvSpPr>
          <p:cNvPr id="17" name="object 17"/>
          <p:cNvSpPr txBox="1">
            <a:spLocks noGrp="1"/>
          </p:cNvSpPr>
          <p:nvPr>
            <p:ph type="title"/>
          </p:nvPr>
        </p:nvSpPr>
        <p:spPr>
          <a:xfrm>
            <a:off x="2362200" y="540651"/>
            <a:ext cx="7010400" cy="899221"/>
          </a:xfrm>
          <a:prstGeom prst="rect">
            <a:avLst/>
          </a:prstGeom>
        </p:spPr>
        <p:txBody>
          <a:bodyPr vert="horz" wrap="square" lIns="0" tIns="12700" rIns="0" bIns="0" rtlCol="0">
            <a:spAutoFit/>
          </a:bodyPr>
          <a:lstStyle/>
          <a:p>
            <a:pPr marL="12700" algn="ctr">
              <a:spcBef>
                <a:spcPts val="100"/>
              </a:spcBef>
            </a:pPr>
            <a:br>
              <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sz="3200" dirty="0"/>
          </a:p>
        </p:txBody>
      </p:sp>
      <p:sp>
        <p:nvSpPr>
          <p:cNvPr id="18" name="object 18"/>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19" name="object 19"/>
          <p:cNvPicPr/>
          <p:nvPr/>
        </p:nvPicPr>
        <p:blipFill>
          <a:blip r:embed="rId2" cstate="print"/>
          <a:stretch>
            <a:fillRect/>
          </a:stretch>
        </p:blipFill>
        <p:spPr>
          <a:xfrm>
            <a:off x="5329143" y="3408075"/>
            <a:ext cx="1527378" cy="1685486"/>
          </a:xfrm>
          <a:prstGeom prst="rect">
            <a:avLst/>
          </a:prstGeom>
        </p:spPr>
      </p:pic>
      <p:sp>
        <p:nvSpPr>
          <p:cNvPr id="13" name="Rectangle: Rounded Corners 12">
            <a:extLst>
              <a:ext uri="{FF2B5EF4-FFF2-40B4-BE49-F238E27FC236}">
                <a16:creationId xmlns:a16="http://schemas.microsoft.com/office/drawing/2014/main" id="{0229B887-FD66-272D-93E7-B255617E7DFC}"/>
              </a:ext>
            </a:extLst>
          </p:cNvPr>
          <p:cNvSpPr/>
          <p:nvPr/>
        </p:nvSpPr>
        <p:spPr>
          <a:xfrm>
            <a:off x="777240" y="343504"/>
            <a:ext cx="10690833" cy="899221"/>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2400" dirty="0"/>
          </a:p>
        </p:txBody>
      </p:sp>
      <p:sp>
        <p:nvSpPr>
          <p:cNvPr id="15" name="TextBox 14">
            <a:extLst>
              <a:ext uri="{FF2B5EF4-FFF2-40B4-BE49-F238E27FC236}">
                <a16:creationId xmlns:a16="http://schemas.microsoft.com/office/drawing/2014/main" id="{374FA5BE-D195-3756-D8C4-97ADBCB2956C}"/>
              </a:ext>
            </a:extLst>
          </p:cNvPr>
          <p:cNvSpPr txBox="1"/>
          <p:nvPr/>
        </p:nvSpPr>
        <p:spPr>
          <a:xfrm>
            <a:off x="776956" y="6596402"/>
            <a:ext cx="5781675" cy="338554"/>
          </a:xfrm>
          <a:prstGeom prst="rect">
            <a:avLst/>
          </a:prstGeom>
          <a:noFill/>
        </p:spPr>
        <p:txBody>
          <a:bodyPr wrap="square">
            <a:spAutoFit/>
          </a:bodyPr>
          <a:lstStyle/>
          <a:p>
            <a:r>
              <a:rPr lang="en-IN" sz="1600" dirty="0">
                <a:solidFill>
                  <a:schemeClr val="bg1"/>
                </a:solidFill>
                <a:latin typeface="Times New Roman" panose="02020603050405020304" pitchFamily="18" charset="0"/>
                <a:cs typeface="Times New Roman" panose="02020603050405020304" pitchFamily="18" charset="0"/>
              </a:rPr>
              <a:t>DEPT. OF COMPUTER SCIENCE AND ENGINEERING</a:t>
            </a:r>
          </a:p>
        </p:txBody>
      </p:sp>
      <p:sp>
        <p:nvSpPr>
          <p:cNvPr id="20" name="TextBox 19">
            <a:extLst>
              <a:ext uri="{FF2B5EF4-FFF2-40B4-BE49-F238E27FC236}">
                <a16:creationId xmlns:a16="http://schemas.microsoft.com/office/drawing/2014/main" id="{894A4A00-4436-8C61-E0D4-E0FA26CC0492}"/>
              </a:ext>
            </a:extLst>
          </p:cNvPr>
          <p:cNvSpPr txBox="1"/>
          <p:nvPr/>
        </p:nvSpPr>
        <p:spPr>
          <a:xfrm>
            <a:off x="6442755" y="6596402"/>
            <a:ext cx="5530361" cy="338554"/>
          </a:xfrm>
          <a:prstGeom prst="rect">
            <a:avLst/>
          </a:prstGeom>
          <a:noFill/>
        </p:spPr>
        <p:txBody>
          <a:bodyPr wrap="square">
            <a:spAutoFit/>
          </a:bodyPr>
          <a:lstStyle/>
          <a:p>
            <a:r>
              <a:rPr lang="en-IN" sz="160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dirty="0"/>
          </a:p>
        </p:txBody>
      </p:sp>
      <p:sp>
        <p:nvSpPr>
          <p:cNvPr id="22" name="TextBox 21">
            <a:extLst>
              <a:ext uri="{FF2B5EF4-FFF2-40B4-BE49-F238E27FC236}">
                <a16:creationId xmlns:a16="http://schemas.microsoft.com/office/drawing/2014/main" id="{F0866F9D-C65D-FAB4-94C3-D66B7724FEDF}"/>
              </a:ext>
            </a:extLst>
          </p:cNvPr>
          <p:cNvSpPr txBox="1"/>
          <p:nvPr/>
        </p:nvSpPr>
        <p:spPr>
          <a:xfrm>
            <a:off x="11757006" y="6581013"/>
            <a:ext cx="6097464" cy="369332"/>
          </a:xfrm>
          <a:prstGeom prst="rect">
            <a:avLst/>
          </a:prstGeom>
          <a:noFill/>
        </p:spPr>
        <p:txBody>
          <a:bodyPr wrap="square">
            <a:spAutoFit/>
          </a:bodyPr>
          <a:lstStyle/>
          <a:p>
            <a:r>
              <a:rPr lang="en-IN" sz="1800" dirty="0">
                <a:solidFill>
                  <a:srgbClr val="002060"/>
                </a:solidFill>
                <a:latin typeface="Times New Roman" panose="02020603050405020304" pitchFamily="18" charset="0"/>
                <a:cs typeface="Times New Roman" panose="02020603050405020304" pitchFamily="18" charset="0"/>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94FDB-523B-63F4-796D-9B012C50683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7AC2F7-13F2-EADE-94C3-AF89C45A3869}"/>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1EEEFDD5-3EC9-EC33-0BD2-AB3718E21D02}"/>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A4B1669-DAFC-E36D-B0A9-FA0A96F29F8A}"/>
              </a:ext>
            </a:extLst>
          </p:cNvPr>
          <p:cNvSpPr txBox="1"/>
          <p:nvPr/>
        </p:nvSpPr>
        <p:spPr>
          <a:xfrm>
            <a:off x="773723" y="6608471"/>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88566E4-B9C7-F6B7-6765-58AEE6E04401}"/>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E06CA9F-3FC0-BA4C-B4B3-892CB0466074}"/>
              </a:ext>
            </a:extLst>
          </p:cNvPr>
          <p:cNvSpPr txBox="1"/>
          <p:nvPr/>
        </p:nvSpPr>
        <p:spPr>
          <a:xfrm>
            <a:off x="11734800" y="6608471"/>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02</a:t>
            </a:r>
          </a:p>
        </p:txBody>
      </p:sp>
      <p:sp>
        <p:nvSpPr>
          <p:cNvPr id="16" name="TextBox 15">
            <a:extLst>
              <a:ext uri="{FF2B5EF4-FFF2-40B4-BE49-F238E27FC236}">
                <a16:creationId xmlns:a16="http://schemas.microsoft.com/office/drawing/2014/main" id="{BACDC539-6E61-8F64-D7A9-574A92B50723}"/>
              </a:ext>
            </a:extLst>
          </p:cNvPr>
          <p:cNvSpPr txBox="1"/>
          <p:nvPr/>
        </p:nvSpPr>
        <p:spPr>
          <a:xfrm>
            <a:off x="0" y="209745"/>
            <a:ext cx="7620000" cy="769441"/>
          </a:xfrm>
          <a:prstGeom prst="rect">
            <a:avLst/>
          </a:prstGeom>
          <a:noFill/>
        </p:spPr>
        <p:txBody>
          <a:bodyPr wrap="square" rtlCol="0">
            <a:spAutoFit/>
          </a:bodyPr>
          <a:lstStyle/>
          <a:p>
            <a:r>
              <a:rPr lang="en-US" sz="4400" dirty="0">
                <a:solidFill>
                  <a:schemeClr val="bg1"/>
                </a:solidFill>
                <a:latin typeface="Times New Roman" panose="02020603050405020304" pitchFamily="18" charset="0"/>
                <a:cs typeface="Times New Roman" panose="02020603050405020304" pitchFamily="18" charset="0"/>
              </a:rPr>
              <a:t>Queries From Review 0</a:t>
            </a:r>
            <a:endParaRPr lang="en-IN" sz="44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8A407D96-DBA6-9467-3622-185BF5D7784D}"/>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21" name="TextBox 20">
            <a:extLst>
              <a:ext uri="{FF2B5EF4-FFF2-40B4-BE49-F238E27FC236}">
                <a16:creationId xmlns:a16="http://schemas.microsoft.com/office/drawing/2014/main" id="{D6A63FB3-FD82-23A1-A985-07F9FFA77560}"/>
              </a:ext>
            </a:extLst>
          </p:cNvPr>
          <p:cNvSpPr txBox="1"/>
          <p:nvPr/>
        </p:nvSpPr>
        <p:spPr>
          <a:xfrm>
            <a:off x="29307" y="1246887"/>
            <a:ext cx="6383215" cy="1806648"/>
          </a:xfrm>
          <a:prstGeom prst="rect">
            <a:avLst/>
          </a:prstGeom>
          <a:noFill/>
        </p:spPr>
        <p:txBody>
          <a:bodyPr wrap="square" rtlCol="0">
            <a:spAutoFit/>
          </a:bodyPr>
          <a:lstStyle/>
          <a:p>
            <a:pPr marL="462280" indent="-462280" algn="just">
              <a:lnSpc>
                <a:spcPct val="90000"/>
              </a:lnSpc>
              <a:spcBef>
                <a:spcPts val="1000"/>
              </a:spcBef>
              <a:buClr>
                <a:schemeClr val="dk1"/>
              </a:buClr>
              <a:buSzPts val="2800"/>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What are the models you are using?</a:t>
            </a:r>
          </a:p>
          <a:p>
            <a:pPr marL="462280" indent="-462280" algn="just">
              <a:lnSpc>
                <a:spcPct val="90000"/>
              </a:lnSpc>
              <a:spcBef>
                <a:spcPts val="1000"/>
              </a:spcBef>
              <a:buClr>
                <a:schemeClr val="dk1"/>
              </a:buClr>
              <a:buSzPts val="2800"/>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How do you detect the object?</a:t>
            </a:r>
          </a:p>
          <a:p>
            <a:pPr marL="462280" indent="-462280" algn="just">
              <a:lnSpc>
                <a:spcPct val="90000"/>
              </a:lnSpc>
              <a:spcBef>
                <a:spcPts val="1000"/>
              </a:spcBef>
              <a:buClr>
                <a:schemeClr val="dk1"/>
              </a:buClr>
              <a:buSzPts val="2800"/>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How do you classify the object?</a:t>
            </a:r>
          </a:p>
          <a:p>
            <a:pPr marL="462280" indent="-462280" algn="just">
              <a:lnSpc>
                <a:spcPct val="90000"/>
              </a:lnSpc>
              <a:spcBef>
                <a:spcPts val="1000"/>
              </a:spcBef>
              <a:buClr>
                <a:schemeClr val="dk1"/>
              </a:buClr>
              <a:buSzPts val="2800"/>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What is the expected output of the project?</a:t>
            </a:r>
          </a:p>
        </p:txBody>
      </p:sp>
    </p:spTree>
    <p:extLst>
      <p:ext uri="{BB962C8B-B14F-4D97-AF65-F5344CB8AC3E}">
        <p14:creationId xmlns:p14="http://schemas.microsoft.com/office/powerpoint/2010/main" val="3014228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9AF97-1F7D-7461-69A7-C0DA675BFA0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97BD03F-2D05-7F42-DDA3-C26FC393B726}"/>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778B0747-DDC5-880C-17D0-6A2EC0923043}"/>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p>
        </p:txBody>
      </p:sp>
      <p:sp>
        <p:nvSpPr>
          <p:cNvPr id="11" name="TextBox 10">
            <a:extLst>
              <a:ext uri="{FF2B5EF4-FFF2-40B4-BE49-F238E27FC236}">
                <a16:creationId xmlns:a16="http://schemas.microsoft.com/office/drawing/2014/main" id="{6AE8F859-A200-5894-5B40-1B518C7775F9}"/>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80FA669-6F9F-F2B8-EB89-F82549D838EA}"/>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BC070A2-1AF2-3C1D-D84E-1151A16098DC}"/>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03</a:t>
            </a:r>
          </a:p>
        </p:txBody>
      </p:sp>
      <p:sp>
        <p:nvSpPr>
          <p:cNvPr id="16" name="TextBox 15">
            <a:extLst>
              <a:ext uri="{FF2B5EF4-FFF2-40B4-BE49-F238E27FC236}">
                <a16:creationId xmlns:a16="http://schemas.microsoft.com/office/drawing/2014/main" id="{EB128DD3-2EB2-764D-B0DD-D88C6216BD5F}"/>
              </a:ext>
            </a:extLst>
          </p:cNvPr>
          <p:cNvSpPr txBox="1"/>
          <p:nvPr/>
        </p:nvSpPr>
        <p:spPr>
          <a:xfrm>
            <a:off x="0" y="216679"/>
            <a:ext cx="7620000" cy="769441"/>
          </a:xfrm>
          <a:prstGeom prst="rect">
            <a:avLst/>
          </a:prstGeom>
          <a:noFill/>
        </p:spPr>
        <p:txBody>
          <a:bodyPr wrap="square" rtlCol="0">
            <a:spAutoFit/>
          </a:bodyPr>
          <a:lstStyle/>
          <a:p>
            <a:r>
              <a:rPr lang="en-US" sz="4400" kern="0" dirty="0">
                <a:solidFill>
                  <a:prstClr val="white"/>
                </a:solidFill>
                <a:latin typeface="Times New Roman" panose="02020603050405020304"/>
                <a:cs typeface="Times New Roman" panose="02020603050405020304"/>
                <a:sym typeface="+mn-ea"/>
              </a:rPr>
              <a:t>Title Explanation</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37418BA2-EEC1-2CD1-8DAE-9DCEE7E4DF31}"/>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5" name="TextBox 4">
            <a:extLst>
              <a:ext uri="{FF2B5EF4-FFF2-40B4-BE49-F238E27FC236}">
                <a16:creationId xmlns:a16="http://schemas.microsoft.com/office/drawing/2014/main" id="{F2598CE6-BA47-DF99-E12F-6E98A3032A48}"/>
              </a:ext>
            </a:extLst>
          </p:cNvPr>
          <p:cNvSpPr txBox="1"/>
          <p:nvPr/>
        </p:nvSpPr>
        <p:spPr>
          <a:xfrm>
            <a:off x="152400" y="1179265"/>
            <a:ext cx="11734800" cy="5201424"/>
          </a:xfrm>
          <a:prstGeom prst="rect">
            <a:avLst/>
          </a:prstGeom>
          <a:noFill/>
        </p:spPr>
        <p:txBody>
          <a:bodyPr wrap="square">
            <a:spAutoFit/>
          </a:bodyPr>
          <a:lstStyle/>
          <a:p>
            <a:pPr marL="342900" indent="-3429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title </a:t>
            </a:r>
            <a:r>
              <a:rPr lang="en-US" sz="2800" b="1" dirty="0">
                <a:latin typeface="Times New Roman" panose="02020603050405020304" pitchFamily="18" charset="0"/>
                <a:cs typeface="Times New Roman" panose="02020603050405020304" pitchFamily="18" charset="0"/>
              </a:rPr>
              <a:t>“Integrated Approach to Assess the Quality of Water”</a:t>
            </a:r>
            <a:r>
              <a:rPr lang="en-US" sz="2800" dirty="0">
                <a:latin typeface="Times New Roman" panose="02020603050405020304" pitchFamily="18" charset="0"/>
                <a:cs typeface="Times New Roman" panose="02020603050405020304" pitchFamily="18" charset="0"/>
              </a:rPr>
              <a:t> represents a web-based system that evaluates river water quality using automated detection techniques.</a:t>
            </a:r>
          </a:p>
          <a:p>
            <a:pPr marL="342900" indent="-342900" algn="just">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Integrated Approach</a:t>
            </a:r>
            <a:r>
              <a:rPr lang="en-US" sz="2800" dirty="0">
                <a:latin typeface="Times New Roman" panose="02020603050405020304" pitchFamily="18" charset="0"/>
                <a:cs typeface="Times New Roman" panose="02020603050405020304" pitchFamily="18" charset="0"/>
              </a:rPr>
              <a:t> refers to the combination of image preprocessing, object detection, and a web-based platform working together as a unified system.</a:t>
            </a:r>
          </a:p>
          <a:p>
            <a:pPr marL="342900" indent="-342900" algn="just">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Assess</a:t>
            </a:r>
            <a:r>
              <a:rPr lang="en-US" sz="2800" dirty="0">
                <a:latin typeface="Times New Roman" panose="02020603050405020304" pitchFamily="18" charset="0"/>
                <a:cs typeface="Times New Roman" panose="02020603050405020304" pitchFamily="18" charset="0"/>
              </a:rPr>
              <a:t> means analyzing river water images to identify and classify different pollutants.</a:t>
            </a:r>
          </a:p>
          <a:p>
            <a:pPr marL="342900" indent="-342900" algn="just">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Quality of Water</a:t>
            </a:r>
            <a:r>
              <a:rPr lang="en-US" sz="2800" dirty="0">
                <a:latin typeface="Times New Roman" panose="02020603050405020304" pitchFamily="18" charset="0"/>
                <a:cs typeface="Times New Roman" panose="02020603050405020304" pitchFamily="18" charset="0"/>
              </a:rPr>
              <a:t> indicates the overall water condition based on detected pollutants such as acid pollution, plastic waste, dead animals, eutrophication, and fish oil.</a:t>
            </a:r>
          </a:p>
          <a:p>
            <a:pPr>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8607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B6763-B2A1-8BF9-AA55-65B939CA53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4C2D960-7553-39CB-22B5-9CEB4C3A5166}"/>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9C74C0B-82B1-C080-661A-99714B1C068C}"/>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46B4EA8-A61C-DDE2-235C-6BAF76E7B462}"/>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B2CE431-9087-C25C-F7FD-23F6F262C481}"/>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A23EB1F-302D-FBE9-9217-3CC3557AF444}"/>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04</a:t>
            </a:r>
          </a:p>
        </p:txBody>
      </p:sp>
      <p:sp>
        <p:nvSpPr>
          <p:cNvPr id="16" name="TextBox 15">
            <a:extLst>
              <a:ext uri="{FF2B5EF4-FFF2-40B4-BE49-F238E27FC236}">
                <a16:creationId xmlns:a16="http://schemas.microsoft.com/office/drawing/2014/main" id="{5356D09B-5C60-8305-454D-9414CDC195DE}"/>
              </a:ext>
            </a:extLst>
          </p:cNvPr>
          <p:cNvSpPr txBox="1"/>
          <p:nvPr/>
        </p:nvSpPr>
        <p:spPr>
          <a:xfrm>
            <a:off x="0" y="228600"/>
            <a:ext cx="7620000" cy="769441"/>
          </a:xfrm>
          <a:prstGeom prst="rect">
            <a:avLst/>
          </a:prstGeom>
          <a:noFill/>
        </p:spPr>
        <p:txBody>
          <a:bodyPr wrap="square" rtlCol="0">
            <a:spAutoFit/>
          </a:bodyPr>
          <a:lstStyle/>
          <a:p>
            <a:r>
              <a:rPr lang="en-IN" sz="4400" dirty="0">
                <a:solidFill>
                  <a:schemeClr val="bg1"/>
                </a:solidFill>
                <a:latin typeface="Times New Roman" panose="02020603050405020304" pitchFamily="18" charset="0"/>
                <a:cs typeface="Times New Roman" panose="02020603050405020304" pitchFamily="18" charset="0"/>
              </a:rPr>
              <a:t>Contents</a:t>
            </a:r>
          </a:p>
        </p:txBody>
      </p:sp>
      <p:sp>
        <p:nvSpPr>
          <p:cNvPr id="20" name="TextBox 19">
            <a:extLst>
              <a:ext uri="{FF2B5EF4-FFF2-40B4-BE49-F238E27FC236}">
                <a16:creationId xmlns:a16="http://schemas.microsoft.com/office/drawing/2014/main" id="{43587588-20A2-72BD-5959-4D871FD5EFE2}"/>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21" name="TextBox 20">
            <a:extLst>
              <a:ext uri="{FF2B5EF4-FFF2-40B4-BE49-F238E27FC236}">
                <a16:creationId xmlns:a16="http://schemas.microsoft.com/office/drawing/2014/main" id="{75AD3071-C62A-A5E3-BE52-8F1D1C680D6F}"/>
              </a:ext>
            </a:extLst>
          </p:cNvPr>
          <p:cNvSpPr txBox="1"/>
          <p:nvPr/>
        </p:nvSpPr>
        <p:spPr>
          <a:xfrm>
            <a:off x="152400" y="1295400"/>
            <a:ext cx="11430000" cy="4092402"/>
          </a:xfrm>
          <a:prstGeom prst="rect">
            <a:avLst/>
          </a:prstGeom>
          <a:noFill/>
        </p:spPr>
        <p:txBody>
          <a:bodyPr wrap="square" rtlCol="0">
            <a:spAutoFit/>
          </a:bodyPr>
          <a:lstStyle/>
          <a:p>
            <a:pPr marL="462280" lvl="0" indent="-462280" algn="just">
              <a:lnSpc>
                <a:spcPct val="90000"/>
              </a:lnSpc>
              <a:buClr>
                <a:schemeClr val="dk1"/>
              </a:buClr>
              <a:buSzPts val="28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Abstract</a:t>
            </a:r>
          </a:p>
          <a:p>
            <a:pPr marL="462280" lvl="0" indent="-462280" algn="just">
              <a:lnSpc>
                <a:spcPct val="90000"/>
              </a:lnSpc>
              <a:spcBef>
                <a:spcPts val="1000"/>
              </a:spcBef>
              <a:buClr>
                <a:schemeClr val="dk1"/>
              </a:buClr>
              <a:buSzPts val="28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Introduction</a:t>
            </a:r>
          </a:p>
          <a:p>
            <a:pPr marL="462280" lvl="0" indent="-462280" algn="just">
              <a:lnSpc>
                <a:spcPct val="90000"/>
              </a:lnSpc>
              <a:spcBef>
                <a:spcPts val="1000"/>
              </a:spcBef>
              <a:buClr>
                <a:schemeClr val="dk1"/>
              </a:buClr>
              <a:buSzPts val="28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Software Requirements</a:t>
            </a:r>
          </a:p>
          <a:p>
            <a:pPr marL="462280" lvl="0" indent="-462280" algn="just">
              <a:lnSpc>
                <a:spcPct val="90000"/>
              </a:lnSpc>
              <a:spcBef>
                <a:spcPts val="1000"/>
              </a:spcBef>
              <a:buClr>
                <a:schemeClr val="dk1"/>
              </a:buClr>
              <a:buSzPts val="28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Datasets/Modules</a:t>
            </a:r>
          </a:p>
          <a:p>
            <a:pPr marL="462280" lvl="0" indent="-462280" algn="just">
              <a:lnSpc>
                <a:spcPct val="90000"/>
              </a:lnSpc>
              <a:spcBef>
                <a:spcPts val="1000"/>
              </a:spcBef>
              <a:buClr>
                <a:schemeClr val="dk1"/>
              </a:buClr>
              <a:buSzPts val="28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Implementation</a:t>
            </a:r>
          </a:p>
          <a:p>
            <a:pPr marL="462280" lvl="0" indent="-462280" algn="just">
              <a:lnSpc>
                <a:spcPct val="90000"/>
              </a:lnSpc>
              <a:spcBef>
                <a:spcPts val="1000"/>
              </a:spcBef>
              <a:buClr>
                <a:schemeClr val="dk1"/>
              </a:buClr>
              <a:buSzPts val="28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Outputs</a:t>
            </a:r>
          </a:p>
          <a:p>
            <a:pPr marL="462280" lvl="0" indent="-462280" algn="just">
              <a:lnSpc>
                <a:spcPct val="90000"/>
              </a:lnSpc>
              <a:spcBef>
                <a:spcPts val="1000"/>
              </a:spcBef>
              <a:buClr>
                <a:schemeClr val="dk1"/>
              </a:buClr>
              <a:buSzPts val="28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Conclusion</a:t>
            </a:r>
          </a:p>
          <a:p>
            <a:pPr marL="462280" lvl="0" indent="-462280" algn="just">
              <a:lnSpc>
                <a:spcPct val="90000"/>
              </a:lnSpc>
              <a:spcBef>
                <a:spcPts val="1000"/>
              </a:spcBef>
              <a:buClr>
                <a:schemeClr val="dk1"/>
              </a:buClr>
              <a:buSzPts val="28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216668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A5DE1-A732-1C6F-F420-E0ABD25D0F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E5B0B5B-F86C-722E-B13C-39A03A8108A4}"/>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65AF5E7-D309-9305-5795-61CA3367A99E}"/>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p>
        </p:txBody>
      </p:sp>
      <p:sp>
        <p:nvSpPr>
          <p:cNvPr id="11" name="TextBox 10">
            <a:extLst>
              <a:ext uri="{FF2B5EF4-FFF2-40B4-BE49-F238E27FC236}">
                <a16:creationId xmlns:a16="http://schemas.microsoft.com/office/drawing/2014/main" id="{15386087-AA3B-8C77-D503-3E5C7E42D453}"/>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E14A66B-8779-1A43-26FB-747F8BC1CABC}"/>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C67DE36-41A8-4844-0A71-29B860450370}"/>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05</a:t>
            </a:r>
          </a:p>
        </p:txBody>
      </p:sp>
      <p:sp>
        <p:nvSpPr>
          <p:cNvPr id="16" name="TextBox 15">
            <a:extLst>
              <a:ext uri="{FF2B5EF4-FFF2-40B4-BE49-F238E27FC236}">
                <a16:creationId xmlns:a16="http://schemas.microsoft.com/office/drawing/2014/main" id="{C88F3F16-A834-03C5-EEF4-0BB436184D88}"/>
              </a:ext>
            </a:extLst>
          </p:cNvPr>
          <p:cNvSpPr txBox="1"/>
          <p:nvPr/>
        </p:nvSpPr>
        <p:spPr>
          <a:xfrm>
            <a:off x="0" y="228601"/>
            <a:ext cx="7620000" cy="769441"/>
          </a:xfrm>
          <a:prstGeom prst="rect">
            <a:avLst/>
          </a:prstGeom>
          <a:noFill/>
        </p:spPr>
        <p:txBody>
          <a:bodyPr wrap="square" rtlCol="0">
            <a:spAutoFit/>
          </a:bodyPr>
          <a:lstStyle/>
          <a:p>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Abstract</a:t>
            </a:r>
            <a:endParaRPr lang="en-IN" sz="44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D61D448-468B-5674-D714-E40EC5DC9E67}"/>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7" name="TextBox 6">
            <a:extLst>
              <a:ext uri="{FF2B5EF4-FFF2-40B4-BE49-F238E27FC236}">
                <a16:creationId xmlns:a16="http://schemas.microsoft.com/office/drawing/2014/main" id="{1FD2DFDC-755A-0DFF-79A3-B41CDCE907B2}"/>
              </a:ext>
            </a:extLst>
          </p:cNvPr>
          <p:cNvSpPr txBox="1"/>
          <p:nvPr/>
        </p:nvSpPr>
        <p:spPr>
          <a:xfrm>
            <a:off x="152400" y="1143001"/>
            <a:ext cx="11822723" cy="5088573"/>
          </a:xfrm>
          <a:prstGeom prst="rect">
            <a:avLst/>
          </a:prstGeom>
          <a:noFill/>
        </p:spPr>
        <p:txBody>
          <a:bodyPr wrap="square">
            <a:spAutoFit/>
          </a:bodyPr>
          <a:lstStyle/>
          <a:p>
            <a:pPr marL="342900" lvl="0" indent="-342900" algn="just">
              <a:spcBef>
                <a:spcPts val="1000"/>
              </a:spcBef>
              <a:buClr>
                <a:prstClr val="black"/>
              </a:buClr>
              <a:buSzPts val="2800"/>
              <a:buFont typeface="Wingdings" panose="05000000000000000000" pitchFamily="2" charset="2"/>
              <a:buChar char="Ø"/>
              <a:defRPr/>
            </a:pPr>
            <a:r>
              <a:rPr lang="en-US" sz="2800" dirty="0">
                <a:latin typeface="Times New Roman" panose="02020603050405020304" pitchFamily="18" charset="0"/>
                <a:cs typeface="Times New Roman" panose="02020603050405020304" pitchFamily="18" charset="0"/>
              </a:rPr>
              <a:t>The River Water Quality Assessment System is designed to address the challenges of manually monitoring water pollution in rivers. Traditional inspection methods are time-consuming and may fail to detect multiple pollutants accurately.</a:t>
            </a:r>
          </a:p>
          <a:p>
            <a:pPr marL="342900" lvl="0" indent="-342900" algn="just">
              <a:spcBef>
                <a:spcPts val="1000"/>
              </a:spcBef>
              <a:buClr>
                <a:prstClr val="black"/>
              </a:buClr>
              <a:buSzPts val="2800"/>
              <a:buFont typeface="Wingdings" panose="05000000000000000000" pitchFamily="2" charset="2"/>
              <a:buChar char="Ø"/>
              <a:defRPr/>
            </a:pPr>
            <a:r>
              <a:rPr lang="en-US" sz="2800" dirty="0">
                <a:latin typeface="Times New Roman" panose="02020603050405020304" pitchFamily="18" charset="0"/>
                <a:cs typeface="Times New Roman" panose="02020603050405020304" pitchFamily="18" charset="0"/>
              </a:rPr>
              <a:t>To overcome this, the project provides a web-based platform that uses image processing and object detection to identify pollutants in river water. The main objective is to make water quality monitoring faster, accurate, and systematic.</a:t>
            </a:r>
          </a:p>
          <a:p>
            <a:pPr marL="342900" lvl="0" indent="-342900" algn="just">
              <a:spcBef>
                <a:spcPts val="1000"/>
              </a:spcBef>
              <a:buClr>
                <a:prstClr val="black"/>
              </a:buClr>
              <a:buSzPts val="2800"/>
              <a:buFont typeface="Wingdings" panose="05000000000000000000" pitchFamily="2" charset="2"/>
              <a:buChar char="Ø"/>
              <a:defRPr/>
            </a:pPr>
            <a:r>
              <a:rPr lang="en-US" sz="2800" dirty="0">
                <a:latin typeface="Times New Roman" panose="02020603050405020304" pitchFamily="18" charset="0"/>
                <a:cs typeface="Times New Roman" panose="02020603050405020304" pitchFamily="18" charset="0"/>
              </a:rPr>
              <a:t>The system is developed using YOLOv10 with a Flask-based web interface that allows users to upload images and view detection results. Testing shows that the system reduces manual effort and improves the efficiency of pollution assessment and reporting.</a:t>
            </a:r>
            <a:endParaRPr kumimoji="0" lang="en-US" sz="2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Times New Roman" panose="02020603050405020304"/>
            </a:endParaRPr>
          </a:p>
        </p:txBody>
      </p:sp>
    </p:spTree>
    <p:extLst>
      <p:ext uri="{BB962C8B-B14F-4D97-AF65-F5344CB8AC3E}">
        <p14:creationId xmlns:p14="http://schemas.microsoft.com/office/powerpoint/2010/main" val="4109710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6B871-CA1E-4A1C-88AE-2D75C8B8683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D00B486-26E2-2550-06AB-20F80D5D8D64}"/>
              </a:ext>
            </a:extLst>
          </p:cNvPr>
          <p:cNvSpPr/>
          <p:nvPr/>
        </p:nvSpPr>
        <p:spPr>
          <a:xfrm>
            <a:off x="0" y="228599"/>
            <a:ext cx="12155027" cy="870769"/>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FCD6390-E63F-32A4-A6FA-B50A338BFC72}"/>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F69A4FE-E0D5-D0DC-2FBC-3EC16C2DBC92}"/>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0F3F3F1-0E86-E505-5894-8119FD75C4C7}"/>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B5D450F-79CA-B5DB-9760-3C26E2548017}"/>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06</a:t>
            </a:r>
          </a:p>
        </p:txBody>
      </p:sp>
      <p:sp>
        <p:nvSpPr>
          <p:cNvPr id="16" name="TextBox 15">
            <a:extLst>
              <a:ext uri="{FF2B5EF4-FFF2-40B4-BE49-F238E27FC236}">
                <a16:creationId xmlns:a16="http://schemas.microsoft.com/office/drawing/2014/main" id="{B60E1A02-4B63-41C6-4DCC-AE922889FC27}"/>
              </a:ext>
            </a:extLst>
          </p:cNvPr>
          <p:cNvSpPr txBox="1"/>
          <p:nvPr/>
        </p:nvSpPr>
        <p:spPr>
          <a:xfrm>
            <a:off x="0" y="228599"/>
            <a:ext cx="7620000" cy="769441"/>
          </a:xfrm>
          <a:prstGeom prst="rect">
            <a:avLst/>
          </a:prstGeom>
          <a:noFill/>
        </p:spPr>
        <p:txBody>
          <a:bodyPr wrap="square" rtlCol="0">
            <a:spAutoFit/>
          </a:bodyPr>
          <a:lstStyle/>
          <a:p>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Introduction</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E01B672-65A8-C080-1158-53A7475225DF}"/>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21" name="TextBox 20">
            <a:extLst>
              <a:ext uri="{FF2B5EF4-FFF2-40B4-BE49-F238E27FC236}">
                <a16:creationId xmlns:a16="http://schemas.microsoft.com/office/drawing/2014/main" id="{66040105-609C-4A8C-F67F-A32087CC7439}"/>
              </a:ext>
            </a:extLst>
          </p:cNvPr>
          <p:cNvSpPr txBox="1"/>
          <p:nvPr/>
        </p:nvSpPr>
        <p:spPr>
          <a:xfrm>
            <a:off x="100577" y="1099369"/>
            <a:ext cx="11887200" cy="4893647"/>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Water pollution is a serious environmental issue affecting river ecosystems, aquatic life, and human health. Rivers carry pollutants such as plastic waste, oil residues, chemicals, and organic matter. Traditional monitoring methods are time-consuming and often fail to provide accurate results.</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address these challenges, this project proposes an Integrated River Water Quality Assessment System. It uses image-based object detection with the YOLOv10 algorithm to identify river pollutants. The system analyzes uploaded river images to classify different types of contamination.</a:t>
            </a: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Flask-based web application provides an easy interface for users to upload images and view results. The automated detection process reduces manual effort and improves monitoring efficiency. This approach supports systematic assessment and reporting of river water quality.</a:t>
            </a:r>
          </a:p>
          <a:p>
            <a:pPr marL="457200"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8854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A7939-BD59-29F2-84D0-A5C57644882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45BF57-1113-19FC-DF2A-3D8DBE683709}"/>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770F1E4-7F59-F59D-176F-3A5063E0E655}"/>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EC6AE4-ACE3-4D0B-AA99-05145579BB54}"/>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A79681A-9F71-03F5-44D2-6DE1B14709F9}"/>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411E0949-0F2C-0AEE-365D-FF86705CCF24}"/>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07</a:t>
            </a:r>
          </a:p>
        </p:txBody>
      </p:sp>
      <p:sp>
        <p:nvSpPr>
          <p:cNvPr id="16" name="TextBox 15">
            <a:extLst>
              <a:ext uri="{FF2B5EF4-FFF2-40B4-BE49-F238E27FC236}">
                <a16:creationId xmlns:a16="http://schemas.microsoft.com/office/drawing/2014/main" id="{69CA9AA0-F742-7169-8320-19996CD211F5}"/>
              </a:ext>
            </a:extLst>
          </p:cNvPr>
          <p:cNvSpPr txBox="1"/>
          <p:nvPr/>
        </p:nvSpPr>
        <p:spPr>
          <a:xfrm>
            <a:off x="0" y="216679"/>
            <a:ext cx="7620000" cy="769441"/>
          </a:xfrm>
          <a:prstGeom prst="rect">
            <a:avLst/>
          </a:prstGeom>
          <a:noFill/>
        </p:spPr>
        <p:txBody>
          <a:bodyPr wrap="square" rtlCol="0">
            <a:spAutoFit/>
          </a:bodyPr>
          <a:lstStyle/>
          <a:p>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Software Requirements</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C6723324-F584-9B5B-CE51-C2EF8EFD8C48}"/>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4" name="Rectangle 1">
            <a:extLst>
              <a:ext uri="{FF2B5EF4-FFF2-40B4-BE49-F238E27FC236}">
                <a16:creationId xmlns:a16="http://schemas.microsoft.com/office/drawing/2014/main" id="{73E80FB1-0A33-2F13-EF2A-F507A5560E96}"/>
              </a:ext>
            </a:extLst>
          </p:cNvPr>
          <p:cNvSpPr>
            <a:spLocks noChangeArrowheads="1"/>
          </p:cNvSpPr>
          <p:nvPr/>
        </p:nvSpPr>
        <p:spPr bwMode="auto">
          <a:xfrm>
            <a:off x="152399" y="1243092"/>
            <a:ext cx="1168204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a:t>
            </a:r>
            <a:endParaRPr lang="en-US" altLang="en-US" dirty="0">
              <a:latin typeface="Times New Roman" panose="02020603050405020304" pitchFamily="18" charset="0"/>
              <a:cs typeface="Times New Roman" panose="02020603050405020304" pitchFamily="18" charset="0"/>
            </a:endParaRPr>
          </a:p>
          <a:p>
            <a:pPr marL="1073150" marR="0" lvl="0" indent="-1073150"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HTML, CSS, JavaScript</a:t>
            </a:r>
            <a:endParaRPr lang="en-US" altLang="en-US" dirty="0">
              <a:latin typeface="Times New Roman" panose="02020603050405020304" pitchFamily="18" charset="0"/>
              <a:cs typeface="Times New Roman" panose="02020603050405020304" pitchFamily="18" charset="0"/>
            </a:endParaRPr>
          </a:p>
          <a:p>
            <a:pPr marL="1073150" marR="0" lvl="0" indent="-1073150"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Bootstrap</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a:t>
            </a:r>
          </a:p>
          <a:p>
            <a:pPr marR="0" lvl="0"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Flask Framework</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SQLite</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 Logic</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YOLOv10 (Deep Learning Object Detection)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Image Processing &amp; Classification (Python)</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 / Tools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Pandas, TensorFlow,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Keras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VS Code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 3.8+</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 Virtual Environment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venv</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44609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825DD-3148-4A09-B748-D67D76B965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2A18FE1-07E9-C80C-2298-AE7881E6A5E4}"/>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B0AEEAC-71E2-E581-F4F9-CA74255D09FB}"/>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895BA0D-9DB4-A2AD-878F-8732C23F7EC8}"/>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DEA7E27-BB51-A220-567C-74A054E80159}"/>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2771AF91-E96E-248F-207D-66225AF27749}"/>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08</a:t>
            </a:r>
          </a:p>
        </p:txBody>
      </p:sp>
      <p:sp>
        <p:nvSpPr>
          <p:cNvPr id="16" name="TextBox 15">
            <a:extLst>
              <a:ext uri="{FF2B5EF4-FFF2-40B4-BE49-F238E27FC236}">
                <a16:creationId xmlns:a16="http://schemas.microsoft.com/office/drawing/2014/main" id="{42388D84-5E73-78A3-B3D1-776A62EB2F6C}"/>
              </a:ext>
            </a:extLst>
          </p:cNvPr>
          <p:cNvSpPr txBox="1"/>
          <p:nvPr/>
        </p:nvSpPr>
        <p:spPr>
          <a:xfrm>
            <a:off x="0" y="228601"/>
            <a:ext cx="7620000" cy="769441"/>
          </a:xfrm>
          <a:prstGeom prst="rect">
            <a:avLst/>
          </a:prstGeom>
          <a:noFill/>
        </p:spPr>
        <p:txBody>
          <a:bodyPr wrap="square" rtlCol="0">
            <a:spAutoFit/>
          </a:bodyPr>
          <a:lstStyle/>
          <a:p>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Datasets/Modules</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4F44853E-A66A-9639-ABFA-13128D724BB0}"/>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21" name="TextBox 20">
            <a:extLst>
              <a:ext uri="{FF2B5EF4-FFF2-40B4-BE49-F238E27FC236}">
                <a16:creationId xmlns:a16="http://schemas.microsoft.com/office/drawing/2014/main" id="{2067B121-B8E9-6046-1B67-FD6A46EC8E79}"/>
              </a:ext>
            </a:extLst>
          </p:cNvPr>
          <p:cNvSpPr txBox="1"/>
          <p:nvPr/>
        </p:nvSpPr>
        <p:spPr>
          <a:xfrm>
            <a:off x="219808" y="1226804"/>
            <a:ext cx="11710460" cy="5040354"/>
          </a:xfrm>
          <a:prstGeom prst="rect">
            <a:avLst/>
          </a:prstGeom>
          <a:noFill/>
        </p:spPr>
        <p:txBody>
          <a:bodyPr wrap="square" rtlCol="0">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River Pollution Dataset</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Fields:</a:t>
            </a:r>
            <a:r>
              <a:rPr lang="en-US" sz="2400" dirty="0">
                <a:latin typeface="Times New Roman" panose="02020603050405020304" pitchFamily="18" charset="0"/>
                <a:cs typeface="Times New Roman" panose="02020603050405020304" pitchFamily="18" charset="0"/>
              </a:rPr>
              <a:t> Image ID, Image Path, Pollution Type, Object Type, Bounding Box Coordinates, Confidence Score</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Purpose:</a:t>
            </a:r>
            <a:r>
              <a:rPr lang="en-US" sz="2400" dirty="0">
                <a:latin typeface="Times New Roman" panose="02020603050405020304" pitchFamily="18" charset="0"/>
                <a:cs typeface="Times New Roman" panose="02020603050405020304" pitchFamily="18" charset="0"/>
              </a:rPr>
              <a:t> Stores labeled river images used for training and testing the YOLOv10 model to detect different pollutants.</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Object Dataset</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Fields:</a:t>
            </a:r>
            <a:r>
              <a:rPr lang="en-US" sz="2400" dirty="0">
                <a:latin typeface="Times New Roman" panose="02020603050405020304" pitchFamily="18" charset="0"/>
                <a:cs typeface="Times New Roman" panose="02020603050405020304" pitchFamily="18" charset="0"/>
              </a:rPr>
              <a:t> Object ID, Object Name, Category (Plastic/Organic/Metal), Image ID</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Purpose:</a:t>
            </a:r>
            <a:r>
              <a:rPr lang="en-US" sz="2400" dirty="0">
                <a:latin typeface="Times New Roman" panose="02020603050405020304" pitchFamily="18" charset="0"/>
                <a:cs typeface="Times New Roman" panose="02020603050405020304" pitchFamily="18" charset="0"/>
              </a:rPr>
              <a:t> Maintains details of objects such as bottles, glass, metal, paper, and trash detected in river water.</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User Dataset</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Fields:</a:t>
            </a:r>
            <a:r>
              <a:rPr lang="en-US" sz="2400" dirty="0">
                <a:latin typeface="Times New Roman" panose="02020603050405020304" pitchFamily="18" charset="0"/>
                <a:cs typeface="Times New Roman" panose="02020603050405020304" pitchFamily="18" charset="0"/>
              </a:rPr>
              <a:t> User ID, Name, Email, Password, Login Time, Uploaded Image History</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Purpose:</a:t>
            </a:r>
            <a:r>
              <a:rPr lang="en-US" sz="2400" dirty="0">
                <a:latin typeface="Times New Roman" panose="02020603050405020304" pitchFamily="18" charset="0"/>
                <a:cs typeface="Times New Roman" panose="02020603050405020304" pitchFamily="18" charset="0"/>
              </a:rPr>
              <a:t> Manages user authentication, image uploads, and user activity tracking.</a:t>
            </a:r>
          </a:p>
          <a:p>
            <a:pPr marL="457200" marR="0" lvl="0" indent="-406400" algn="just" defTabSz="914400" rtl="0" eaLnBrk="1" fontAlgn="auto" latinLnBrk="0" hangingPunct="1">
              <a:lnSpc>
                <a:spcPct val="90000"/>
              </a:lnSpc>
              <a:spcBef>
                <a:spcPts val="1000"/>
              </a:spcBef>
              <a:spcAft>
                <a:spcPts val="0"/>
              </a:spcAft>
              <a:buClr>
                <a:prstClr val="black"/>
              </a:buClr>
              <a:buSzPts val="2800"/>
              <a:buFont typeface="Noto Sans Symbols"/>
              <a:buChar char="⮚"/>
              <a:tabLst/>
              <a:defRPr/>
            </a:pPr>
            <a:endParaRPr kumimoji="0" lang="en-US" sz="28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Times New Roman" panose="02020603050405020304"/>
            </a:endParaRPr>
          </a:p>
        </p:txBody>
      </p:sp>
    </p:spTree>
    <p:extLst>
      <p:ext uri="{BB962C8B-B14F-4D97-AF65-F5344CB8AC3E}">
        <p14:creationId xmlns:p14="http://schemas.microsoft.com/office/powerpoint/2010/main" val="4038117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EA93D-4AE5-1D09-A073-84567856FB6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A194F8-67A0-190A-B05B-CAC8950D8DBF}"/>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9DDC71E-BFF2-32C6-3867-42F67D12E777}"/>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D10595E-1247-3A55-1EB3-C299FABD5473}"/>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DE30282-B537-6407-C32C-B298E090F78F}"/>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32F00EC-5CA7-5270-B798-5A8CD1163E94}"/>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09</a:t>
            </a:r>
          </a:p>
        </p:txBody>
      </p:sp>
      <p:sp>
        <p:nvSpPr>
          <p:cNvPr id="16" name="TextBox 15">
            <a:extLst>
              <a:ext uri="{FF2B5EF4-FFF2-40B4-BE49-F238E27FC236}">
                <a16:creationId xmlns:a16="http://schemas.microsoft.com/office/drawing/2014/main" id="{A7B91288-2246-47AA-4C31-05156E084A56}"/>
              </a:ext>
            </a:extLst>
          </p:cNvPr>
          <p:cNvSpPr txBox="1"/>
          <p:nvPr/>
        </p:nvSpPr>
        <p:spPr>
          <a:xfrm>
            <a:off x="0" y="341067"/>
            <a:ext cx="7620000" cy="769441"/>
          </a:xfrm>
          <a:prstGeom prst="rect">
            <a:avLst/>
          </a:prstGeom>
          <a:noFill/>
        </p:spPr>
        <p:txBody>
          <a:bodyPr wrap="square" rtlCol="0">
            <a:spAutoFit/>
          </a:bodyPr>
          <a:lstStyle/>
          <a:p>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Datasets/Modules</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6A62FBB6-20CB-08D6-6EC0-1938A776BD3B}"/>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21" name="TextBox 20">
            <a:extLst>
              <a:ext uri="{FF2B5EF4-FFF2-40B4-BE49-F238E27FC236}">
                <a16:creationId xmlns:a16="http://schemas.microsoft.com/office/drawing/2014/main" id="{686BB8B6-484E-64C7-5E98-68A64D04562C}"/>
              </a:ext>
            </a:extLst>
          </p:cNvPr>
          <p:cNvSpPr txBox="1"/>
          <p:nvPr/>
        </p:nvSpPr>
        <p:spPr>
          <a:xfrm>
            <a:off x="298938" y="1353356"/>
            <a:ext cx="11524716" cy="3138295"/>
          </a:xfrm>
          <a:prstGeom prst="rect">
            <a:avLst/>
          </a:prstGeom>
          <a:noFill/>
        </p:spPr>
        <p:txBody>
          <a:bodyPr wrap="square" rtlCol="0">
            <a:spAutoFit/>
          </a:bodyPr>
          <a:lstStyle/>
          <a:p>
            <a:pPr marL="34290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Detection Results Dataset</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Fields:</a:t>
            </a:r>
            <a:r>
              <a:rPr lang="en-IN" sz="2400" dirty="0">
                <a:latin typeface="Times New Roman" panose="02020603050405020304" pitchFamily="18" charset="0"/>
                <a:cs typeface="Times New Roman" panose="02020603050405020304" pitchFamily="18" charset="0"/>
              </a:rPr>
              <a:t> Detection </a:t>
            </a:r>
            <a:r>
              <a:rPr lang="en-IN" sz="2400" dirty="0" err="1">
                <a:latin typeface="Times New Roman" panose="02020603050405020304" pitchFamily="18" charset="0"/>
                <a:cs typeface="Times New Roman" panose="02020603050405020304" pitchFamily="18" charset="0"/>
              </a:rPr>
              <a:t>ID,Image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ID,Detected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Class,Confidence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Level,Detection</a:t>
            </a:r>
            <a:r>
              <a:rPr lang="en-IN" sz="2400" dirty="0">
                <a:latin typeface="Times New Roman" panose="02020603050405020304" pitchFamily="18" charset="0"/>
                <a:cs typeface="Times New Roman" panose="02020603050405020304" pitchFamily="18" charset="0"/>
              </a:rPr>
              <a:t> Time.</a:t>
            </a: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Purpose:</a:t>
            </a:r>
            <a:r>
              <a:rPr lang="en-IN" sz="2400" dirty="0">
                <a:latin typeface="Times New Roman" panose="02020603050405020304" pitchFamily="18" charset="0"/>
                <a:cs typeface="Times New Roman" panose="02020603050405020304" pitchFamily="18" charset="0"/>
              </a:rPr>
              <a:t> Stores detection outcomes for monitoring, reporting, and future analysis.</a:t>
            </a:r>
          </a:p>
          <a:p>
            <a:pPr marL="1169988" indent="-623888" algn="just"/>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Admin Dataset</a:t>
            </a:r>
          </a:p>
          <a:p>
            <a:pPr marL="342900" indent="-342900"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Fields:</a:t>
            </a:r>
            <a:r>
              <a:rPr lang="en-IN" sz="2400" dirty="0">
                <a:latin typeface="Times New Roman" panose="02020603050405020304" pitchFamily="18" charset="0"/>
                <a:cs typeface="Times New Roman" panose="02020603050405020304" pitchFamily="18" charset="0"/>
              </a:rPr>
              <a:t> Admin ID, Username, Password, Role/Access Level, Notification Status</a:t>
            </a:r>
          </a:p>
          <a:p>
            <a:pPr marL="342900" indent="-342900"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Purpose:</a:t>
            </a:r>
            <a:r>
              <a:rPr lang="en-IN" sz="2400" dirty="0">
                <a:latin typeface="Times New Roman" panose="02020603050405020304" pitchFamily="18" charset="0"/>
                <a:cs typeface="Times New Roman" panose="02020603050405020304" pitchFamily="18" charset="0"/>
              </a:rPr>
              <a:t> Handles system monitoring, pollution alerts, and administrative controls.</a:t>
            </a:r>
          </a:p>
          <a:p>
            <a:pPr marL="50800" marR="0" lvl="0" algn="just" defTabSz="914400" rtl="0" eaLnBrk="1" fontAlgn="auto" latinLnBrk="0" hangingPunct="1">
              <a:lnSpc>
                <a:spcPct val="90000"/>
              </a:lnSpc>
              <a:spcBef>
                <a:spcPts val="1000"/>
              </a:spcBef>
              <a:spcAft>
                <a:spcPts val="0"/>
              </a:spcAft>
              <a:buClr>
                <a:prstClr val="black"/>
              </a:buClr>
              <a:buSzPts val="2800"/>
              <a:tabLst/>
              <a:defRPr/>
            </a:pPr>
            <a:endParaRPr kumimoji="0" lang="en-IN" sz="2400" b="1" i="0" u="none" strike="noStrike" kern="0" cap="none" spc="0" normalizeH="0" baseline="0" noProof="0" dirty="0">
              <a:ln>
                <a:noFill/>
              </a:ln>
              <a:solidFill>
                <a:prstClr val="black"/>
              </a:solidFill>
              <a:effectLst/>
              <a:uLnTx/>
              <a:uFillTx/>
              <a:latin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2203402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1678B-DFC8-191D-FCB2-6D5941A0BC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323A26-60C2-89F8-78B8-D18526A9336B}"/>
              </a:ext>
            </a:extLst>
          </p:cNvPr>
          <p:cNvSpPr/>
          <p:nvPr/>
        </p:nvSpPr>
        <p:spPr>
          <a:xfrm>
            <a:off x="0" y="228600"/>
            <a:ext cx="12192000" cy="721528"/>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1C645C9-3233-F395-5685-F373B8FAADBD}"/>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E22B351-9274-85EB-7C39-4A48CADD87BD}"/>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E707D3F-41EC-AF1E-79AE-F4CCA105D54D}"/>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59C4461-D407-8AA3-1BE4-A036EEB7AF1C}"/>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10</a:t>
            </a:r>
          </a:p>
        </p:txBody>
      </p:sp>
      <p:sp>
        <p:nvSpPr>
          <p:cNvPr id="16" name="TextBox 15">
            <a:extLst>
              <a:ext uri="{FF2B5EF4-FFF2-40B4-BE49-F238E27FC236}">
                <a16:creationId xmlns:a16="http://schemas.microsoft.com/office/drawing/2014/main" id="{9F68BBDC-ADE6-791E-BC90-C581E3E07D5F}"/>
              </a:ext>
            </a:extLst>
          </p:cNvPr>
          <p:cNvSpPr txBox="1"/>
          <p:nvPr/>
        </p:nvSpPr>
        <p:spPr>
          <a:xfrm>
            <a:off x="0" y="199542"/>
            <a:ext cx="7585276" cy="769441"/>
          </a:xfrm>
          <a:prstGeom prst="rect">
            <a:avLst/>
          </a:prstGeom>
          <a:noFill/>
        </p:spPr>
        <p:txBody>
          <a:bodyPr wrap="square" rtlCol="0">
            <a:spAutoFit/>
          </a:bodyPr>
          <a:lstStyle/>
          <a:p>
            <a:pPr marL="12700">
              <a:lnSpc>
                <a:spcPct val="100000"/>
              </a:lnSpc>
              <a:spcBef>
                <a:spcPts val="100"/>
              </a:spcBef>
            </a:pPr>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Implementation</a:t>
            </a:r>
            <a:endParaRPr lang="en-IN" sz="4400" dirty="0">
              <a:latin typeface="Times New Roman"/>
              <a:cs typeface="Times New Roman"/>
            </a:endParaRPr>
          </a:p>
        </p:txBody>
      </p:sp>
      <p:sp>
        <p:nvSpPr>
          <p:cNvPr id="20" name="TextBox 19">
            <a:extLst>
              <a:ext uri="{FF2B5EF4-FFF2-40B4-BE49-F238E27FC236}">
                <a16:creationId xmlns:a16="http://schemas.microsoft.com/office/drawing/2014/main" id="{D51E9120-952F-8BE9-2182-E1D6B735A410}"/>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pic>
        <p:nvPicPr>
          <p:cNvPr id="5" name="Picture 4">
            <a:extLst>
              <a:ext uri="{FF2B5EF4-FFF2-40B4-BE49-F238E27FC236}">
                <a16:creationId xmlns:a16="http://schemas.microsoft.com/office/drawing/2014/main" id="{5DDF36D5-9231-B814-DB24-028B53681618}"/>
              </a:ext>
            </a:extLst>
          </p:cNvPr>
          <p:cNvPicPr>
            <a:picLocks noChangeAspect="1"/>
          </p:cNvPicPr>
          <p:nvPr/>
        </p:nvPicPr>
        <p:blipFill>
          <a:blip r:embed="rId3"/>
          <a:stretch>
            <a:fillRect/>
          </a:stretch>
        </p:blipFill>
        <p:spPr>
          <a:xfrm>
            <a:off x="59665" y="1035561"/>
            <a:ext cx="5919019" cy="2633623"/>
          </a:xfrm>
          <a:prstGeom prst="rect">
            <a:avLst/>
          </a:prstGeom>
        </p:spPr>
      </p:pic>
      <p:pic>
        <p:nvPicPr>
          <p:cNvPr id="7" name="Picture 6">
            <a:extLst>
              <a:ext uri="{FF2B5EF4-FFF2-40B4-BE49-F238E27FC236}">
                <a16:creationId xmlns:a16="http://schemas.microsoft.com/office/drawing/2014/main" id="{BB35D002-D883-7481-62E7-60F74FFABD00}"/>
              </a:ext>
            </a:extLst>
          </p:cNvPr>
          <p:cNvPicPr>
            <a:picLocks noChangeAspect="1"/>
          </p:cNvPicPr>
          <p:nvPr/>
        </p:nvPicPr>
        <p:blipFill>
          <a:blip r:embed="rId4"/>
          <a:stretch>
            <a:fillRect/>
          </a:stretch>
        </p:blipFill>
        <p:spPr>
          <a:xfrm>
            <a:off x="6027174" y="1020440"/>
            <a:ext cx="6068748" cy="2633623"/>
          </a:xfrm>
          <a:prstGeom prst="rect">
            <a:avLst/>
          </a:prstGeom>
        </p:spPr>
      </p:pic>
      <p:pic>
        <p:nvPicPr>
          <p:cNvPr id="10" name="Picture 9">
            <a:extLst>
              <a:ext uri="{FF2B5EF4-FFF2-40B4-BE49-F238E27FC236}">
                <a16:creationId xmlns:a16="http://schemas.microsoft.com/office/drawing/2014/main" id="{E722F0D9-0AA8-6AD9-AC0C-4B86F8D4E37E}"/>
              </a:ext>
            </a:extLst>
          </p:cNvPr>
          <p:cNvPicPr>
            <a:picLocks noChangeAspect="1"/>
          </p:cNvPicPr>
          <p:nvPr/>
        </p:nvPicPr>
        <p:blipFill>
          <a:blip r:embed="rId5"/>
          <a:stretch>
            <a:fillRect/>
          </a:stretch>
        </p:blipFill>
        <p:spPr>
          <a:xfrm>
            <a:off x="83781" y="3720641"/>
            <a:ext cx="5894903" cy="2838296"/>
          </a:xfrm>
          <a:prstGeom prst="rect">
            <a:avLst/>
          </a:prstGeom>
        </p:spPr>
      </p:pic>
      <p:pic>
        <p:nvPicPr>
          <p:cNvPr id="18" name="Picture 17">
            <a:extLst>
              <a:ext uri="{FF2B5EF4-FFF2-40B4-BE49-F238E27FC236}">
                <a16:creationId xmlns:a16="http://schemas.microsoft.com/office/drawing/2014/main" id="{BF9C3A6F-32B4-F368-F31F-905A04F49ADC}"/>
              </a:ext>
            </a:extLst>
          </p:cNvPr>
          <p:cNvPicPr>
            <a:picLocks noChangeAspect="1"/>
          </p:cNvPicPr>
          <p:nvPr/>
        </p:nvPicPr>
        <p:blipFill>
          <a:blip r:embed="rId6"/>
          <a:stretch>
            <a:fillRect/>
          </a:stretch>
        </p:blipFill>
        <p:spPr>
          <a:xfrm>
            <a:off x="6027175" y="3720641"/>
            <a:ext cx="6068748" cy="2750497"/>
          </a:xfrm>
          <a:prstGeom prst="rect">
            <a:avLst/>
          </a:prstGeom>
        </p:spPr>
      </p:pic>
    </p:spTree>
    <p:extLst>
      <p:ext uri="{BB962C8B-B14F-4D97-AF65-F5344CB8AC3E}">
        <p14:creationId xmlns:p14="http://schemas.microsoft.com/office/powerpoint/2010/main" val="4160059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920DD-F466-FC6E-2603-F9A577ECCEA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6195AB-DBAD-D19B-C016-2DA7CD71259D}"/>
              </a:ext>
            </a:extLst>
          </p:cNvPr>
          <p:cNvSpPr/>
          <p:nvPr/>
        </p:nvSpPr>
        <p:spPr>
          <a:xfrm>
            <a:off x="0" y="228600"/>
            <a:ext cx="12192000" cy="721528"/>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D579583-0005-B5A6-DBBD-ABECC020946E}"/>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3EA02F0-765A-A0A1-5B89-C7903F4A0783}"/>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0E7F90A-A57F-4A99-06F9-BA4DC1195E50}"/>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D9A85DE-955C-136F-0047-446838DD3B4C}"/>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1</a:t>
            </a:r>
          </a:p>
        </p:txBody>
      </p:sp>
      <p:sp>
        <p:nvSpPr>
          <p:cNvPr id="16" name="TextBox 15">
            <a:extLst>
              <a:ext uri="{FF2B5EF4-FFF2-40B4-BE49-F238E27FC236}">
                <a16:creationId xmlns:a16="http://schemas.microsoft.com/office/drawing/2014/main" id="{E15EACC1-F057-00F8-C824-613C37293912}"/>
              </a:ext>
            </a:extLst>
          </p:cNvPr>
          <p:cNvSpPr txBox="1"/>
          <p:nvPr/>
        </p:nvSpPr>
        <p:spPr>
          <a:xfrm>
            <a:off x="0" y="176709"/>
            <a:ext cx="7315200" cy="769441"/>
          </a:xfrm>
          <a:prstGeom prst="rect">
            <a:avLst/>
          </a:prstGeom>
          <a:noFill/>
        </p:spPr>
        <p:txBody>
          <a:bodyPr wrap="square" rtlCol="0">
            <a:spAutoFit/>
          </a:bodyPr>
          <a:lstStyle/>
          <a:p>
            <a:pPr marL="12700">
              <a:lnSpc>
                <a:spcPct val="100000"/>
              </a:lnSpc>
              <a:spcBef>
                <a:spcPts val="100"/>
              </a:spcBef>
            </a:pPr>
            <a:r>
              <a:rPr lang="en-US" sz="4400" kern="0" dirty="0">
                <a:solidFill>
                  <a:prstClr val="white"/>
                </a:solidFill>
                <a:latin typeface="Times New Roman" panose="02020603050405020304"/>
                <a:cs typeface="Times New Roman" panose="02020603050405020304"/>
                <a:sym typeface="+mn-ea"/>
              </a:rPr>
              <a:t>UML diagram of Use Case</a:t>
            </a:r>
            <a:endParaRPr lang="en-IN" sz="4400" dirty="0">
              <a:latin typeface="Times New Roman"/>
              <a:cs typeface="Times New Roman"/>
            </a:endParaRPr>
          </a:p>
        </p:txBody>
      </p:sp>
      <p:sp>
        <p:nvSpPr>
          <p:cNvPr id="20" name="TextBox 19">
            <a:extLst>
              <a:ext uri="{FF2B5EF4-FFF2-40B4-BE49-F238E27FC236}">
                <a16:creationId xmlns:a16="http://schemas.microsoft.com/office/drawing/2014/main" id="{6BDB8973-8F36-6736-14C4-C28FD9326254}"/>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24" name="Rectangle 13">
            <a:extLst>
              <a:ext uri="{FF2B5EF4-FFF2-40B4-BE49-F238E27FC236}">
                <a16:creationId xmlns:a16="http://schemas.microsoft.com/office/drawing/2014/main" id="{EF30B2F2-D493-8403-34B8-5DE7614933E2}"/>
              </a:ext>
            </a:extLst>
          </p:cNvPr>
          <p:cNvSpPr>
            <a:spLocks noChangeArrowheads="1"/>
          </p:cNvSpPr>
          <p:nvPr/>
        </p:nvSpPr>
        <p:spPr bwMode="auto">
          <a:xfrm>
            <a:off x="152401" y="1023219"/>
            <a:ext cx="6269166"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 centralized platform for assessing river water quality by detecting pollutants using image-based object detection and enabling effective monitoring and reporting.</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Role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 pollution detection results through the admin dashboard</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Receive automated notifications when pollutants are detected</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Manage system data and oversee monitoring activities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Role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Register and log in to the system</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Upload river water images for pollution detection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 prediction results and detected pollutants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Send notifications to the admin if pollution is identified</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 out securely from the system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15">
            <a:extLst>
              <a:ext uri="{FF2B5EF4-FFF2-40B4-BE49-F238E27FC236}">
                <a16:creationId xmlns:a16="http://schemas.microsoft.com/office/drawing/2014/main" id="{5C0207A2-4446-94D3-EF8C-7DEC5D8D2E12}"/>
              </a:ext>
            </a:extLst>
          </p:cNvPr>
          <p:cNvSpPr>
            <a:spLocks noChangeArrowheads="1"/>
          </p:cNvSpPr>
          <p:nvPr/>
        </p:nvSpPr>
        <p:spPr bwMode="auto">
          <a:xfrm>
            <a:off x="0" y="9900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674290B5-5C7B-817E-1A29-20D62AA3B28F}"/>
              </a:ext>
            </a:extLst>
          </p:cNvPr>
          <p:cNvPicPr>
            <a:picLocks noChangeAspect="1"/>
          </p:cNvPicPr>
          <p:nvPr/>
        </p:nvPicPr>
        <p:blipFill>
          <a:blip r:embed="rId3"/>
          <a:stretch>
            <a:fillRect/>
          </a:stretch>
        </p:blipFill>
        <p:spPr>
          <a:xfrm>
            <a:off x="6897227" y="1359416"/>
            <a:ext cx="4029296" cy="4382009"/>
          </a:xfrm>
          <a:prstGeom prst="rect">
            <a:avLst/>
          </a:prstGeom>
        </p:spPr>
      </p:pic>
    </p:spTree>
    <p:extLst>
      <p:ext uri="{BB962C8B-B14F-4D97-AF65-F5344CB8AC3E}">
        <p14:creationId xmlns:p14="http://schemas.microsoft.com/office/powerpoint/2010/main" val="4073634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576CC-F32F-92C5-FD3D-9AEB397B49B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D6D02C1-E744-A0BD-0DC5-A17290F48222}"/>
              </a:ext>
            </a:extLst>
          </p:cNvPr>
          <p:cNvSpPr/>
          <p:nvPr/>
        </p:nvSpPr>
        <p:spPr>
          <a:xfrm>
            <a:off x="0" y="228600"/>
            <a:ext cx="12192000" cy="721528"/>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D069071-A2CC-E1F3-5167-194A8A004DC8}"/>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D9FD16B-C98F-1417-613B-0361E0416564}"/>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689560E-E4C2-57F7-662B-BEFFECC40C42}"/>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DF150B7A-C1B2-34B0-FC6A-1EE602FFD395}"/>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2</a:t>
            </a:r>
          </a:p>
        </p:txBody>
      </p:sp>
      <p:sp>
        <p:nvSpPr>
          <p:cNvPr id="16" name="TextBox 15">
            <a:extLst>
              <a:ext uri="{FF2B5EF4-FFF2-40B4-BE49-F238E27FC236}">
                <a16:creationId xmlns:a16="http://schemas.microsoft.com/office/drawing/2014/main" id="{A1904925-E090-9F33-6F24-0A3449F66A83}"/>
              </a:ext>
            </a:extLst>
          </p:cNvPr>
          <p:cNvSpPr txBox="1"/>
          <p:nvPr/>
        </p:nvSpPr>
        <p:spPr>
          <a:xfrm>
            <a:off x="0" y="228600"/>
            <a:ext cx="7585276" cy="769441"/>
          </a:xfrm>
          <a:prstGeom prst="rect">
            <a:avLst/>
          </a:prstGeom>
          <a:noFill/>
        </p:spPr>
        <p:txBody>
          <a:bodyPr wrap="square" rtlCol="0">
            <a:spAutoFit/>
          </a:bodyPr>
          <a:lstStyle/>
          <a:p>
            <a:pPr marL="12700">
              <a:lnSpc>
                <a:spcPct val="100000"/>
              </a:lnSpc>
              <a:spcBef>
                <a:spcPts val="100"/>
              </a:spcBef>
            </a:pPr>
            <a:r>
              <a:rPr lang="en-US" sz="4400" kern="0" dirty="0">
                <a:solidFill>
                  <a:prstClr val="white"/>
                </a:solidFill>
                <a:latin typeface="Times New Roman" panose="02020603050405020304"/>
                <a:cs typeface="Times New Roman" panose="02020603050405020304"/>
                <a:sym typeface="+mn-ea"/>
              </a:rPr>
              <a:t>UML diagram of Class</a:t>
            </a:r>
            <a:endParaRPr lang="en-IN" sz="4400" dirty="0">
              <a:latin typeface="Times New Roman"/>
              <a:cs typeface="Times New Roman"/>
            </a:endParaRPr>
          </a:p>
        </p:txBody>
      </p:sp>
      <p:sp>
        <p:nvSpPr>
          <p:cNvPr id="20" name="TextBox 19">
            <a:extLst>
              <a:ext uri="{FF2B5EF4-FFF2-40B4-BE49-F238E27FC236}">
                <a16:creationId xmlns:a16="http://schemas.microsoft.com/office/drawing/2014/main" id="{1898E673-4420-5D82-1D5B-FD4020484A2D}"/>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7" name="TextBox 6">
            <a:extLst>
              <a:ext uri="{FF2B5EF4-FFF2-40B4-BE49-F238E27FC236}">
                <a16:creationId xmlns:a16="http://schemas.microsoft.com/office/drawing/2014/main" id="{14CB411F-F418-AE38-6EA5-3B2ECA7110B1}"/>
              </a:ext>
            </a:extLst>
          </p:cNvPr>
          <p:cNvSpPr txBox="1"/>
          <p:nvPr/>
        </p:nvSpPr>
        <p:spPr>
          <a:xfrm>
            <a:off x="61350" y="998042"/>
            <a:ext cx="8718374" cy="5693866"/>
          </a:xfrm>
          <a:prstGeom prst="rect">
            <a:avLst/>
          </a:prstGeom>
          <a:noFill/>
        </p:spPr>
        <p:txBody>
          <a:bodyPr wrap="square">
            <a:spAutoFit/>
          </a:bodyPr>
          <a:lstStyle/>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User</a:t>
            </a:r>
          </a:p>
          <a:p>
            <a:pPr marL="61595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Attributes:</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user_id</a:t>
            </a:r>
            <a:r>
              <a:rPr lang="en-US" sz="2000" dirty="0">
                <a:latin typeface="Times New Roman" panose="02020603050405020304" pitchFamily="18" charset="0"/>
                <a:cs typeface="Times New Roman" panose="02020603050405020304" pitchFamily="18" charset="0"/>
              </a:rPr>
              <a:t>, username, password, email</a:t>
            </a:r>
          </a:p>
          <a:p>
            <a:pPr marL="61595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Functions: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register(), login(), logout()</a:t>
            </a:r>
          </a:p>
          <a:p>
            <a:pPr marL="61595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Purpose: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Allows users to access the system, upload river images, and view pollution detection results.</a:t>
            </a: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Image</a:t>
            </a:r>
          </a:p>
          <a:p>
            <a:pPr marL="623888"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Attributes:</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image_id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image_data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upload_time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user_id</a:t>
            </a:r>
            <a:endParaRPr lang="en-US" sz="2000" dirty="0">
              <a:latin typeface="Times New Roman" panose="02020603050405020304" pitchFamily="18" charset="0"/>
              <a:cs typeface="Times New Roman" panose="02020603050405020304" pitchFamily="18" charset="0"/>
            </a:endParaRPr>
          </a:p>
          <a:p>
            <a:pPr marL="623888"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Functions: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upload(), preprocess()</a:t>
            </a:r>
          </a:p>
          <a:p>
            <a:pPr marL="623888"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Purpose: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Handles image upload and preprocessing before pollution detection.</a:t>
            </a:r>
          </a:p>
          <a:p>
            <a:pPr marL="447675" indent="-447675">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447675"/>
            <a:endParaRPr lang="en-US" sz="20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330F881-BC2B-D26D-6547-596A78FFED2C}"/>
              </a:ext>
            </a:extLst>
          </p:cNvPr>
          <p:cNvPicPr/>
          <p:nvPr/>
        </p:nvPicPr>
        <p:blipFill>
          <a:blip r:embed="rId3"/>
          <a:stretch>
            <a:fillRect/>
          </a:stretch>
        </p:blipFill>
        <p:spPr>
          <a:xfrm>
            <a:off x="8779724" y="1481325"/>
            <a:ext cx="2834916" cy="41457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55520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3E04-CCDD-22A1-4911-4A8D2B701A5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F25E49C-599F-2C9A-27D2-EF4FF03B4605}"/>
              </a:ext>
            </a:extLst>
          </p:cNvPr>
          <p:cNvSpPr/>
          <p:nvPr/>
        </p:nvSpPr>
        <p:spPr>
          <a:xfrm>
            <a:off x="0" y="228600"/>
            <a:ext cx="12192000" cy="721528"/>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CFC0C076-A24B-49F8-5D00-794504EFC82C}"/>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25F8723-6563-C226-D8BF-80817930546F}"/>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63652D5-1C05-8997-A507-AEBF0B5D16E4}"/>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A242AC69-8161-4F51-7E01-589817C46CE0}"/>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3</a:t>
            </a:r>
          </a:p>
        </p:txBody>
      </p:sp>
      <p:sp>
        <p:nvSpPr>
          <p:cNvPr id="16" name="TextBox 15">
            <a:extLst>
              <a:ext uri="{FF2B5EF4-FFF2-40B4-BE49-F238E27FC236}">
                <a16:creationId xmlns:a16="http://schemas.microsoft.com/office/drawing/2014/main" id="{D55B13C3-719A-7F01-867E-B19871AEAD67}"/>
              </a:ext>
            </a:extLst>
          </p:cNvPr>
          <p:cNvSpPr txBox="1"/>
          <p:nvPr/>
        </p:nvSpPr>
        <p:spPr>
          <a:xfrm>
            <a:off x="0" y="228600"/>
            <a:ext cx="7585276" cy="769441"/>
          </a:xfrm>
          <a:prstGeom prst="rect">
            <a:avLst/>
          </a:prstGeom>
          <a:noFill/>
        </p:spPr>
        <p:txBody>
          <a:bodyPr wrap="square" rtlCol="0">
            <a:spAutoFit/>
          </a:bodyPr>
          <a:lstStyle/>
          <a:p>
            <a:pPr marL="12700">
              <a:lnSpc>
                <a:spcPct val="100000"/>
              </a:lnSpc>
              <a:spcBef>
                <a:spcPts val="100"/>
              </a:spcBef>
            </a:pPr>
            <a:r>
              <a:rPr lang="en-US" sz="4400" kern="0" dirty="0">
                <a:solidFill>
                  <a:prstClr val="white"/>
                </a:solidFill>
                <a:latin typeface="Times New Roman" panose="02020603050405020304"/>
                <a:cs typeface="Times New Roman" panose="02020603050405020304"/>
                <a:sym typeface="+mn-ea"/>
              </a:rPr>
              <a:t>UML diagram of Class</a:t>
            </a:r>
            <a:endParaRPr lang="en-IN" sz="4400" dirty="0">
              <a:latin typeface="Times New Roman"/>
              <a:cs typeface="Times New Roman"/>
            </a:endParaRPr>
          </a:p>
        </p:txBody>
      </p:sp>
      <p:sp>
        <p:nvSpPr>
          <p:cNvPr id="20" name="TextBox 19">
            <a:extLst>
              <a:ext uri="{FF2B5EF4-FFF2-40B4-BE49-F238E27FC236}">
                <a16:creationId xmlns:a16="http://schemas.microsoft.com/office/drawing/2014/main" id="{56B43C1E-0352-02AB-727C-36DAE160D178}"/>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7" name="TextBox 6">
            <a:extLst>
              <a:ext uri="{FF2B5EF4-FFF2-40B4-BE49-F238E27FC236}">
                <a16:creationId xmlns:a16="http://schemas.microsoft.com/office/drawing/2014/main" id="{F40A5180-EEA3-8EED-4B28-330A7B6A05B8}"/>
              </a:ext>
            </a:extLst>
          </p:cNvPr>
          <p:cNvSpPr txBox="1"/>
          <p:nvPr/>
        </p:nvSpPr>
        <p:spPr>
          <a:xfrm>
            <a:off x="0" y="962050"/>
            <a:ext cx="8718374" cy="5386090"/>
          </a:xfrm>
          <a:prstGeom prst="rect">
            <a:avLst/>
          </a:prstGeom>
          <a:noFill/>
        </p:spPr>
        <p:txBody>
          <a:bodyPr wrap="square">
            <a:spAutoFit/>
          </a:bodyPr>
          <a:lstStyle/>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Detection</a:t>
            </a:r>
          </a:p>
          <a:p>
            <a:pPr marL="623888"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 Attributes: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model, </a:t>
            </a:r>
            <a:r>
              <a:rPr lang="en-US" sz="2000" dirty="0" err="1">
                <a:latin typeface="Times New Roman" panose="02020603050405020304" pitchFamily="18" charset="0"/>
                <a:cs typeface="Times New Roman" panose="02020603050405020304" pitchFamily="18" charset="0"/>
              </a:rPr>
              <a:t>detected_class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confidence_score</a:t>
            </a:r>
            <a:endParaRPr lang="en-US" sz="2000" dirty="0">
              <a:latin typeface="Times New Roman" panose="02020603050405020304" pitchFamily="18" charset="0"/>
              <a:cs typeface="Times New Roman" panose="02020603050405020304" pitchFamily="18" charset="0"/>
            </a:endParaRPr>
          </a:p>
          <a:p>
            <a:pPr marL="623888"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Functions: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predict(image)</a:t>
            </a:r>
          </a:p>
          <a:p>
            <a:pPr marL="623888"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Purpose: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Uses the YOLOv10 model to detect and classify pollutants and objects in river images.</a:t>
            </a: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Admin</a:t>
            </a:r>
          </a:p>
          <a:p>
            <a:pPr marL="720725" indent="-447675">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Attributes:</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admin_id</a:t>
            </a:r>
            <a:r>
              <a:rPr lang="en-US" sz="2000" dirty="0">
                <a:latin typeface="Times New Roman" panose="02020603050405020304" pitchFamily="18" charset="0"/>
                <a:cs typeface="Times New Roman" panose="02020603050405020304" pitchFamily="18" charset="0"/>
              </a:rPr>
              <a:t>, email</a:t>
            </a:r>
          </a:p>
          <a:p>
            <a:pPr marL="720725" indent="-447675">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Functions:</a:t>
            </a:r>
            <a:br>
              <a:rPr lang="en-US" sz="2000" dirty="0">
                <a:latin typeface="Times New Roman" panose="02020603050405020304" pitchFamily="18" charset="0"/>
                <a:cs typeface="Times New Roman" panose="02020603050405020304" pitchFamily="18" charset="0"/>
              </a:rPr>
            </a:br>
            <a:r>
              <a:rPr lang="en-US" sz="2000" dirty="0" err="1">
                <a:latin typeface="Times New Roman" panose="02020603050405020304" pitchFamily="18" charset="0"/>
                <a:cs typeface="Times New Roman" panose="02020603050405020304" pitchFamily="18" charset="0"/>
              </a:rPr>
              <a:t>receive_notification</a:t>
            </a:r>
            <a:r>
              <a:rPr lang="en-US" sz="2000" dirty="0">
                <a:latin typeface="Times New Roman" panose="02020603050405020304" pitchFamily="18" charset="0"/>
                <a:cs typeface="Times New Roman" panose="02020603050405020304" pitchFamily="18" charset="0"/>
              </a:rPr>
              <a:t>()</a:t>
            </a:r>
          </a:p>
          <a:p>
            <a:pPr marL="720725" indent="-447675">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Purpose: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Receives alerts when pollution is detected and monitors system activity.</a:t>
            </a:r>
          </a:p>
          <a:p>
            <a:pPr marL="809625"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A54E770-802B-F7D4-D47F-94E0B1503EF7}"/>
              </a:ext>
            </a:extLst>
          </p:cNvPr>
          <p:cNvPicPr/>
          <p:nvPr/>
        </p:nvPicPr>
        <p:blipFill>
          <a:blip r:embed="rId3"/>
          <a:stretch>
            <a:fillRect/>
          </a:stretch>
        </p:blipFill>
        <p:spPr>
          <a:xfrm>
            <a:off x="8779724" y="1481325"/>
            <a:ext cx="2834916" cy="41457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15489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82B55-2147-462D-BE48-775ECB6F57C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E5F47D8-283D-DAC6-0C7B-4F399F2D3552}"/>
              </a:ext>
            </a:extLst>
          </p:cNvPr>
          <p:cNvSpPr/>
          <p:nvPr/>
        </p:nvSpPr>
        <p:spPr>
          <a:xfrm>
            <a:off x="0" y="228600"/>
            <a:ext cx="12192000" cy="721528"/>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D44A317-6B51-BEEC-FFE5-2E27219162B4}"/>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1850A53-5A09-FBC5-06BF-A0A54F301FB5}"/>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08A8DA5-2A74-6F31-F174-9B16A09A2E7B}"/>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7C62DD0B-2804-1EBD-7913-D5847231E491}"/>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4</a:t>
            </a:r>
          </a:p>
        </p:txBody>
      </p:sp>
      <p:sp>
        <p:nvSpPr>
          <p:cNvPr id="16" name="TextBox 15">
            <a:extLst>
              <a:ext uri="{FF2B5EF4-FFF2-40B4-BE49-F238E27FC236}">
                <a16:creationId xmlns:a16="http://schemas.microsoft.com/office/drawing/2014/main" id="{75B91DAB-68E5-C6EE-FFC7-0FFAE7392414}"/>
              </a:ext>
            </a:extLst>
          </p:cNvPr>
          <p:cNvSpPr txBox="1"/>
          <p:nvPr/>
        </p:nvSpPr>
        <p:spPr>
          <a:xfrm>
            <a:off x="-73131" y="228600"/>
            <a:ext cx="7658407" cy="769441"/>
          </a:xfrm>
          <a:prstGeom prst="rect">
            <a:avLst/>
          </a:prstGeom>
          <a:noFill/>
        </p:spPr>
        <p:txBody>
          <a:bodyPr wrap="square" rtlCol="0">
            <a:spAutoFit/>
          </a:bodyPr>
          <a:lstStyle/>
          <a:p>
            <a:pPr marL="12700">
              <a:lnSpc>
                <a:spcPct val="100000"/>
              </a:lnSpc>
              <a:spcBef>
                <a:spcPts val="100"/>
              </a:spcBef>
            </a:pPr>
            <a:r>
              <a:rPr lang="en-US" sz="4400" kern="0" dirty="0">
                <a:solidFill>
                  <a:prstClr val="white"/>
                </a:solidFill>
                <a:latin typeface="Times New Roman" panose="02020603050405020304"/>
                <a:cs typeface="Times New Roman" panose="02020603050405020304"/>
                <a:sym typeface="+mn-ea"/>
              </a:rPr>
              <a:t>UML diagram of Sequence</a:t>
            </a:r>
            <a:endParaRPr lang="en-IN" sz="4400" dirty="0">
              <a:latin typeface="Times New Roman"/>
              <a:cs typeface="Times New Roman"/>
            </a:endParaRPr>
          </a:p>
        </p:txBody>
      </p:sp>
      <p:sp>
        <p:nvSpPr>
          <p:cNvPr id="20" name="TextBox 19">
            <a:extLst>
              <a:ext uri="{FF2B5EF4-FFF2-40B4-BE49-F238E27FC236}">
                <a16:creationId xmlns:a16="http://schemas.microsoft.com/office/drawing/2014/main" id="{5BC947BA-E290-93FC-CA14-58399EBE04C3}"/>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5" name="Rectangle 2">
            <a:extLst>
              <a:ext uri="{FF2B5EF4-FFF2-40B4-BE49-F238E27FC236}">
                <a16:creationId xmlns:a16="http://schemas.microsoft.com/office/drawing/2014/main" id="{0D244C95-A986-6C63-E212-D7890CD3F2D4}"/>
              </a:ext>
            </a:extLst>
          </p:cNvPr>
          <p:cNvSpPr>
            <a:spLocks noChangeArrowheads="1"/>
          </p:cNvSpPr>
          <p:nvPr/>
        </p:nvSpPr>
        <p:spPr bwMode="auto">
          <a:xfrm>
            <a:off x="-24377" y="3075925"/>
            <a:ext cx="1221637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976B7FCD-B8AA-691A-0992-D6AF31284F53}"/>
              </a:ext>
            </a:extLst>
          </p:cNvPr>
          <p:cNvSpPr>
            <a:spLocks noChangeArrowheads="1"/>
          </p:cNvSpPr>
          <p:nvPr/>
        </p:nvSpPr>
        <p:spPr bwMode="auto">
          <a:xfrm>
            <a:off x="152400" y="919287"/>
            <a:ext cx="7013331"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User Authentication &amp; Image Upload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user registers or logs in through the frontend interface.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frontend sends the login details to the backend for validation.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Once authenticated, the user uploads a river water image through the system.</a:t>
            </a: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Image Processing &amp; Detection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frontend forwards the uploaded image to the backend server.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backend sends the image to the YOLOv10 detection module for analysis.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detection module predicts pollutants and objects present in the image.</a:t>
            </a: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Result Display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After detection, the results are returned to the backend.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backend sends the prediction results to the frontend.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frontend displays the detected pollutants and confidence levels to the user.</a:t>
            </a:r>
          </a:p>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Notification &amp; Monitoring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pollution is detected, the detection module triggers a notification.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backend sends an alert to the admin with detection details.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admin monitors pollution status through the system dashboard.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C13E607E-0DE8-B2B9-3CE9-79A5FD41B86F}"/>
              </a:ext>
            </a:extLst>
          </p:cNvPr>
          <p:cNvPicPr>
            <a:picLocks noChangeAspect="1"/>
          </p:cNvPicPr>
          <p:nvPr/>
        </p:nvPicPr>
        <p:blipFill>
          <a:blip r:embed="rId3"/>
          <a:stretch>
            <a:fillRect/>
          </a:stretch>
        </p:blipFill>
        <p:spPr>
          <a:xfrm>
            <a:off x="6897227" y="1688728"/>
            <a:ext cx="5229955" cy="3639058"/>
          </a:xfrm>
          <a:prstGeom prst="rect">
            <a:avLst/>
          </a:prstGeom>
        </p:spPr>
      </p:pic>
    </p:spTree>
    <p:extLst>
      <p:ext uri="{BB962C8B-B14F-4D97-AF65-F5344CB8AC3E}">
        <p14:creationId xmlns:p14="http://schemas.microsoft.com/office/powerpoint/2010/main" val="4270452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5F668-A1B6-BA22-956A-CCCB2D5FAAE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1F1E4EB-6D3D-984F-64E6-DF35F0709C6A}"/>
              </a:ext>
            </a:extLst>
          </p:cNvPr>
          <p:cNvSpPr/>
          <p:nvPr/>
        </p:nvSpPr>
        <p:spPr>
          <a:xfrm>
            <a:off x="0" y="228600"/>
            <a:ext cx="12192000" cy="721528"/>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EC99E99D-CFCD-0DB6-909C-06BD97079BFE}"/>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18E63B2-DB59-E777-A8D8-FD28EA26404D}"/>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89F30F2-155F-C338-5B63-7305FD523BB3}"/>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80C315A-A9A3-7771-4C12-478508160D5D}"/>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5</a:t>
            </a:r>
          </a:p>
        </p:txBody>
      </p:sp>
      <p:sp>
        <p:nvSpPr>
          <p:cNvPr id="16" name="TextBox 15">
            <a:extLst>
              <a:ext uri="{FF2B5EF4-FFF2-40B4-BE49-F238E27FC236}">
                <a16:creationId xmlns:a16="http://schemas.microsoft.com/office/drawing/2014/main" id="{7ABA6CAD-F1D2-9A88-BA72-5EA39D76AEB4}"/>
              </a:ext>
            </a:extLst>
          </p:cNvPr>
          <p:cNvSpPr txBox="1"/>
          <p:nvPr/>
        </p:nvSpPr>
        <p:spPr>
          <a:xfrm>
            <a:off x="1" y="227648"/>
            <a:ext cx="12155026" cy="769441"/>
          </a:xfrm>
          <a:prstGeom prst="rect">
            <a:avLst/>
          </a:prstGeom>
          <a:noFill/>
        </p:spPr>
        <p:txBody>
          <a:bodyPr wrap="square" rtlCol="0">
            <a:spAutoFit/>
          </a:bodyPr>
          <a:lstStyle/>
          <a:p>
            <a:pPr marL="12700">
              <a:lnSpc>
                <a:spcPct val="100000"/>
              </a:lnSpc>
              <a:spcBef>
                <a:spcPts val="100"/>
              </a:spcBef>
            </a:pPr>
            <a:r>
              <a:rPr lang="en-US" sz="4400" kern="0" dirty="0">
                <a:solidFill>
                  <a:prstClr val="white"/>
                </a:solidFill>
                <a:latin typeface="Times New Roman" panose="02020603050405020304"/>
                <a:cs typeface="Times New Roman" panose="02020603050405020304"/>
                <a:sym typeface="+mn-ea"/>
              </a:rPr>
              <a:t>UML diagram of Activity</a:t>
            </a:r>
            <a:endParaRPr lang="en-IN" sz="4400" dirty="0">
              <a:latin typeface="Times New Roman"/>
              <a:cs typeface="Times New Roman"/>
            </a:endParaRPr>
          </a:p>
        </p:txBody>
      </p:sp>
      <p:sp>
        <p:nvSpPr>
          <p:cNvPr id="20" name="TextBox 19">
            <a:extLst>
              <a:ext uri="{FF2B5EF4-FFF2-40B4-BE49-F238E27FC236}">
                <a16:creationId xmlns:a16="http://schemas.microsoft.com/office/drawing/2014/main" id="{938570E7-428D-4037-2B8B-9F4A2FBB64D0}"/>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7" name="TextBox 6">
            <a:extLst>
              <a:ext uri="{FF2B5EF4-FFF2-40B4-BE49-F238E27FC236}">
                <a16:creationId xmlns:a16="http://schemas.microsoft.com/office/drawing/2014/main" id="{A501A508-957E-F956-9AAE-3C85FFB5AB4B}"/>
              </a:ext>
            </a:extLst>
          </p:cNvPr>
          <p:cNvSpPr txBox="1"/>
          <p:nvPr/>
        </p:nvSpPr>
        <p:spPr>
          <a:xfrm>
            <a:off x="36973" y="997088"/>
            <a:ext cx="7181512" cy="6001643"/>
          </a:xfrm>
          <a:prstGeom prst="rect">
            <a:avLst/>
          </a:prstGeom>
          <a:noFill/>
        </p:spPr>
        <p:txBody>
          <a:bodyPr wrap="square">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Activity Diagram</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user starts the process by registering or logging into the system.</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After successful login, the user uploads a river water image for analysis.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preprocesses the uploaded image to improve detection accuracy.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YOLOv10 detection model is executed to identify pollutants and objects.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Detection results are displayed to the user on the interface.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pollutants are detected, the system sends a notification to the admin.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process ends after notifying the admin or displaying clean results.</a:t>
            </a:r>
          </a:p>
          <a:p>
            <a:endParaRPr lang="en-US"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2B4672C-DEF3-CDB3-7806-903FE3FBBBC0}"/>
              </a:ext>
            </a:extLst>
          </p:cNvPr>
          <p:cNvPicPr>
            <a:picLocks noChangeAspect="1"/>
          </p:cNvPicPr>
          <p:nvPr/>
        </p:nvPicPr>
        <p:blipFill>
          <a:blip r:embed="rId3"/>
          <a:stretch>
            <a:fillRect/>
          </a:stretch>
        </p:blipFill>
        <p:spPr>
          <a:xfrm>
            <a:off x="7622623" y="962050"/>
            <a:ext cx="3554164" cy="5377204"/>
          </a:xfrm>
          <a:prstGeom prst="rect">
            <a:avLst/>
          </a:prstGeom>
        </p:spPr>
      </p:pic>
    </p:spTree>
    <p:extLst>
      <p:ext uri="{BB962C8B-B14F-4D97-AF65-F5344CB8AC3E}">
        <p14:creationId xmlns:p14="http://schemas.microsoft.com/office/powerpoint/2010/main" val="1743295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6241-85BD-EAF7-F011-9310EF3EC89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BF3850C-8A03-5CDA-5E5F-490071318997}"/>
              </a:ext>
            </a:extLst>
          </p:cNvPr>
          <p:cNvSpPr/>
          <p:nvPr/>
        </p:nvSpPr>
        <p:spPr>
          <a:xfrm>
            <a:off x="0" y="228600"/>
            <a:ext cx="12192000" cy="721528"/>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0D511ADF-67E2-C22E-3CD2-CE85D8849912}"/>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7D75E70-00EC-57ED-A187-FECFD1FABF42}"/>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C85C289-F463-D299-8BE1-18E530B27ADA}"/>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4129482E-F713-165F-A6B7-B7A3EF565776}"/>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5</a:t>
            </a:r>
          </a:p>
        </p:txBody>
      </p:sp>
      <p:sp>
        <p:nvSpPr>
          <p:cNvPr id="16" name="TextBox 15">
            <a:extLst>
              <a:ext uri="{FF2B5EF4-FFF2-40B4-BE49-F238E27FC236}">
                <a16:creationId xmlns:a16="http://schemas.microsoft.com/office/drawing/2014/main" id="{4DFEA78C-00FA-D067-0D11-344EA5E78812}"/>
              </a:ext>
            </a:extLst>
          </p:cNvPr>
          <p:cNvSpPr txBox="1"/>
          <p:nvPr/>
        </p:nvSpPr>
        <p:spPr>
          <a:xfrm>
            <a:off x="1" y="227648"/>
            <a:ext cx="12155026" cy="769441"/>
          </a:xfrm>
          <a:prstGeom prst="rect">
            <a:avLst/>
          </a:prstGeom>
          <a:noFill/>
        </p:spPr>
        <p:txBody>
          <a:bodyPr wrap="square" rtlCol="0">
            <a:spAutoFit/>
          </a:bodyPr>
          <a:lstStyle/>
          <a:p>
            <a:pPr marL="12700">
              <a:lnSpc>
                <a:spcPct val="100000"/>
              </a:lnSpc>
              <a:spcBef>
                <a:spcPts val="100"/>
              </a:spcBef>
            </a:pPr>
            <a:r>
              <a:rPr lang="en-US" sz="4400" kern="0" dirty="0">
                <a:solidFill>
                  <a:prstClr val="white"/>
                </a:solidFill>
                <a:latin typeface="Times New Roman" panose="02020603050405020304"/>
                <a:cs typeface="Times New Roman" panose="02020603050405020304"/>
                <a:sym typeface="+mn-ea"/>
              </a:rPr>
              <a:t>UML diagram of Component</a:t>
            </a:r>
            <a:endParaRPr lang="en-IN" sz="4400" dirty="0">
              <a:latin typeface="Times New Roman"/>
              <a:cs typeface="Times New Roman"/>
            </a:endParaRPr>
          </a:p>
        </p:txBody>
      </p:sp>
      <p:sp>
        <p:nvSpPr>
          <p:cNvPr id="20" name="TextBox 19">
            <a:extLst>
              <a:ext uri="{FF2B5EF4-FFF2-40B4-BE49-F238E27FC236}">
                <a16:creationId xmlns:a16="http://schemas.microsoft.com/office/drawing/2014/main" id="{3BECD728-EC89-4B72-C5C6-AD3C923C93C8}"/>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7" name="TextBox 6">
            <a:extLst>
              <a:ext uri="{FF2B5EF4-FFF2-40B4-BE49-F238E27FC236}">
                <a16:creationId xmlns:a16="http://schemas.microsoft.com/office/drawing/2014/main" id="{F8B94D70-3CF8-DD29-1B4E-017FBB2250D3}"/>
              </a:ext>
            </a:extLst>
          </p:cNvPr>
          <p:cNvSpPr txBox="1"/>
          <p:nvPr/>
        </p:nvSpPr>
        <p:spPr>
          <a:xfrm>
            <a:off x="36973" y="997089"/>
            <a:ext cx="6823281" cy="5262979"/>
          </a:xfrm>
          <a:prstGeom prst="rect">
            <a:avLst/>
          </a:prstGeom>
          <a:noFill/>
        </p:spPr>
        <p:txBody>
          <a:bodyPr wrap="square">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Component Diagram</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user interacts with the system through the </a:t>
            </a:r>
            <a:r>
              <a:rPr lang="en-US" sz="2400" b="1" dirty="0">
                <a:latin typeface="Times New Roman" panose="02020603050405020304" pitchFamily="18" charset="0"/>
                <a:cs typeface="Times New Roman" panose="02020603050405020304" pitchFamily="18" charset="0"/>
              </a:rPr>
              <a:t>User Interface Module</a:t>
            </a:r>
            <a:r>
              <a:rPr lang="en-US"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Frontend (HTML, CSS, JavaScript)</a:t>
            </a:r>
            <a:r>
              <a:rPr lang="en-US" sz="2400" dirty="0">
                <a:latin typeface="Times New Roman" panose="02020603050405020304" pitchFamily="18" charset="0"/>
                <a:cs typeface="Times New Roman" panose="02020603050405020304" pitchFamily="18" charset="0"/>
              </a:rPr>
              <a:t> sends HTTP requests to the backend server.</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Backend (Flask)</a:t>
            </a:r>
            <a:r>
              <a:rPr lang="en-US" sz="2400" dirty="0">
                <a:latin typeface="Times New Roman" panose="02020603050405020304" pitchFamily="18" charset="0"/>
                <a:cs typeface="Times New Roman" panose="02020603050405020304" pitchFamily="18" charset="0"/>
              </a:rPr>
              <a:t> handles user authentication, image processing, and request management.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YOLO Detection Model</a:t>
            </a:r>
            <a:r>
              <a:rPr lang="en-US" sz="2400" dirty="0">
                <a:latin typeface="Times New Roman" panose="02020603050405020304" pitchFamily="18" charset="0"/>
                <a:cs typeface="Times New Roman" panose="02020603050405020304" pitchFamily="18" charset="0"/>
              </a:rPr>
              <a:t> analyzes images and detects pollutants.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Database</a:t>
            </a:r>
            <a:r>
              <a:rPr lang="en-US" sz="2400" dirty="0">
                <a:latin typeface="Times New Roman" panose="02020603050405020304" pitchFamily="18" charset="0"/>
                <a:cs typeface="Times New Roman" panose="02020603050405020304" pitchFamily="18" charset="0"/>
              </a:rPr>
              <a:t> stores user details, uploaded images, and detection results.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Notification Module</a:t>
            </a:r>
            <a:r>
              <a:rPr lang="en-US" sz="2400" dirty="0">
                <a:latin typeface="Times New Roman" panose="02020603050405020304" pitchFamily="18" charset="0"/>
                <a:cs typeface="Times New Roman" panose="02020603050405020304" pitchFamily="18" charset="0"/>
              </a:rPr>
              <a:t> alerts the admin when pollution is detected.</a:t>
            </a:r>
          </a:p>
          <a:p>
            <a:endParaRPr lang="en-US"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311DEBC-CA90-58DE-29B0-E689C0202BF3}"/>
              </a:ext>
            </a:extLst>
          </p:cNvPr>
          <p:cNvPicPr>
            <a:picLocks noChangeAspect="1"/>
          </p:cNvPicPr>
          <p:nvPr/>
        </p:nvPicPr>
        <p:blipFill>
          <a:blip r:embed="rId3"/>
          <a:stretch>
            <a:fillRect/>
          </a:stretch>
        </p:blipFill>
        <p:spPr>
          <a:xfrm>
            <a:off x="6897227" y="1908491"/>
            <a:ext cx="4982385" cy="3332285"/>
          </a:xfrm>
          <a:prstGeom prst="rect">
            <a:avLst/>
          </a:prstGeom>
        </p:spPr>
      </p:pic>
    </p:spTree>
    <p:extLst>
      <p:ext uri="{BB962C8B-B14F-4D97-AF65-F5344CB8AC3E}">
        <p14:creationId xmlns:p14="http://schemas.microsoft.com/office/powerpoint/2010/main" val="2400813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CBFA9-8C43-E348-421D-10D84DD4DBC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DBABC8A-1A1A-B80D-42DF-D9703C22475C}"/>
              </a:ext>
            </a:extLst>
          </p:cNvPr>
          <p:cNvSpPr/>
          <p:nvPr/>
        </p:nvSpPr>
        <p:spPr>
          <a:xfrm>
            <a:off x="0" y="228600"/>
            <a:ext cx="12192000" cy="721528"/>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CFB95DB4-5727-945A-B2BC-14A8BDD4FD20}"/>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778DA6A-6C1B-8BE7-51EF-2676E1C4307B}"/>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B6BFAEB-D5C6-AEAB-EDA2-E91B3FB78554}"/>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B293999-490E-4CCB-7FEA-B6A43C7908C4}"/>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6</a:t>
            </a:r>
          </a:p>
        </p:txBody>
      </p:sp>
      <p:sp>
        <p:nvSpPr>
          <p:cNvPr id="16" name="TextBox 15">
            <a:extLst>
              <a:ext uri="{FF2B5EF4-FFF2-40B4-BE49-F238E27FC236}">
                <a16:creationId xmlns:a16="http://schemas.microsoft.com/office/drawing/2014/main" id="{B26C7D44-54FB-E9B7-5682-48FA228EC509}"/>
              </a:ext>
            </a:extLst>
          </p:cNvPr>
          <p:cNvSpPr txBox="1"/>
          <p:nvPr/>
        </p:nvSpPr>
        <p:spPr>
          <a:xfrm>
            <a:off x="0" y="228600"/>
            <a:ext cx="7585276" cy="769441"/>
          </a:xfrm>
          <a:prstGeom prst="rect">
            <a:avLst/>
          </a:prstGeom>
          <a:noFill/>
        </p:spPr>
        <p:txBody>
          <a:bodyPr wrap="square" rtlCol="0">
            <a:spAutoFit/>
          </a:bodyPr>
          <a:lstStyle/>
          <a:p>
            <a:pPr marL="12700">
              <a:lnSpc>
                <a:spcPct val="100000"/>
              </a:lnSpc>
              <a:spcBef>
                <a:spcPts val="100"/>
              </a:spcBef>
            </a:pPr>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Output</a:t>
            </a:r>
            <a:endParaRPr lang="en-IN" sz="4400" dirty="0">
              <a:latin typeface="Times New Roman"/>
              <a:cs typeface="Times New Roman"/>
            </a:endParaRPr>
          </a:p>
        </p:txBody>
      </p:sp>
      <p:sp>
        <p:nvSpPr>
          <p:cNvPr id="20" name="TextBox 19">
            <a:extLst>
              <a:ext uri="{FF2B5EF4-FFF2-40B4-BE49-F238E27FC236}">
                <a16:creationId xmlns:a16="http://schemas.microsoft.com/office/drawing/2014/main" id="{3E4E2AFB-31F5-B150-5C85-52672FF9C647}"/>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pic>
        <p:nvPicPr>
          <p:cNvPr id="6" name="Picture 5">
            <a:extLst>
              <a:ext uri="{FF2B5EF4-FFF2-40B4-BE49-F238E27FC236}">
                <a16:creationId xmlns:a16="http://schemas.microsoft.com/office/drawing/2014/main" id="{F40A2C1E-1A20-34FE-57FF-709C2DCC516E}"/>
              </a:ext>
            </a:extLst>
          </p:cNvPr>
          <p:cNvPicPr>
            <a:picLocks noChangeAspect="1"/>
          </p:cNvPicPr>
          <p:nvPr/>
        </p:nvPicPr>
        <p:blipFill>
          <a:blip r:embed="rId3"/>
          <a:stretch>
            <a:fillRect/>
          </a:stretch>
        </p:blipFill>
        <p:spPr>
          <a:xfrm>
            <a:off x="203573" y="1181347"/>
            <a:ext cx="5639588" cy="2429214"/>
          </a:xfrm>
          <a:prstGeom prst="rect">
            <a:avLst/>
          </a:prstGeom>
        </p:spPr>
      </p:pic>
      <p:pic>
        <p:nvPicPr>
          <p:cNvPr id="8" name="Picture 7">
            <a:extLst>
              <a:ext uri="{FF2B5EF4-FFF2-40B4-BE49-F238E27FC236}">
                <a16:creationId xmlns:a16="http://schemas.microsoft.com/office/drawing/2014/main" id="{79A7AAE6-456B-758A-20E2-A9081631485C}"/>
              </a:ext>
            </a:extLst>
          </p:cNvPr>
          <p:cNvPicPr>
            <a:picLocks noChangeAspect="1"/>
          </p:cNvPicPr>
          <p:nvPr/>
        </p:nvPicPr>
        <p:blipFill>
          <a:blip r:embed="rId4"/>
          <a:stretch>
            <a:fillRect/>
          </a:stretch>
        </p:blipFill>
        <p:spPr>
          <a:xfrm>
            <a:off x="6096000" y="1354014"/>
            <a:ext cx="4959151" cy="2563345"/>
          </a:xfrm>
          <a:prstGeom prst="rect">
            <a:avLst/>
          </a:prstGeom>
        </p:spPr>
      </p:pic>
      <p:pic>
        <p:nvPicPr>
          <p:cNvPr id="5" name="Picture 4">
            <a:extLst>
              <a:ext uri="{FF2B5EF4-FFF2-40B4-BE49-F238E27FC236}">
                <a16:creationId xmlns:a16="http://schemas.microsoft.com/office/drawing/2014/main" id="{207B08EC-DC96-CF0A-ED50-2CCDFF65B2CC}"/>
              </a:ext>
            </a:extLst>
          </p:cNvPr>
          <p:cNvPicPr>
            <a:picLocks noChangeAspect="1"/>
          </p:cNvPicPr>
          <p:nvPr/>
        </p:nvPicPr>
        <p:blipFill>
          <a:blip r:embed="rId5"/>
          <a:stretch>
            <a:fillRect/>
          </a:stretch>
        </p:blipFill>
        <p:spPr>
          <a:xfrm>
            <a:off x="3381350" y="3793867"/>
            <a:ext cx="5429300" cy="2327501"/>
          </a:xfrm>
          <a:prstGeom prst="rect">
            <a:avLst/>
          </a:prstGeom>
        </p:spPr>
      </p:pic>
    </p:spTree>
    <p:extLst>
      <p:ext uri="{BB962C8B-B14F-4D97-AF65-F5344CB8AC3E}">
        <p14:creationId xmlns:p14="http://schemas.microsoft.com/office/powerpoint/2010/main" val="3624745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E320B-E5D7-B847-4FEB-5B93F903674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95A62A-3F22-A0FD-B052-3DE953B7237D}"/>
              </a:ext>
            </a:extLst>
          </p:cNvPr>
          <p:cNvSpPr/>
          <p:nvPr/>
        </p:nvSpPr>
        <p:spPr>
          <a:xfrm>
            <a:off x="0" y="228600"/>
            <a:ext cx="12192000" cy="721528"/>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8DF247A-E762-C259-3171-C7A4F819557B}"/>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BA2A61D-F93D-07ED-91C8-3252565B01AF}"/>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583115D-7F40-57A0-4D27-095BE06F9710}"/>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556A532-83D8-56FE-F602-0CF00B2A2DEE}"/>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a:t>
            </a:r>
            <a:r>
              <a:rPr lang="en-IN" sz="1600" dirty="0">
                <a:solidFill>
                  <a:srgbClr val="002060"/>
                </a:solidFill>
                <a:latin typeface="Times New Roman" panose="02020603050405020304" pitchFamily="18" charset="0"/>
                <a:cs typeface="Times New Roman" panose="02020603050405020304" pitchFamily="18" charset="0"/>
              </a:rPr>
              <a:t>6</a:t>
            </a:r>
          </a:p>
        </p:txBody>
      </p:sp>
      <p:sp>
        <p:nvSpPr>
          <p:cNvPr id="16" name="TextBox 15">
            <a:extLst>
              <a:ext uri="{FF2B5EF4-FFF2-40B4-BE49-F238E27FC236}">
                <a16:creationId xmlns:a16="http://schemas.microsoft.com/office/drawing/2014/main" id="{5E09DC93-9B86-B74E-776A-EFAEB92CA7C1}"/>
              </a:ext>
            </a:extLst>
          </p:cNvPr>
          <p:cNvSpPr txBox="1"/>
          <p:nvPr/>
        </p:nvSpPr>
        <p:spPr>
          <a:xfrm>
            <a:off x="0" y="228600"/>
            <a:ext cx="7585276" cy="769441"/>
          </a:xfrm>
          <a:prstGeom prst="rect">
            <a:avLst/>
          </a:prstGeom>
          <a:noFill/>
        </p:spPr>
        <p:txBody>
          <a:bodyPr wrap="square" rtlCol="0">
            <a:spAutoFit/>
          </a:bodyPr>
          <a:lstStyle/>
          <a:p>
            <a:pPr marL="12700">
              <a:lnSpc>
                <a:spcPct val="100000"/>
              </a:lnSpc>
              <a:spcBef>
                <a:spcPts val="100"/>
              </a:spcBef>
            </a:pPr>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Output </a:t>
            </a:r>
            <a:endParaRPr lang="en-IN" sz="4400" dirty="0">
              <a:latin typeface="Times New Roman"/>
              <a:cs typeface="Times New Roman"/>
            </a:endParaRPr>
          </a:p>
        </p:txBody>
      </p:sp>
      <p:sp>
        <p:nvSpPr>
          <p:cNvPr id="20" name="TextBox 19">
            <a:extLst>
              <a:ext uri="{FF2B5EF4-FFF2-40B4-BE49-F238E27FC236}">
                <a16:creationId xmlns:a16="http://schemas.microsoft.com/office/drawing/2014/main" id="{5991C264-2F4A-3FD7-5100-FBF4D6B9D608}"/>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pic>
        <p:nvPicPr>
          <p:cNvPr id="5" name="Picture 4">
            <a:extLst>
              <a:ext uri="{FF2B5EF4-FFF2-40B4-BE49-F238E27FC236}">
                <a16:creationId xmlns:a16="http://schemas.microsoft.com/office/drawing/2014/main" id="{2CCB81F4-A322-CF0D-B0C2-647909F9A395}"/>
              </a:ext>
            </a:extLst>
          </p:cNvPr>
          <p:cNvPicPr>
            <a:picLocks noChangeAspect="1"/>
          </p:cNvPicPr>
          <p:nvPr/>
        </p:nvPicPr>
        <p:blipFill>
          <a:blip r:embed="rId3"/>
          <a:stretch>
            <a:fillRect/>
          </a:stretch>
        </p:blipFill>
        <p:spPr>
          <a:xfrm>
            <a:off x="465992" y="1236684"/>
            <a:ext cx="5715162" cy="4327707"/>
          </a:xfrm>
          <a:prstGeom prst="rect">
            <a:avLst/>
          </a:prstGeom>
        </p:spPr>
      </p:pic>
      <p:pic>
        <p:nvPicPr>
          <p:cNvPr id="7" name="Picture 6">
            <a:extLst>
              <a:ext uri="{FF2B5EF4-FFF2-40B4-BE49-F238E27FC236}">
                <a16:creationId xmlns:a16="http://schemas.microsoft.com/office/drawing/2014/main" id="{38F6D6B4-41A4-4F29-7820-6BA1071DF3AE}"/>
              </a:ext>
            </a:extLst>
          </p:cNvPr>
          <p:cNvPicPr>
            <a:picLocks noChangeAspect="1"/>
          </p:cNvPicPr>
          <p:nvPr/>
        </p:nvPicPr>
        <p:blipFill>
          <a:blip r:embed="rId4"/>
          <a:stretch>
            <a:fillRect/>
          </a:stretch>
        </p:blipFill>
        <p:spPr>
          <a:xfrm>
            <a:off x="6348977" y="1284597"/>
            <a:ext cx="5638800" cy="4319234"/>
          </a:xfrm>
          <a:prstGeom prst="rect">
            <a:avLst/>
          </a:prstGeom>
        </p:spPr>
      </p:pic>
    </p:spTree>
    <p:extLst>
      <p:ext uri="{BB962C8B-B14F-4D97-AF65-F5344CB8AC3E}">
        <p14:creationId xmlns:p14="http://schemas.microsoft.com/office/powerpoint/2010/main" val="1263601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ACE5F-AD52-9003-E4B2-54AA4B366CA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D15D20D-91C5-E2D7-6288-4699C04E6D20}"/>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4FC72698-FC3D-EC2C-8EAF-8DCAD4BAE921}"/>
              </a:ext>
            </a:extLst>
          </p:cNvPr>
          <p:cNvSpPr txBox="1"/>
          <p:nvPr/>
        </p:nvSpPr>
        <p:spPr>
          <a:xfrm>
            <a:off x="152400" y="6589714"/>
            <a:ext cx="762000" cy="523220"/>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p>
          <a:p>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492324D-FF42-1506-4931-5F7EF6FE56DE}"/>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00138F0-9D3C-E436-360C-A461C6EB2018}"/>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7CA868E7-6BF0-5E32-BCF3-D495C9348BF0}"/>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17</a:t>
            </a:r>
          </a:p>
        </p:txBody>
      </p:sp>
      <p:sp>
        <p:nvSpPr>
          <p:cNvPr id="16" name="TextBox 15">
            <a:extLst>
              <a:ext uri="{FF2B5EF4-FFF2-40B4-BE49-F238E27FC236}">
                <a16:creationId xmlns:a16="http://schemas.microsoft.com/office/drawing/2014/main" id="{F7D39DA6-1F00-A984-B12A-AFAB6BA24944}"/>
              </a:ext>
            </a:extLst>
          </p:cNvPr>
          <p:cNvSpPr txBox="1"/>
          <p:nvPr/>
        </p:nvSpPr>
        <p:spPr>
          <a:xfrm>
            <a:off x="0" y="261743"/>
            <a:ext cx="7620000" cy="769441"/>
          </a:xfrm>
          <a:prstGeom prst="rect">
            <a:avLst/>
          </a:prstGeom>
          <a:noFill/>
        </p:spPr>
        <p:txBody>
          <a:bodyPr wrap="square" rtlCol="0">
            <a:spAutoFit/>
          </a:bodyPr>
          <a:lstStyle/>
          <a:p>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Conclusion</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8F7BBA02-BD36-D17B-921B-C10D77269D26}"/>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8" name="TextBox 7">
            <a:extLst>
              <a:ext uri="{FF2B5EF4-FFF2-40B4-BE49-F238E27FC236}">
                <a16:creationId xmlns:a16="http://schemas.microsoft.com/office/drawing/2014/main" id="{0020759B-7D20-8E3B-15B7-E9F3D783F66D}"/>
              </a:ext>
            </a:extLst>
          </p:cNvPr>
          <p:cNvSpPr txBox="1"/>
          <p:nvPr/>
        </p:nvSpPr>
        <p:spPr>
          <a:xfrm>
            <a:off x="512242" y="1815956"/>
            <a:ext cx="11642785" cy="480131"/>
          </a:xfrm>
          <a:prstGeom prst="rect">
            <a:avLst/>
          </a:prstGeom>
          <a:noFill/>
        </p:spPr>
        <p:txBody>
          <a:bodyPr wrap="square">
            <a:spAutoFit/>
          </a:bodyPr>
          <a:lstStyle/>
          <a:p>
            <a:pPr marL="508000" lvl="0" indent="-457200">
              <a:lnSpc>
                <a:spcPct val="90000"/>
              </a:lnSpc>
              <a:spcBef>
                <a:spcPts val="1000"/>
              </a:spcBef>
              <a:buClr>
                <a:prstClr val="black"/>
              </a:buClr>
              <a:buSzPts val="2800"/>
              <a:buFont typeface="Arial" panose="020B0604020202020204" pitchFamily="34" charset="0"/>
              <a:buChar char="•"/>
              <a:defRPr/>
            </a:pPr>
            <a:endParaRPr lang="en-US" sz="2800" dirty="0">
              <a:latin typeface="Times New Roman" panose="02020603050405020304" pitchFamily="18" charset="0"/>
              <a:cs typeface="Times New Roman" panose="02020603050405020304" pitchFamily="18" charset="0"/>
            </a:endParaRPr>
          </a:p>
        </p:txBody>
      </p:sp>
      <p:sp>
        <p:nvSpPr>
          <p:cNvPr id="13" name="Rectangle 4">
            <a:extLst>
              <a:ext uri="{FF2B5EF4-FFF2-40B4-BE49-F238E27FC236}">
                <a16:creationId xmlns:a16="http://schemas.microsoft.com/office/drawing/2014/main" id="{A4E0FD0E-58B3-C44E-50A4-2B8F34102638}"/>
              </a:ext>
            </a:extLst>
          </p:cNvPr>
          <p:cNvSpPr>
            <a:spLocks noChangeArrowheads="1"/>
          </p:cNvSpPr>
          <p:nvPr/>
        </p:nvSpPr>
        <p:spPr bwMode="auto">
          <a:xfrm>
            <a:off x="304800" y="1450731"/>
            <a:ext cx="10914184" cy="4317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presents an integrated system for assessing river water quality using automated object detection.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YOLOv10 effectively detects and classifies multiple pollutants such as plastic waste, oil, acid contamination, eutrophication, and dead organisms.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preprocessing and proper dataset preparation improve detection accuracy and reliability.</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Flask-based web application enables easy user interaction, image upload, and result visualization.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admin notifications support efficient monitoring and documentation.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system reduces manual effort and provides a scalable solution for water quality assessment.</a:t>
            </a:r>
          </a:p>
        </p:txBody>
      </p:sp>
    </p:spTree>
    <p:extLst>
      <p:ext uri="{BB962C8B-B14F-4D97-AF65-F5344CB8AC3E}">
        <p14:creationId xmlns:p14="http://schemas.microsoft.com/office/powerpoint/2010/main" val="1667377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82134-76FB-D937-C3DA-41EF0CC8D73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D196D1B-DD28-406F-EE3C-1DD5EBB75212}"/>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263585F-661F-3EC8-D083-F342A4FF16E9}"/>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7D6AEE0-AB18-3FAA-9620-F39FE4DFE54B}"/>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0F6EC49-1F6C-7215-4C4B-05EB33417C67}"/>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9E3638A-F9E4-409C-27B4-56AAA5E73D15}"/>
              </a:ext>
            </a:extLst>
          </p:cNvPr>
          <p:cNvSpPr txBox="1"/>
          <p:nvPr/>
        </p:nvSpPr>
        <p:spPr>
          <a:xfrm>
            <a:off x="11759177" y="6577792"/>
            <a:ext cx="457200" cy="338554"/>
          </a:xfrm>
          <a:prstGeom prst="rect">
            <a:avLst/>
          </a:prstGeom>
          <a:noFill/>
        </p:spPr>
        <p:txBody>
          <a:bodyPr wrap="square" rtlCol="0">
            <a:spAutoFit/>
          </a:bodyPr>
          <a:lstStyle/>
          <a:p>
            <a:r>
              <a:rPr lang="en-IN" sz="1600" dirty="0">
                <a:solidFill>
                  <a:srgbClr val="002060"/>
                </a:solidFill>
                <a:latin typeface="Times New Roman" panose="02020603050405020304" pitchFamily="18" charset="0"/>
                <a:cs typeface="Times New Roman" panose="02020603050405020304" pitchFamily="18" charset="0"/>
              </a:rPr>
              <a:t>18</a:t>
            </a:r>
          </a:p>
        </p:txBody>
      </p:sp>
      <p:sp>
        <p:nvSpPr>
          <p:cNvPr id="16" name="TextBox 15">
            <a:extLst>
              <a:ext uri="{FF2B5EF4-FFF2-40B4-BE49-F238E27FC236}">
                <a16:creationId xmlns:a16="http://schemas.microsoft.com/office/drawing/2014/main" id="{18907784-EAE1-E3D4-58F6-7E98F593D9ED}"/>
              </a:ext>
            </a:extLst>
          </p:cNvPr>
          <p:cNvSpPr txBox="1"/>
          <p:nvPr/>
        </p:nvSpPr>
        <p:spPr>
          <a:xfrm>
            <a:off x="0" y="261743"/>
            <a:ext cx="7620000" cy="769441"/>
          </a:xfrm>
          <a:prstGeom prst="rect">
            <a:avLst/>
          </a:prstGeom>
          <a:noFill/>
        </p:spPr>
        <p:txBody>
          <a:bodyPr wrap="square" rtlCol="0">
            <a:spAutoFit/>
          </a:bodyPr>
          <a:lstStyle/>
          <a:p>
            <a:r>
              <a:rPr kumimoji="0" lang="en-IN" sz="4400" b="0" i="0" u="none" strike="noStrike" kern="0" cap="none" spc="-10" normalizeH="0" baseline="0" noProof="0" dirty="0">
                <a:ln>
                  <a:noFill/>
                </a:ln>
                <a:solidFill>
                  <a:prstClr val="white"/>
                </a:solidFill>
                <a:effectLst/>
                <a:uLnTx/>
                <a:uFillTx/>
                <a:latin typeface="Times New Roman"/>
                <a:cs typeface="Times New Roman"/>
              </a:rPr>
              <a:t>References</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90F815DE-A4A6-A074-8E0D-C6FC55FCF703}"/>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21" name="TextBox 20">
            <a:extLst>
              <a:ext uri="{FF2B5EF4-FFF2-40B4-BE49-F238E27FC236}">
                <a16:creationId xmlns:a16="http://schemas.microsoft.com/office/drawing/2014/main" id="{3EBC29A4-8B96-9D8C-6038-387CC08F9A32}"/>
              </a:ext>
            </a:extLst>
          </p:cNvPr>
          <p:cNvSpPr txBox="1"/>
          <p:nvPr/>
        </p:nvSpPr>
        <p:spPr>
          <a:xfrm>
            <a:off x="304800" y="1327958"/>
            <a:ext cx="11454378" cy="4424801"/>
          </a:xfrm>
          <a:prstGeom prst="rect">
            <a:avLst/>
          </a:prstGeom>
          <a:noFill/>
        </p:spPr>
        <p:txBody>
          <a:bodyPr wrap="square" rtlCol="0">
            <a:spAutoFit/>
          </a:bodyPr>
          <a:lstStyle/>
          <a:p>
            <a:pPr marL="457200" marR="0" lvl="0" indent="-406400" algn="just" defTabSz="914400" rtl="0" eaLnBrk="1" fontAlgn="auto" latinLnBrk="0" hangingPunct="1">
              <a:lnSpc>
                <a:spcPct val="90000"/>
              </a:lnSpc>
              <a:spcBef>
                <a:spcPts val="1000"/>
              </a:spcBef>
              <a:spcAft>
                <a:spcPts val="0"/>
              </a:spcAft>
              <a:buClr>
                <a:prstClr val="black"/>
              </a:buClr>
              <a:buSzPts val="2800"/>
              <a:buFont typeface="Noto Sans Symbols"/>
              <a:buChar char="⮚"/>
              <a:tabLst/>
              <a:defRPr/>
            </a:pPr>
            <a:r>
              <a:rPr lang="en-US" sz="2200" b="1" kern="0" dirty="0">
                <a:solidFill>
                  <a:prstClr val="black"/>
                </a:solidFill>
                <a:latin typeface="Times New Roman" panose="02020603050405020304"/>
                <a:cs typeface="Times New Roman" panose="02020603050405020304"/>
                <a:sym typeface="Times New Roman" panose="02020603050405020304"/>
              </a:rPr>
              <a:t>Books</a:t>
            </a:r>
            <a:endParaRPr kumimoji="0" lang="en-US" sz="2200" b="1" i="0" u="none" strike="noStrike" kern="0" cap="none" spc="0" normalizeH="0" baseline="0" noProof="0" dirty="0">
              <a:ln>
                <a:noFill/>
              </a:ln>
              <a:solidFill>
                <a:prstClr val="black"/>
              </a:solidFill>
              <a:effectLst/>
              <a:uLnTx/>
              <a:uFillTx/>
              <a:latin typeface="Times New Roman" panose="02020603050405020304"/>
              <a:cs typeface="Times New Roman" panose="02020603050405020304"/>
              <a:sym typeface="Times New Roman" panose="02020603050405020304"/>
            </a:endParaRPr>
          </a:p>
          <a:p>
            <a:pPr marL="896938" indent="-406400" algn="just">
              <a:lnSpc>
                <a:spcPct val="90000"/>
              </a:lnSpc>
              <a:spcBef>
                <a:spcPts val="1000"/>
              </a:spcBef>
              <a:buClr>
                <a:prstClr val="black"/>
              </a:buClr>
              <a:buSzPts val="2800"/>
              <a:buFont typeface="Wingdings" panose="05000000000000000000" pitchFamily="2" charset="2"/>
              <a:buChar char="q"/>
              <a:defRPr/>
            </a:pPr>
            <a:r>
              <a:rPr lang="en-US" sz="2000" dirty="0">
                <a:latin typeface="Times New Roman" panose="02020603050405020304" pitchFamily="18" charset="0"/>
                <a:cs typeface="Times New Roman" panose="02020603050405020304" pitchFamily="18" charset="0"/>
              </a:rPr>
              <a:t>[1] S. Russell and P. Norvig, </a:t>
            </a:r>
            <a:r>
              <a:rPr lang="en-US" sz="2000" i="1" dirty="0">
                <a:latin typeface="Times New Roman" panose="02020603050405020304" pitchFamily="18" charset="0"/>
                <a:cs typeface="Times New Roman" panose="02020603050405020304" pitchFamily="18" charset="0"/>
              </a:rPr>
              <a:t>Artificial Intelligence: A Modern Approach</a:t>
            </a:r>
            <a:r>
              <a:rPr lang="en-US" sz="2000" dirty="0">
                <a:latin typeface="Times New Roman" panose="02020603050405020304" pitchFamily="18" charset="0"/>
                <a:cs typeface="Times New Roman" panose="02020603050405020304" pitchFamily="18" charset="0"/>
              </a:rPr>
              <a:t>, Pearson Education, New Jersey, 2021.</a:t>
            </a:r>
          </a:p>
          <a:p>
            <a:pPr marL="457200" marR="0" lvl="0" indent="-406400" algn="just" defTabSz="914400" rtl="0" eaLnBrk="1" fontAlgn="auto" latinLnBrk="0" hangingPunct="1">
              <a:lnSpc>
                <a:spcPct val="90000"/>
              </a:lnSpc>
              <a:spcBef>
                <a:spcPts val="1000"/>
              </a:spcBef>
              <a:spcAft>
                <a:spcPts val="0"/>
              </a:spcAft>
              <a:buClr>
                <a:prstClr val="black"/>
              </a:buClr>
              <a:buSzPts val="2800"/>
              <a:buFont typeface="Noto Sans Symbols"/>
              <a:buChar char="⮚"/>
              <a:tabLst/>
              <a:defRPr/>
            </a:pPr>
            <a:r>
              <a:rPr kumimoji="0" lang="en-US" altLang="en-US" sz="2200" b="1" i="0" u="none" strike="noStrike" kern="0" cap="none" spc="0" normalizeH="0" baseline="0" noProof="0" dirty="0">
                <a:ln>
                  <a:noFill/>
                </a:ln>
                <a:solidFill>
                  <a:prstClr val="black"/>
                </a:solidFill>
                <a:effectLst/>
                <a:uLnTx/>
                <a:uFillTx/>
                <a:latin typeface="Times New Roman" panose="02020603050405020304"/>
                <a:cs typeface="Times New Roman" panose="02020603050405020304"/>
                <a:sym typeface="Times New Roman" panose="02020603050405020304"/>
              </a:rPr>
              <a:t>Journal Article</a:t>
            </a:r>
          </a:p>
          <a:p>
            <a:pPr marL="896938" indent="-406400" algn="just">
              <a:lnSpc>
                <a:spcPct val="90000"/>
              </a:lnSpc>
              <a:spcBef>
                <a:spcPts val="1000"/>
              </a:spcBef>
              <a:buClr>
                <a:prstClr val="black"/>
              </a:buClr>
              <a:buSzPts val="2800"/>
              <a:buFont typeface="Wingdings" panose="05000000000000000000" pitchFamily="2" charset="2"/>
              <a:buChar char="q"/>
              <a:defRPr/>
            </a:pPr>
            <a:r>
              <a:rPr lang="en-US" sz="2000" dirty="0">
                <a:latin typeface="Times New Roman" panose="02020603050405020304" pitchFamily="18" charset="0"/>
                <a:cs typeface="Times New Roman" panose="02020603050405020304" pitchFamily="18" charset="0"/>
              </a:rPr>
              <a:t>[2] Improved YOLOv7 Algorithm for Floating Waste Detection Based on GFPN and Long-Range Attention Mechanism, </a:t>
            </a:r>
            <a:r>
              <a:rPr lang="en-US" sz="2000" i="1" dirty="0">
                <a:latin typeface="Times New Roman" panose="02020603050405020304" pitchFamily="18" charset="0"/>
                <a:cs typeface="Times New Roman" panose="02020603050405020304" pitchFamily="18" charset="0"/>
              </a:rPr>
              <a:t>Wuhan University Journal of Natural Sciences</a:t>
            </a:r>
            <a:r>
              <a:rPr lang="en-US" sz="2000" dirty="0">
                <a:latin typeface="Times New Roman" panose="02020603050405020304" pitchFamily="18" charset="0"/>
                <a:cs typeface="Times New Roman" panose="02020603050405020304" pitchFamily="18" charset="0"/>
              </a:rPr>
              <a:t>, 2024.</a:t>
            </a:r>
            <a:endParaRPr lang="en-US" altLang="en-US" sz="2200" b="1" kern="0" dirty="0">
              <a:solidFill>
                <a:prstClr val="black"/>
              </a:solidFill>
              <a:latin typeface="Times New Roman" panose="02020603050405020304"/>
              <a:cs typeface="Times New Roman" panose="02020603050405020304"/>
              <a:sym typeface="Times New Roman" panose="02020603050405020304"/>
            </a:endParaRPr>
          </a:p>
          <a:p>
            <a:pPr marL="457200" marR="0" lvl="0" indent="-406400" algn="just" defTabSz="914400" rtl="0" eaLnBrk="1" fontAlgn="auto" latinLnBrk="0" hangingPunct="1">
              <a:lnSpc>
                <a:spcPct val="90000"/>
              </a:lnSpc>
              <a:spcBef>
                <a:spcPts val="1000"/>
              </a:spcBef>
              <a:spcAft>
                <a:spcPts val="0"/>
              </a:spcAft>
              <a:buClr>
                <a:prstClr val="black"/>
              </a:buClr>
              <a:buSzPts val="2800"/>
              <a:buFont typeface="Noto Sans Symbols"/>
              <a:buChar char="⮚"/>
              <a:tabLst/>
              <a:defRPr/>
            </a:pPr>
            <a:r>
              <a:rPr kumimoji="0" lang="en-US" altLang="en-US" sz="2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Times New Roman" panose="02020603050405020304"/>
              </a:rPr>
              <a:t>Newspaper article</a:t>
            </a:r>
            <a:endParaRPr lang="en-US" altLang="en-US" sz="2000" b="1" kern="0" dirty="0">
              <a:solidFill>
                <a:prstClr val="black"/>
              </a:solidFill>
              <a:latin typeface="Times New Roman" panose="02020603050405020304" pitchFamily="18" charset="0"/>
              <a:cs typeface="Times New Roman" panose="02020603050405020304" pitchFamily="18" charset="0"/>
              <a:sym typeface="Times New Roman" panose="02020603050405020304"/>
            </a:endParaRPr>
          </a:p>
          <a:p>
            <a:pPr marL="536575" lvl="0" indent="447675" algn="just">
              <a:lnSpc>
                <a:spcPct val="90000"/>
              </a:lnSpc>
              <a:spcBef>
                <a:spcPts val="1000"/>
              </a:spcBef>
              <a:buClr>
                <a:prstClr val="black"/>
              </a:buClr>
              <a:buSzPts val="2800"/>
              <a:buFont typeface="Wingdings" panose="05000000000000000000" pitchFamily="2" charset="2"/>
              <a:buChar char="q"/>
              <a:tabLst>
                <a:tab pos="536575" algn="l"/>
              </a:tabLst>
              <a:defRPr/>
            </a:pPr>
            <a:r>
              <a:rPr lang="en-US" sz="2000" dirty="0">
                <a:latin typeface="Times New Roman" panose="02020603050405020304" pitchFamily="18" charset="0"/>
                <a:cs typeface="Times New Roman" panose="02020603050405020304" pitchFamily="18" charset="0"/>
              </a:rPr>
              <a:t>[3] A. Verma and N. Sharma, </a:t>
            </a:r>
            <a:r>
              <a:rPr lang="en-US" sz="2000" i="1" dirty="0">
                <a:latin typeface="Times New Roman" panose="02020603050405020304" pitchFamily="18" charset="0"/>
                <a:cs typeface="Times New Roman" panose="02020603050405020304" pitchFamily="18" charset="0"/>
              </a:rPr>
              <a:t>Design and Implementation of an AI-Based River Water Quality Monitoring System</a:t>
            </a:r>
            <a:r>
              <a:rPr lang="en-US" sz="2000" dirty="0">
                <a:latin typeface="Times New Roman" panose="02020603050405020304" pitchFamily="18" charset="0"/>
                <a:cs typeface="Times New Roman" panose="02020603050405020304" pitchFamily="18" charset="0"/>
              </a:rPr>
              <a:t>, Department of Computer Science, National Institute of Technology, Technical Report, 2024.</a:t>
            </a:r>
            <a:r>
              <a:rPr lang="en-US" altLang="en-US" sz="2000" b="1" kern="0" dirty="0">
                <a:solidFill>
                  <a:prstClr val="black"/>
                </a:solidFill>
                <a:latin typeface="Times New Roman" panose="02020603050405020304"/>
                <a:cs typeface="Times New Roman" panose="02020603050405020304"/>
                <a:sym typeface="Times New Roman" panose="02020603050405020304"/>
              </a:rPr>
              <a:t> Report</a:t>
            </a:r>
            <a:endParaRPr lang="en-US" sz="2000" dirty="0">
              <a:latin typeface="Times New Roman" panose="02020603050405020304" pitchFamily="18" charset="0"/>
              <a:cs typeface="Times New Roman" panose="02020603050405020304" pitchFamily="18" charset="0"/>
            </a:endParaRPr>
          </a:p>
          <a:p>
            <a:pPr marL="457200" lvl="0" indent="-406400" algn="just">
              <a:lnSpc>
                <a:spcPct val="90000"/>
              </a:lnSpc>
              <a:spcBef>
                <a:spcPts val="1000"/>
              </a:spcBef>
              <a:buClr>
                <a:prstClr val="black"/>
              </a:buClr>
              <a:buSzPts val="2800"/>
              <a:buFont typeface="Noto Sans Symbols"/>
              <a:buChar char="⮚"/>
              <a:defRPr/>
            </a:pPr>
            <a:r>
              <a:rPr kumimoji="0" lang="en-US" altLang="en-US" sz="2200" b="1" i="0" u="none" strike="noStrike" kern="0" cap="none" spc="0" normalizeH="0" baseline="0" noProof="0" dirty="0">
                <a:ln>
                  <a:noFill/>
                </a:ln>
                <a:solidFill>
                  <a:prstClr val="black"/>
                </a:solidFill>
                <a:effectLst/>
                <a:uLnTx/>
                <a:uFillTx/>
                <a:latin typeface="Times New Roman" panose="02020603050405020304"/>
                <a:cs typeface="Times New Roman" panose="02020603050405020304"/>
                <a:sym typeface="Times New Roman" panose="02020603050405020304"/>
              </a:rPr>
              <a:t>Technical</a:t>
            </a:r>
          </a:p>
          <a:p>
            <a:pPr marL="984250" lvl="0" indent="-485775" algn="just">
              <a:lnSpc>
                <a:spcPct val="90000"/>
              </a:lnSpc>
              <a:spcBef>
                <a:spcPts val="1000"/>
              </a:spcBef>
              <a:buClr>
                <a:prstClr val="black"/>
              </a:buClr>
              <a:buSzPts val="2800"/>
              <a:buFont typeface="Wingdings" panose="05000000000000000000" pitchFamily="2" charset="2"/>
              <a:buChar char="q"/>
              <a:defRPr/>
            </a:pPr>
            <a:r>
              <a:rPr lang="en-US" sz="2000" dirty="0">
                <a:latin typeface="Times New Roman" panose="02020603050405020304" pitchFamily="18" charset="0"/>
                <a:cs typeface="Times New Roman" panose="02020603050405020304" pitchFamily="18" charset="0"/>
              </a:rPr>
              <a:t>[4] “AI Helps Monitor River Pollution More Efficiently,” </a:t>
            </a:r>
            <a:r>
              <a:rPr lang="en-US" sz="2000" i="1" dirty="0">
                <a:latin typeface="Times New Roman" panose="02020603050405020304" pitchFamily="18" charset="0"/>
                <a:cs typeface="Times New Roman" panose="02020603050405020304" pitchFamily="18" charset="0"/>
              </a:rPr>
              <a:t>The Hindu</a:t>
            </a:r>
            <a:r>
              <a:rPr lang="en-US" sz="2000" dirty="0">
                <a:latin typeface="Times New Roman" panose="02020603050405020304" pitchFamily="18" charset="0"/>
                <a:cs typeface="Times New Roman" panose="02020603050405020304" pitchFamily="18" charset="0"/>
              </a:rPr>
              <a:t>, India, 2024.</a:t>
            </a:r>
            <a:endParaRPr kumimoji="0" lang="en-US" altLang="en-US" sz="20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Times New Roman" panose="02020603050405020304"/>
            </a:endParaRPr>
          </a:p>
        </p:txBody>
      </p:sp>
    </p:spTree>
    <p:extLst>
      <p:ext uri="{BB962C8B-B14F-4D97-AF65-F5344CB8AC3E}">
        <p14:creationId xmlns:p14="http://schemas.microsoft.com/office/powerpoint/2010/main" val="3626315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677AB-B3ED-90C8-21BB-0E368F1558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9BDFEB-0FCD-6BA6-215D-837CC92A141E}"/>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C42836F-6567-4067-FA7F-E5EEE614D195}"/>
              </a:ext>
            </a:extLst>
          </p:cNvPr>
          <p:cNvSpPr txBox="1"/>
          <p:nvPr/>
        </p:nvSpPr>
        <p:spPr>
          <a:xfrm>
            <a:off x="152400" y="6589714"/>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2083A37-66A5-D583-DEBB-10C348110816}"/>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DF94577-F4B6-1302-A85B-465BB921C79D}"/>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1320A1D1-B06C-A617-644C-A8988D4151F7}"/>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19</a:t>
            </a:r>
            <a:endParaRPr lang="en-IN" sz="1600" dirty="0">
              <a:solidFill>
                <a:srgbClr val="002060"/>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4B750109-D504-D761-AA29-41013C5EB0E7}"/>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5" name="TextBox 4">
            <a:extLst>
              <a:ext uri="{FF2B5EF4-FFF2-40B4-BE49-F238E27FC236}">
                <a16:creationId xmlns:a16="http://schemas.microsoft.com/office/drawing/2014/main" id="{078EB441-655C-E212-0A37-F9EACBAFBB2B}"/>
              </a:ext>
            </a:extLst>
          </p:cNvPr>
          <p:cNvSpPr txBox="1"/>
          <p:nvPr/>
        </p:nvSpPr>
        <p:spPr>
          <a:xfrm>
            <a:off x="2501661" y="2850098"/>
            <a:ext cx="7315200" cy="1569660"/>
          </a:xfrm>
          <a:prstGeom prst="rect">
            <a:avLst/>
          </a:prstGeom>
          <a:noFill/>
        </p:spPr>
        <p:txBody>
          <a:bodyPr wrap="square">
            <a:spAutoFit/>
          </a:bodyPr>
          <a:lstStyle/>
          <a:p>
            <a:pPr marL="50800" indent="0" algn="ctr">
              <a:buNone/>
            </a:pPr>
            <a:r>
              <a:rPr lang="en-US" sz="9600" i="1" dirty="0">
                <a:ln w="15875"/>
                <a:solidFill>
                  <a:srgbClr val="F78F07"/>
                </a:solidFill>
                <a:effectLst/>
                <a:latin typeface="Times New Roman" panose="02020603050405020304" pitchFamily="18" charset="0"/>
                <a:cs typeface="Times New Roman" panose="02020603050405020304" pitchFamily="18" charset="0"/>
              </a:rPr>
              <a:t>THANK YO</a:t>
            </a:r>
            <a:r>
              <a:rPr lang="en-US" sz="9600" i="1" dirty="0">
                <a:ln w="15875"/>
                <a:solidFill>
                  <a:srgbClr val="F78F07"/>
                </a:solidFill>
                <a:latin typeface="Times New Roman" panose="02020603050405020304" pitchFamily="18" charset="0"/>
                <a:cs typeface="Times New Roman" panose="02020603050405020304" pitchFamily="18" charset="0"/>
              </a:rPr>
              <a:t>U</a:t>
            </a:r>
            <a:endParaRPr lang="en-US" sz="9600" i="1" dirty="0">
              <a:ln w="15875"/>
              <a:solidFill>
                <a:srgbClr val="F78F07"/>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00375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65D33-3DC9-67F8-88BA-6C220836EA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7334F7E-3887-7E51-9CF8-AF3D74A1431D}"/>
              </a:ext>
            </a:extLst>
          </p:cNvPr>
          <p:cNvSpPr/>
          <p:nvPr/>
        </p:nvSpPr>
        <p:spPr>
          <a:xfrm>
            <a:off x="0" y="228600"/>
            <a:ext cx="12192000" cy="838200"/>
          </a:xfrm>
          <a:prstGeom prst="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6874EAC-4DDC-8E52-0CC6-02401D69376A}"/>
              </a:ext>
            </a:extLst>
          </p:cNvPr>
          <p:cNvSpPr txBox="1"/>
          <p:nvPr/>
        </p:nvSpPr>
        <p:spPr>
          <a:xfrm>
            <a:off x="161192" y="6580922"/>
            <a:ext cx="762000"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B18</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487EAE8-482C-811E-9E16-61333A62785D}"/>
              </a:ext>
            </a:extLst>
          </p:cNvPr>
          <p:cNvSpPr txBox="1"/>
          <p:nvPr/>
        </p:nvSpPr>
        <p:spPr>
          <a:xfrm>
            <a:off x="914400" y="6577792"/>
            <a:ext cx="5638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D</a:t>
            </a:r>
            <a:r>
              <a:rPr lang="en-IN" sz="1200" dirty="0">
                <a:solidFill>
                  <a:schemeClr val="bg1"/>
                </a:solidFill>
                <a:latin typeface="Times New Roman" panose="02020603050405020304" pitchFamily="18" charset="0"/>
                <a:cs typeface="Times New Roman" panose="02020603050405020304" pitchFamily="18" charset="0"/>
              </a:rPr>
              <a:t>EPT</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 </a:t>
            </a:r>
            <a:r>
              <a:rPr lang="en-IN" sz="1400" dirty="0">
                <a:solidFill>
                  <a:schemeClr val="bg1"/>
                </a:solidFill>
                <a:latin typeface="Times New Roman" panose="02020603050405020304" pitchFamily="18" charset="0"/>
                <a:cs typeface="Times New Roman" panose="02020603050405020304" pitchFamily="18" charset="0"/>
              </a:rPr>
              <a:t>C</a:t>
            </a:r>
            <a:r>
              <a:rPr lang="en-IN" sz="1200" dirty="0">
                <a:solidFill>
                  <a:schemeClr val="bg1"/>
                </a:solidFill>
                <a:latin typeface="Times New Roman" panose="02020603050405020304" pitchFamily="18" charset="0"/>
                <a:cs typeface="Times New Roman" panose="02020603050405020304" pitchFamily="18" charset="0"/>
              </a:rPr>
              <a:t>OMPUTER</a:t>
            </a:r>
            <a:r>
              <a:rPr lang="en-IN" sz="1400" dirty="0">
                <a:solidFill>
                  <a:schemeClr val="bg1"/>
                </a:solidFill>
                <a:latin typeface="Times New Roman" panose="02020603050405020304" pitchFamily="18" charset="0"/>
                <a:cs typeface="Times New Roman" panose="02020603050405020304" pitchFamily="18" charset="0"/>
              </a:rPr>
              <a:t> S</a:t>
            </a:r>
            <a:r>
              <a:rPr lang="en-IN" sz="1200" dirty="0">
                <a:solidFill>
                  <a:schemeClr val="bg1"/>
                </a:solidFill>
                <a:latin typeface="Times New Roman" panose="02020603050405020304" pitchFamily="18" charset="0"/>
                <a:cs typeface="Times New Roman" panose="02020603050405020304" pitchFamily="18" charset="0"/>
              </a:rPr>
              <a:t>CIENCE</a:t>
            </a:r>
            <a:r>
              <a:rPr lang="en-IN" sz="1400" dirty="0">
                <a:solidFill>
                  <a:schemeClr val="bg1"/>
                </a:solidFill>
                <a:latin typeface="Times New Roman" panose="02020603050405020304" pitchFamily="18" charset="0"/>
                <a:cs typeface="Times New Roman" panose="02020603050405020304" pitchFamily="18" charset="0"/>
              </a:rPr>
              <a:t> A</a:t>
            </a:r>
            <a:r>
              <a:rPr lang="en-IN" sz="1200" dirty="0">
                <a:solidFill>
                  <a:schemeClr val="bg1"/>
                </a:solidFill>
                <a:latin typeface="Times New Roman" panose="02020603050405020304" pitchFamily="18" charset="0"/>
                <a:cs typeface="Times New Roman" panose="02020603050405020304" pitchFamily="18" charset="0"/>
              </a:rPr>
              <a:t>ND</a:t>
            </a:r>
            <a:r>
              <a:rPr lang="en-IN" sz="1400" dirty="0">
                <a:solidFill>
                  <a:schemeClr val="bg1"/>
                </a:solidFill>
                <a:latin typeface="Times New Roman" panose="02020603050405020304" pitchFamily="18" charset="0"/>
                <a:cs typeface="Times New Roman" panose="02020603050405020304" pitchFamily="18" charset="0"/>
              </a:rPr>
              <a:t> E</a:t>
            </a:r>
            <a:r>
              <a:rPr lang="en-IN" sz="1200" dirty="0">
                <a:solidFill>
                  <a:schemeClr val="bg1"/>
                </a:solidFill>
                <a:latin typeface="Times New Roman" panose="02020603050405020304" pitchFamily="18" charset="0"/>
                <a:cs typeface="Times New Roman" panose="02020603050405020304" pitchFamily="18" charset="0"/>
              </a:rPr>
              <a:t>NGINEERING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9B6056E-6469-6547-237E-75753226A84C}"/>
              </a:ext>
            </a:extLst>
          </p:cNvPr>
          <p:cNvSpPr txBox="1"/>
          <p:nvPr/>
        </p:nvSpPr>
        <p:spPr>
          <a:xfrm>
            <a:off x="6897227" y="6589714"/>
            <a:ext cx="5257800" cy="307777"/>
          </a:xfrm>
          <a:prstGeom prst="rect">
            <a:avLst/>
          </a:prstGeom>
          <a:noFill/>
        </p:spPr>
        <p:txBody>
          <a:bodyPr wrap="square" rtlCol="0">
            <a:spAutoFit/>
          </a:bodyPr>
          <a:lstStyle/>
          <a:p>
            <a:r>
              <a:rPr lang="en-IN" sz="1400" dirty="0">
                <a:solidFill>
                  <a:schemeClr val="bg1"/>
                </a:solidFill>
                <a:latin typeface="Times New Roman" panose="02020603050405020304" pitchFamily="18" charset="0"/>
                <a:cs typeface="Times New Roman" panose="02020603050405020304" pitchFamily="18" charset="0"/>
              </a:rPr>
              <a:t>S</a:t>
            </a:r>
            <a:r>
              <a:rPr lang="en-IN" sz="1200" dirty="0">
                <a:solidFill>
                  <a:schemeClr val="bg1"/>
                </a:solidFill>
                <a:latin typeface="Times New Roman" panose="02020603050405020304" pitchFamily="18" charset="0"/>
                <a:cs typeface="Times New Roman" panose="02020603050405020304" pitchFamily="18" charset="0"/>
              </a:rPr>
              <a:t>RINIVASA</a:t>
            </a:r>
            <a:r>
              <a:rPr lang="en-IN" sz="1400" dirty="0">
                <a:solidFill>
                  <a:schemeClr val="bg1"/>
                </a:solidFill>
                <a:latin typeface="Times New Roman" panose="02020603050405020304" pitchFamily="18" charset="0"/>
                <a:cs typeface="Times New Roman" panose="02020603050405020304" pitchFamily="18" charset="0"/>
              </a:rPr>
              <a:t> R</a:t>
            </a:r>
            <a:r>
              <a:rPr lang="en-IN" sz="1200" dirty="0">
                <a:solidFill>
                  <a:schemeClr val="bg1"/>
                </a:solidFill>
                <a:latin typeface="Times New Roman" panose="02020603050405020304" pitchFamily="18" charset="0"/>
                <a:cs typeface="Times New Roman" panose="02020603050405020304" pitchFamily="18" charset="0"/>
              </a:rPr>
              <a:t>AMANUJAN</a:t>
            </a:r>
            <a:r>
              <a:rPr lang="en-IN" sz="1400" dirty="0">
                <a:solidFill>
                  <a:schemeClr val="bg1"/>
                </a:solidFill>
                <a:latin typeface="Times New Roman" panose="02020603050405020304" pitchFamily="18" charset="0"/>
                <a:cs typeface="Times New Roman" panose="02020603050405020304" pitchFamily="18" charset="0"/>
              </a:rPr>
              <a:t> I</a:t>
            </a:r>
            <a:r>
              <a:rPr lang="en-IN" sz="1200" dirty="0">
                <a:solidFill>
                  <a:schemeClr val="bg1"/>
                </a:solidFill>
                <a:latin typeface="Times New Roman" panose="02020603050405020304" pitchFamily="18" charset="0"/>
                <a:cs typeface="Times New Roman" panose="02020603050405020304" pitchFamily="18" charset="0"/>
              </a:rPr>
              <a:t>NSTITUTE</a:t>
            </a:r>
            <a:r>
              <a:rPr lang="en-IN" sz="1400" dirty="0">
                <a:solidFill>
                  <a:schemeClr val="bg1"/>
                </a:solidFill>
                <a:latin typeface="Times New Roman" panose="02020603050405020304" pitchFamily="18" charset="0"/>
                <a:cs typeface="Times New Roman" panose="02020603050405020304" pitchFamily="18" charset="0"/>
              </a:rPr>
              <a:t> O</a:t>
            </a:r>
            <a:r>
              <a:rPr lang="en-IN" sz="1200" dirty="0">
                <a:solidFill>
                  <a:schemeClr val="bg1"/>
                </a:solidFill>
                <a:latin typeface="Times New Roman" panose="02020603050405020304" pitchFamily="18" charset="0"/>
                <a:cs typeface="Times New Roman" panose="02020603050405020304" pitchFamily="18" charset="0"/>
              </a:rPr>
              <a:t>F</a:t>
            </a:r>
            <a:r>
              <a:rPr lang="en-IN" sz="1400" dirty="0">
                <a:solidFill>
                  <a:schemeClr val="bg1"/>
                </a:solidFill>
                <a:latin typeface="Times New Roman" panose="02020603050405020304" pitchFamily="18" charset="0"/>
                <a:cs typeface="Times New Roman" panose="02020603050405020304" pitchFamily="18" charset="0"/>
              </a:rPr>
              <a:t> T</a:t>
            </a:r>
            <a:r>
              <a:rPr lang="en-IN" sz="1200" dirty="0">
                <a:solidFill>
                  <a:schemeClr val="bg1"/>
                </a:solidFill>
                <a:latin typeface="Times New Roman" panose="02020603050405020304" pitchFamily="18" charset="0"/>
                <a:cs typeface="Times New Roman" panose="02020603050405020304" pitchFamily="18" charset="0"/>
              </a:rPr>
              <a:t>ECHNOLOGY	</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30B5D66-FE4A-BBF8-04AB-B1662692C5B9}"/>
              </a:ext>
            </a:extLst>
          </p:cNvPr>
          <p:cNvSpPr txBox="1"/>
          <p:nvPr/>
        </p:nvSpPr>
        <p:spPr>
          <a:xfrm>
            <a:off x="11759177" y="6577792"/>
            <a:ext cx="457200" cy="338554"/>
          </a:xfrm>
          <a:prstGeom prst="rect">
            <a:avLst/>
          </a:prstGeom>
          <a:noFill/>
        </p:spPr>
        <p:txBody>
          <a:bodyPr wrap="square" rtlCol="0">
            <a:spAutoFit/>
          </a:bodyPr>
          <a:lstStyle/>
          <a:p>
            <a:r>
              <a:rPr lang="en-US" sz="1600" dirty="0">
                <a:solidFill>
                  <a:srgbClr val="002060"/>
                </a:solidFill>
                <a:latin typeface="Times New Roman" panose="02020603050405020304" pitchFamily="18" charset="0"/>
                <a:cs typeface="Times New Roman" panose="02020603050405020304" pitchFamily="18" charset="0"/>
              </a:rPr>
              <a:t>20</a:t>
            </a:r>
            <a:endParaRPr lang="en-IN" sz="1600" dirty="0">
              <a:solidFill>
                <a:srgbClr val="002060"/>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5D9B3454-3C1A-A7E2-592F-5BB5D9EF1648}"/>
              </a:ext>
            </a:extLst>
          </p:cNvPr>
          <p:cNvSpPr txBox="1"/>
          <p:nvPr/>
        </p:nvSpPr>
        <p:spPr>
          <a:xfrm>
            <a:off x="1142359" y="-57956"/>
            <a:ext cx="9401604"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INTEGRATED APPROACH TO ASSESS THE QUALITY OF WATER</a:t>
            </a:r>
            <a:endParaRPr lang="en-IN" sz="1400" dirty="0"/>
          </a:p>
        </p:txBody>
      </p:sp>
      <p:sp>
        <p:nvSpPr>
          <p:cNvPr id="5" name="TextBox 4">
            <a:extLst>
              <a:ext uri="{FF2B5EF4-FFF2-40B4-BE49-F238E27FC236}">
                <a16:creationId xmlns:a16="http://schemas.microsoft.com/office/drawing/2014/main" id="{4DBC683C-7ABF-4263-4B22-20B56FB152F0}"/>
              </a:ext>
            </a:extLst>
          </p:cNvPr>
          <p:cNvSpPr txBox="1"/>
          <p:nvPr/>
        </p:nvSpPr>
        <p:spPr>
          <a:xfrm>
            <a:off x="1722407" y="2565039"/>
            <a:ext cx="8747185" cy="1569660"/>
          </a:xfrm>
          <a:prstGeom prst="rect">
            <a:avLst/>
          </a:prstGeom>
          <a:noFill/>
        </p:spPr>
        <p:txBody>
          <a:bodyPr wrap="square">
            <a:spAutoFit/>
          </a:bodyPr>
          <a:lstStyle/>
          <a:p>
            <a:pPr marL="50800" indent="0" algn="ctr">
              <a:buNone/>
            </a:pPr>
            <a:r>
              <a:rPr lang="en-US" sz="9600" i="1" dirty="0">
                <a:ln w="15875"/>
                <a:solidFill>
                  <a:srgbClr val="F78F07"/>
                </a:solidFill>
                <a:latin typeface="Times New Roman" panose="02020603050405020304" pitchFamily="18" charset="0"/>
                <a:cs typeface="Times New Roman" panose="02020603050405020304" pitchFamily="18" charset="0"/>
              </a:rPr>
              <a:t>ANY QUERIES?</a:t>
            </a:r>
            <a:endParaRPr lang="en-US" sz="9600" i="1" dirty="0">
              <a:ln w="15875"/>
              <a:solidFill>
                <a:srgbClr val="F78F07"/>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41857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review----1</Template>
  <TotalTime>1249</TotalTime>
  <Words>2065</Words>
  <Application>Microsoft Office PowerPoint</Application>
  <PresentationFormat>Widescreen</PresentationFormat>
  <Paragraphs>288</Paragraphs>
  <Slides>22</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Noto Sans Symbols</vt:lpstr>
      <vt:lpstr>Times New Roman</vt:lpstr>
      <vt:lpstr>Wingdings</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Tharun K M</dc:creator>
  <cp:lastModifiedBy>suhana anjum</cp:lastModifiedBy>
  <cp:revision>14</cp:revision>
  <dcterms:created xsi:type="dcterms:W3CDTF">2026-01-08T05:45:04Z</dcterms:created>
  <dcterms:modified xsi:type="dcterms:W3CDTF">2026-02-11T14:44:12Z</dcterms:modified>
</cp:coreProperties>
</file>