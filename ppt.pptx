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22" y="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40"/>
            <a:ext cx="11414760" cy="223520"/>
            <a:chOff x="777240" y="6634440"/>
            <a:chExt cx="11414760" cy="223520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634440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r>
              <a:rPr lang="en-IN" dirty="0"/>
              <a:t> B - 18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4023361" y="1708363"/>
            <a:ext cx="4038600" cy="442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IN" sz="1750" dirty="0">
                <a:latin typeface="Times New Roman"/>
                <a:cs typeface="Times New Roman"/>
              </a:rPr>
              <a:t>P. MAHAMMED THANVEER</a:t>
            </a:r>
          </a:p>
          <a:p>
            <a:pPr marL="635" algn="ctr">
              <a:lnSpc>
                <a:spcPts val="1060"/>
              </a:lnSpc>
            </a:pPr>
            <a:r>
              <a:rPr sz="1400" dirty="0">
                <a:latin typeface="Times New Roman"/>
                <a:cs typeface="Times New Roman"/>
              </a:rPr>
              <a:t>Roll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224G1A0546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3800" y="2476799"/>
            <a:ext cx="4724400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guidance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lang="en-IN"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2400" spc="-10" dirty="0">
                <a:latin typeface="Times New Roman"/>
                <a:cs typeface="Times New Roman"/>
              </a:rPr>
              <a:t>Mr. C. Sudheer Kumar, </a:t>
            </a:r>
            <a:r>
              <a:rPr lang="en-IN" sz="1400" spc="-10" dirty="0" err="1">
                <a:latin typeface="Times New Roman"/>
                <a:cs typeface="Times New Roman"/>
              </a:rPr>
              <a:t>M.Tech</a:t>
            </a:r>
            <a:r>
              <a:rPr lang="en-IN" sz="1400" spc="-10" dirty="0">
                <a:latin typeface="Times New Roman"/>
                <a:cs typeface="Times New Roman"/>
              </a:rPr>
              <a:t>., (Ph. D) </a:t>
            </a: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1400" spc="-20" dirty="0">
                <a:latin typeface="Times New Roman"/>
                <a:cs typeface="Times New Roman"/>
              </a:rPr>
              <a:t>Assistant</a:t>
            </a:r>
            <a:r>
              <a:rPr lang="en-IN" sz="1400" spc="-40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Professor</a:t>
            </a:r>
            <a:endParaRPr lang="en-IN"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890509" cy="144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Department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Science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Engineering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400" dirty="0">
              <a:latin typeface="Times New Roman"/>
              <a:cs typeface="Times New Roman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/>
                <a:cs typeface="Times New Roman"/>
              </a:rPr>
              <a:t>Autonomous</a:t>
            </a:r>
            <a:endParaRPr sz="1750" dirty="0">
              <a:latin typeface="Times New Roman"/>
              <a:cs typeface="Times New Roman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/>
                <a:cs typeface="Times New Roman"/>
              </a:rPr>
              <a:t>Rotarypuram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Village,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Samudram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Mandal,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Ananthapuramu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515701.</a:t>
            </a:r>
            <a:endParaRPr sz="1200" dirty="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IN"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5-</a:t>
            </a:r>
            <a:r>
              <a:rPr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IN"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6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9200" y="1674508"/>
            <a:ext cx="3032760" cy="476412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IN" sz="2000" dirty="0">
                <a:latin typeface="Times New Roman"/>
                <a:cs typeface="Times New Roman"/>
              </a:rPr>
              <a:t>S.K SUHANA ANJUM</a:t>
            </a:r>
            <a:endParaRPr sz="2000" dirty="0">
              <a:latin typeface="Times New Roman"/>
              <a:cs typeface="Times New Roman"/>
            </a:endParaRPr>
          </a:p>
          <a:p>
            <a:pPr marL="1270" algn="ctr">
              <a:lnSpc>
                <a:spcPts val="1060"/>
              </a:lnSpc>
            </a:pPr>
            <a:r>
              <a:rPr sz="1400" dirty="0">
                <a:latin typeface="Times New Roman"/>
                <a:cs typeface="Times New Roman"/>
              </a:rPr>
              <a:t>Roll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No.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224G1A05A7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46446" y="1683723"/>
            <a:ext cx="213360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09"/>
              </a:spcBef>
            </a:pPr>
            <a:r>
              <a:rPr lang="en-IN" sz="1800" spc="-10" dirty="0">
                <a:latin typeface="Times New Roman"/>
                <a:cs typeface="Times New Roman"/>
              </a:rPr>
              <a:t>       C. PALLAVI</a:t>
            </a:r>
            <a:endParaRPr lang="en-IN" sz="180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lang="en-IN" sz="1400" dirty="0">
                <a:latin typeface="Times New Roman"/>
                <a:cs typeface="Times New Roman"/>
              </a:rPr>
              <a:t>Roll</a:t>
            </a:r>
            <a:r>
              <a:rPr lang="en-IN" sz="1400" spc="5" dirty="0">
                <a:latin typeface="Times New Roman"/>
                <a:cs typeface="Times New Roman"/>
              </a:rPr>
              <a:t> </a:t>
            </a:r>
            <a:r>
              <a:rPr lang="en-IN" sz="1400" dirty="0">
                <a:latin typeface="Times New Roman"/>
                <a:cs typeface="Times New Roman"/>
              </a:rPr>
              <a:t>No.</a:t>
            </a:r>
            <a:r>
              <a:rPr lang="en-IN" sz="1400" spc="5" dirty="0">
                <a:latin typeface="Times New Roman"/>
                <a:cs typeface="Times New Roman"/>
              </a:rPr>
              <a:t> </a:t>
            </a:r>
            <a:r>
              <a:rPr lang="en-IN" sz="1400" spc="-10" dirty="0">
                <a:latin typeface="Times New Roman"/>
                <a:cs typeface="Times New Roman"/>
              </a:rPr>
              <a:t>224G1A0564</a:t>
            </a:r>
            <a:endParaRPr lang="en-IN" sz="14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1"/>
            <a:ext cx="1060831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362200" y="491407"/>
            <a:ext cx="70104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3200" dirty="0"/>
              <a:t> </a:t>
            </a:r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MARINE GUARD</a:t>
            </a:r>
            <a:b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/>
          </a:p>
        </p:txBody>
      </p:sp>
      <p:sp>
        <p:nvSpPr>
          <p:cNvPr id="18" name="object 18"/>
          <p:cNvSpPr txBox="1"/>
          <p:nvPr/>
        </p:nvSpPr>
        <p:spPr>
          <a:xfrm>
            <a:off x="5791200" y="1278968"/>
            <a:ext cx="413390" cy="262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9143" y="3408075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81600" y="-18339"/>
            <a:ext cx="2133600" cy="2469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90600" y="6642511"/>
            <a:ext cx="4953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7000" y="6657976"/>
            <a:ext cx="4572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60230" cy="46253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Title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Justification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Objectives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survey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objectives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(Methods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system)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GitHub </a:t>
            </a:r>
            <a:r>
              <a:rPr sz="2800" spc="-20" dirty="0">
                <a:latin typeface="Times New Roman"/>
                <a:cs typeface="Times New Roman"/>
              </a:rPr>
              <a:t>Link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Queries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0480" y="-18339"/>
            <a:ext cx="148844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4"/>
            <a:ext cx="404177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Title</a:t>
            </a:r>
            <a:r>
              <a:rPr spc="-110" dirty="0"/>
              <a:t> </a:t>
            </a:r>
            <a:r>
              <a:rPr spc="-10" dirty="0" err="1"/>
              <a:t>Justificati</a:t>
            </a:r>
            <a:r>
              <a:rPr lang="en-IN" spc="-10" dirty="0"/>
              <a:t>on</a:t>
            </a:r>
            <a:br>
              <a:rPr lang="en-IN" spc="-10" dirty="0">
                <a:solidFill>
                  <a:srgbClr val="000000"/>
                </a:solidFill>
              </a:rPr>
            </a:br>
            <a:endParaRPr spc="-10" dirty="0">
              <a:solidFill>
                <a:srgbClr val="000000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15642"/>
            <a:ext cx="4572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66821" y="6629197"/>
            <a:ext cx="4572000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27E45D-EC80-F6A3-B5D8-89B4F9492C60}"/>
              </a:ext>
            </a:extLst>
          </p:cNvPr>
          <p:cNvSpPr txBox="1"/>
          <p:nvPr/>
        </p:nvSpPr>
        <p:spPr>
          <a:xfrm>
            <a:off x="228600" y="1227958"/>
            <a:ext cx="14782800" cy="271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3100705" algn="just">
              <a:lnSpc>
                <a:spcPct val="119800"/>
              </a:lnSpc>
              <a:spcBef>
                <a:spcPts val="95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MarineGuard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River Pollution Awareness &amp; Reporting System”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appropriate because it clearly represents the project’s purpose of protecting river ecosystems by raising awareness and enabling public reporting.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MarineGuard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suggests safeguarding water bodies, “River Pollution Awareness”. “Reporting System” shows that users can submit real-time reports with images and locations. Overall, the title reflects the system’s goal of combining awareness, monitoring, and citizen participation in line with Life Below Water.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9200" y="-18340"/>
            <a:ext cx="1809720" cy="251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        Marine Guard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l"/>
              <a:endParaRPr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986" y="364365"/>
            <a:ext cx="150641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Abstract</a:t>
            </a:r>
            <a:endParaRPr sz="320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45209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00801" y="6629197"/>
            <a:ext cx="46380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49031" y="1036079"/>
            <a:ext cx="11893937" cy="37535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River pollution is rising due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 waste, industrial dumping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it difficult for authorities to track affected river stretches in real time. To address this challenge, the project introduces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River Pollution Awareness and Reporting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Below Water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the output through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report includes details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river 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type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image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dashboard visualization helps authorities quickly identify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hotspots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awareness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supports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response actions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contributing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and conservation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aquatic ecosystems.</a:t>
            </a:r>
          </a:p>
          <a:p>
            <a:pPr marL="355600" marR="3100705" indent="-342900" algn="just">
              <a:lnSpc>
                <a:spcPct val="1198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0480" y="-18339"/>
            <a:ext cx="148844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45209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00801" y="6629197"/>
            <a:ext cx="46380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D66AFC3-AB8D-D0F0-129D-B0D7B4509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9031" y="1113342"/>
            <a:ext cx="11738169" cy="4622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River pollution is increasing due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plastic waste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chemical dumping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effluents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causing delays in identifying pollution-prone river areas.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Authorities do not receive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information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respond quickly to pollution incidents.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Citizens lack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digital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report polluted river locations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photo evidence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details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fail to combine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verification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incomplete or unreliable data.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awareness about the impact of river pollution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aquatic ecosystems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community health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insufficient.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0480" y="-18339"/>
            <a:ext cx="148844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5790" algn="l"/>
              </a:tabLst>
            </a:pPr>
            <a:r>
              <a:rPr dirty="0"/>
              <a:t>Objectives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Project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90600" y="6629559"/>
            <a:ext cx="44447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00801" y="6629197"/>
            <a:ext cx="4638020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88669" y="1113342"/>
            <a:ext cx="11619230" cy="39036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  <a:p>
            <a:pPr marL="447675" indent="-447675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To analyze how a web-based citizen reporting system improves the identification, visualization, and tracking of pollution incidents in river environments.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 Objective</a:t>
            </a:r>
          </a:p>
          <a:p>
            <a:pPr marL="447675" indent="-87313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and develop a full-stack web platform that supports real-time reporting, mapping, and verification of river pollution incidents using user-submitted data and admin monitoring.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0480" y="-18339"/>
            <a:ext cx="148844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2860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 dirty="0"/>
                <a:t>d</a:t>
              </a:r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025" y="209958"/>
            <a:ext cx="6708775" cy="1023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for Objectives</a:t>
            </a:r>
            <a:endParaRPr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990600" y="6629559"/>
            <a:ext cx="44447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76999" y="6629197"/>
            <a:ext cx="456182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2D7E4A-8AB6-9131-4F25-61754FEF0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769359"/>
              </p:ext>
            </p:extLst>
          </p:nvPr>
        </p:nvGraphicFramePr>
        <p:xfrm>
          <a:off x="73024" y="1031760"/>
          <a:ext cx="11890375" cy="46939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6300">
                  <a:extLst>
                    <a:ext uri="{9D8B030D-6E8A-4147-A177-3AD203B41FA5}">
                      <a16:colId xmlns:a16="http://schemas.microsoft.com/office/drawing/2014/main" val="4252331308"/>
                    </a:ext>
                  </a:extLst>
                </a:gridCol>
                <a:gridCol w="3113468">
                  <a:extLst>
                    <a:ext uri="{9D8B030D-6E8A-4147-A177-3AD203B41FA5}">
                      <a16:colId xmlns:a16="http://schemas.microsoft.com/office/drawing/2014/main" val="199706998"/>
                    </a:ext>
                  </a:extLst>
                </a:gridCol>
                <a:gridCol w="1557689">
                  <a:extLst>
                    <a:ext uri="{9D8B030D-6E8A-4147-A177-3AD203B41FA5}">
                      <a16:colId xmlns:a16="http://schemas.microsoft.com/office/drawing/2014/main" val="741082847"/>
                    </a:ext>
                  </a:extLst>
                </a:gridCol>
                <a:gridCol w="1959621">
                  <a:extLst>
                    <a:ext uri="{9D8B030D-6E8A-4147-A177-3AD203B41FA5}">
                      <a16:colId xmlns:a16="http://schemas.microsoft.com/office/drawing/2014/main" val="2804853241"/>
                    </a:ext>
                  </a:extLst>
                </a:gridCol>
                <a:gridCol w="2270526">
                  <a:extLst>
                    <a:ext uri="{9D8B030D-6E8A-4147-A177-3AD203B41FA5}">
                      <a16:colId xmlns:a16="http://schemas.microsoft.com/office/drawing/2014/main" val="2402200909"/>
                    </a:ext>
                  </a:extLst>
                </a:gridCol>
                <a:gridCol w="2442771">
                  <a:extLst>
                    <a:ext uri="{9D8B030D-6E8A-4147-A177-3AD203B41FA5}">
                      <a16:colId xmlns:a16="http://schemas.microsoft.com/office/drawing/2014/main" val="2002382633"/>
                    </a:ext>
                  </a:extLst>
                </a:gridCol>
              </a:tblGrid>
              <a:tr h="6081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Verdana"/>
                          <a:cs typeface="Times New Roman" panose="02020603050405020304" pitchFamily="18" charset="0"/>
                          <a:sym typeface="Verdana"/>
                        </a:rPr>
                        <a:t>No</a:t>
                      </a:r>
                      <a:endParaRPr sz="140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Verdana"/>
                        <a:cs typeface="Times New Roman" panose="02020603050405020304" pitchFamily="18" charset="0"/>
                        <a:sym typeface="Verdan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Verdana"/>
                          <a:cs typeface="Times New Roman" panose="02020603050405020304" pitchFamily="18" charset="0"/>
                          <a:sym typeface="Verdana"/>
                        </a:rPr>
                        <a:t>Title</a:t>
                      </a:r>
                      <a:endParaRPr sz="140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Verdana"/>
                        <a:cs typeface="Times New Roman" panose="02020603050405020304" pitchFamily="18" charset="0"/>
                        <a:sym typeface="Verdan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sz="140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  <a:endParaRPr sz="140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Adapted</a:t>
                      </a:r>
                      <a:endParaRPr sz="140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sz="140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350723"/>
                  </a:ext>
                </a:extLst>
              </a:tr>
              <a:tr h="17976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14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Microplastics in Freshwater Ecosystems of India: Current Trends and Future Perspectives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i-FI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Neelavannan, I. S. Sen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nl-NL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ACS Omega</a:t>
                      </a:r>
                      <a:r>
                        <a:rPr lang="nl-NL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8, 2023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18 studies on microplastics in Indian rivers and lakes using sampling, separation, and polymer identification techniques.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Microplastics are widespread in Indian freshwater systems with significant regional data gaps and inconsistent study methods.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34017"/>
                  </a:ext>
                </a:extLst>
              </a:tr>
              <a:tr h="22881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14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Citizen Science to Understand River Water Quality: The Catchment Science Approach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Hegarty et al.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 of the Total Environment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790, 2021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 science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where volunteers collect water samples and report water-quality information using standardized scientific procedures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 participation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water-quality data collection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increases monitoring coverage, and helps identify river pollution patterns more efficiently.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22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0480" y="-18339"/>
            <a:ext cx="148844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45209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00800" y="6607175"/>
            <a:ext cx="421161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867B1D-217C-6B24-72DD-9ECC560F6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1054277"/>
            <a:ext cx="12118974" cy="5591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MarineGuard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River Pollution Awareness &amp; Reporting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 full-stack web platform designed to support public participation in monitoring river pollution.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login/register and submit pollution reports with:</a:t>
            </a:r>
          </a:p>
          <a:p>
            <a:pPr marL="342900" indent="377825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evidence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377825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377825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type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377825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details captured through device GPS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(without using Google Maps)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reports are stored in a centralized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MySQL/MongoDB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pollution incidents on the website through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using:</a:t>
            </a:r>
          </a:p>
          <a:p>
            <a:pPr marL="720725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lists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(instead of pins on a Google Map)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or reject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reports</a:t>
            </a:r>
          </a:p>
          <a:p>
            <a:pPr marL="720725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status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Pending, Verified, Resolved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20725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verified reports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authorities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0480" y="-18339"/>
            <a:ext cx="148844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– 18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914400" y="6629558"/>
            <a:ext cx="45209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17863" y="6629197"/>
            <a:ext cx="4520958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074318"/>
            <a:ext cx="11749380" cy="264687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Neelavannan and I. S. Sen, “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Microplastics in Freshwater Ecosystems of India: Current Trends and Future Perspectives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ACS Omega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34235–34248, 2023.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Science for River Water Quality (Very Closely Related to Your Concept)  </a:t>
            </a:r>
          </a:p>
          <a:p>
            <a:pPr marL="360363" indent="-360363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Hegarty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citizen science to understand river water quality: The catchment        science approach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of the Total Environment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790, 2021.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0480" y="-18339"/>
            <a:ext cx="148844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dirty="0"/>
              <a:t>Git</a:t>
            </a:r>
            <a:r>
              <a:rPr spc="-75" dirty="0"/>
              <a:t> </a:t>
            </a:r>
            <a:r>
              <a:rPr spc="-25" dirty="0"/>
              <a:t>Hub</a:t>
            </a:r>
            <a:r>
              <a:rPr dirty="0"/>
              <a:t>	Dashboards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each</a:t>
            </a:r>
            <a:r>
              <a:rPr dirty="0"/>
              <a:t>	</a:t>
            </a:r>
            <a:r>
              <a:rPr spc="-10" dirty="0"/>
              <a:t>student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11225" y="6629558"/>
            <a:ext cx="452413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00801" y="6629197"/>
            <a:ext cx="46380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28599" y="6152444"/>
            <a:ext cx="11277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 err="1">
                <a:latin typeface="Sitka Small Semibold" pitchFamily="2" charset="0"/>
                <a:cs typeface="Arial MT"/>
              </a:rPr>
              <a:t>Github</a:t>
            </a:r>
            <a:r>
              <a:rPr lang="en-IN" dirty="0">
                <a:latin typeface="Sitka Small Semibold" pitchFamily="2" charset="0"/>
                <a:cs typeface="Arial MT"/>
              </a:rPr>
              <a:t> link: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https://github.com/SKSuhanaAnjum/CSE-2022-26-Batch-B-18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0570B3-AF5E-CF83-4228-7A09D84A7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86336"/>
            <a:ext cx="9144000" cy="48231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0480" y="-18339"/>
            <a:ext cx="148844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Marine Guard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25" dirty="0"/>
              <a:t>B - 18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990600" y="6629559"/>
            <a:ext cx="44447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7001" y="6629197"/>
            <a:ext cx="45618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5705" y="2352272"/>
            <a:ext cx="66922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9600" i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9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</TotalTime>
  <Words>1048</Words>
  <Application>Microsoft Office PowerPoint</Application>
  <PresentationFormat>Widescreen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Sitka Small Semibold</vt:lpstr>
      <vt:lpstr>Times New Roman</vt:lpstr>
      <vt:lpstr>Wingdings</vt:lpstr>
      <vt:lpstr>Office Theme</vt:lpstr>
      <vt:lpstr> MARINE GUARD </vt:lpstr>
      <vt:lpstr>Contents</vt:lpstr>
      <vt:lpstr>Title Justification </vt:lpstr>
      <vt:lpstr>Abstract</vt:lpstr>
      <vt:lpstr>Problem Statement</vt:lpstr>
      <vt:lpstr>Objectives of Project</vt:lpstr>
      <vt:lpstr>PowerPoint Presentation</vt:lpstr>
      <vt:lpstr>Proposed System</vt:lpstr>
      <vt:lpstr>References</vt:lpstr>
      <vt:lpstr>Git Hub Dashboards of each student</vt:lpstr>
      <vt:lpstr>Any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Naveen</dc:creator>
  <cp:lastModifiedBy>suhana anjum</cp:lastModifiedBy>
  <cp:revision>17</cp:revision>
  <dcterms:created xsi:type="dcterms:W3CDTF">2025-12-02T11:29:58Z</dcterms:created>
  <dcterms:modified xsi:type="dcterms:W3CDTF">2025-12-11T09:11:23Z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2025-12-02T00:00:00Z</vt:filetime>
  </property>
</Properties>
</file>